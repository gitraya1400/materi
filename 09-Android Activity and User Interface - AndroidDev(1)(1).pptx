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8"/>
  </p:notesMasterIdLst>
  <p:sldIdLst>
    <p:sldId id="256" r:id="rId2"/>
    <p:sldId id="524" r:id="rId3"/>
    <p:sldId id="541" r:id="rId4"/>
    <p:sldId id="477" r:id="rId5"/>
    <p:sldId id="478" r:id="rId6"/>
    <p:sldId id="479" r:id="rId7"/>
    <p:sldId id="476" r:id="rId8"/>
    <p:sldId id="481" r:id="rId9"/>
    <p:sldId id="528" r:id="rId10"/>
    <p:sldId id="485" r:id="rId11"/>
    <p:sldId id="486" r:id="rId12"/>
    <p:sldId id="487" r:id="rId13"/>
    <p:sldId id="488" r:id="rId14"/>
    <p:sldId id="526" r:id="rId15"/>
    <p:sldId id="529" r:id="rId16"/>
    <p:sldId id="531" r:id="rId17"/>
    <p:sldId id="532" r:id="rId18"/>
    <p:sldId id="534" r:id="rId19"/>
    <p:sldId id="434" r:id="rId20"/>
    <p:sldId id="435" r:id="rId21"/>
    <p:sldId id="537" r:id="rId22"/>
    <p:sldId id="535" r:id="rId23"/>
    <p:sldId id="538" r:id="rId24"/>
    <p:sldId id="539" r:id="rId25"/>
    <p:sldId id="358" r:id="rId26"/>
    <p:sldId id="337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6A86614B-2600-429A-AA34-18849E7BEDC2}">
          <p14:sldIdLst>
            <p14:sldId id="256"/>
            <p14:sldId id="524"/>
            <p14:sldId id="541"/>
            <p14:sldId id="477"/>
            <p14:sldId id="478"/>
            <p14:sldId id="479"/>
            <p14:sldId id="476"/>
            <p14:sldId id="481"/>
            <p14:sldId id="528"/>
            <p14:sldId id="485"/>
            <p14:sldId id="486"/>
            <p14:sldId id="487"/>
            <p14:sldId id="488"/>
            <p14:sldId id="526"/>
            <p14:sldId id="529"/>
            <p14:sldId id="531"/>
            <p14:sldId id="532"/>
            <p14:sldId id="534"/>
            <p14:sldId id="434"/>
            <p14:sldId id="435"/>
            <p14:sldId id="537"/>
            <p14:sldId id="535"/>
            <p14:sldId id="538"/>
            <p14:sldId id="539"/>
            <p14:sldId id="358"/>
            <p14:sldId id="337"/>
          </p14:sldIdLst>
        </p14:section>
        <p14:section name="Template" id="{BF6A4F90-709A-41D3-A26F-E1FD9E5EE13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AD86"/>
    <a:srgbClr val="3DDC84"/>
    <a:srgbClr val="F04E37"/>
    <a:srgbClr val="A2A2A2"/>
    <a:srgbClr val="99D0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93" autoAdjust="0"/>
    <p:restoredTop sz="94660"/>
  </p:normalViewPr>
  <p:slideViewPr>
    <p:cSldViewPr snapToGrid="0">
      <p:cViewPr varScale="1">
        <p:scale>
          <a:sx n="90" d="100"/>
          <a:sy n="90" d="100"/>
        </p:scale>
        <p:origin x="8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359E4-CC7C-4E34-9F0B-04017D3A60D8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7AE9A-01D7-45F1-A266-4CF0781F88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7AE9A-01D7-45F1-A266-4CF0781F88D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>
                <a:latin typeface="Open Sans" panose="020B0606030504020204" charset="0"/>
                <a:cs typeface="Open Sans" panose="020B0606030504020204" charset="0"/>
              </a:rPr>
              <a:t>Menjelaskan hirarki kelas Activity dari aplikasi yang kita buat berdasarkan slide sebelumnya. Intinya semua kelas Activity yang kita define adalah turunan dari </a:t>
            </a:r>
            <a:r>
              <a:rPr lang="en-US">
                <a:latin typeface="Consolas" panose="020B0609020204030204" charset="0"/>
                <a:cs typeface="Consolas" panose="020B0609020204030204" charset="0"/>
              </a:rPr>
              <a:t>kelas android.app.Activity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7AE9A-01D7-45F1-A266-4CF0781F88D7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1" y="0"/>
            <a:ext cx="4950731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6162839" y="1583676"/>
            <a:ext cx="2851698" cy="27597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3177463" y="1583676"/>
            <a:ext cx="2851698" cy="27597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2"/>
          </p:nvPr>
        </p:nvSpPr>
        <p:spPr>
          <a:xfrm>
            <a:off x="192087" y="1583676"/>
            <a:ext cx="2851698" cy="27597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3"/>
          </p:nvPr>
        </p:nvSpPr>
        <p:spPr>
          <a:xfrm>
            <a:off x="9148215" y="1583676"/>
            <a:ext cx="2851698" cy="27597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6096000" y="1268413"/>
            <a:ext cx="2232752" cy="236715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6096000" y="3820245"/>
            <a:ext cx="2232752" cy="236715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911225" y="635000"/>
            <a:ext cx="10369550" cy="34988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457951" y="3970338"/>
            <a:ext cx="1713105" cy="1619250"/>
          </a:xfrm>
          <a:custGeom>
            <a:avLst/>
            <a:gdLst>
              <a:gd name="connsiteX0" fmla="*/ 0 w 1713105"/>
              <a:gd name="connsiteY0" fmla="*/ 0 h 1619250"/>
              <a:gd name="connsiteX1" fmla="*/ 1713105 w 1713105"/>
              <a:gd name="connsiteY1" fmla="*/ 0 h 1619250"/>
              <a:gd name="connsiteX2" fmla="*/ 1713105 w 1713105"/>
              <a:gd name="connsiteY2" fmla="*/ 1619250 h 1619250"/>
              <a:gd name="connsiteX3" fmla="*/ 0 w 1713105"/>
              <a:gd name="connsiteY3" fmla="*/ 161925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3105" h="1619250">
                <a:moveTo>
                  <a:pt x="0" y="0"/>
                </a:moveTo>
                <a:lnTo>
                  <a:pt x="1713105" y="0"/>
                </a:lnTo>
                <a:lnTo>
                  <a:pt x="1713105" y="1619250"/>
                </a:lnTo>
                <a:lnTo>
                  <a:pt x="0" y="1619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325235" y="3970338"/>
            <a:ext cx="1713105" cy="1619250"/>
          </a:xfrm>
          <a:custGeom>
            <a:avLst/>
            <a:gdLst>
              <a:gd name="connsiteX0" fmla="*/ 0 w 1713105"/>
              <a:gd name="connsiteY0" fmla="*/ 0 h 1619250"/>
              <a:gd name="connsiteX1" fmla="*/ 1713105 w 1713105"/>
              <a:gd name="connsiteY1" fmla="*/ 0 h 1619250"/>
              <a:gd name="connsiteX2" fmla="*/ 1713105 w 1713105"/>
              <a:gd name="connsiteY2" fmla="*/ 1619250 h 1619250"/>
              <a:gd name="connsiteX3" fmla="*/ 0 w 1713105"/>
              <a:gd name="connsiteY3" fmla="*/ 161925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3105" h="1619250">
                <a:moveTo>
                  <a:pt x="0" y="0"/>
                </a:moveTo>
                <a:lnTo>
                  <a:pt x="1713105" y="0"/>
                </a:lnTo>
                <a:lnTo>
                  <a:pt x="1713105" y="1619250"/>
                </a:lnTo>
                <a:lnTo>
                  <a:pt x="0" y="1619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10201084" y="3970338"/>
            <a:ext cx="1713105" cy="1619250"/>
          </a:xfrm>
          <a:custGeom>
            <a:avLst/>
            <a:gdLst>
              <a:gd name="connsiteX0" fmla="*/ 0 w 1713105"/>
              <a:gd name="connsiteY0" fmla="*/ 0 h 1619250"/>
              <a:gd name="connsiteX1" fmla="*/ 1713105 w 1713105"/>
              <a:gd name="connsiteY1" fmla="*/ 0 h 1619250"/>
              <a:gd name="connsiteX2" fmla="*/ 1713105 w 1713105"/>
              <a:gd name="connsiteY2" fmla="*/ 1619250 h 1619250"/>
              <a:gd name="connsiteX3" fmla="*/ 0 w 1713105"/>
              <a:gd name="connsiteY3" fmla="*/ 161925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3105" h="1619250">
                <a:moveTo>
                  <a:pt x="0" y="0"/>
                </a:moveTo>
                <a:lnTo>
                  <a:pt x="1713105" y="0"/>
                </a:lnTo>
                <a:lnTo>
                  <a:pt x="1713105" y="1619250"/>
                </a:lnTo>
                <a:lnTo>
                  <a:pt x="0" y="1619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1" y="0"/>
            <a:ext cx="12192000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>
            <a:spLocks noGrp="1"/>
          </p:cNvSpPr>
          <p:nvPr>
            <p:ph type="pic" sz="quarter" idx="10"/>
          </p:nvPr>
        </p:nvSpPr>
        <p:spPr>
          <a:xfrm>
            <a:off x="11049000" y="1"/>
            <a:ext cx="1143000" cy="5210175"/>
          </a:xfrm>
          <a:custGeom>
            <a:avLst/>
            <a:gdLst>
              <a:gd name="connsiteX0" fmla="*/ 0 w 1143000"/>
              <a:gd name="connsiteY0" fmla="*/ 0 h 5210175"/>
              <a:gd name="connsiteX1" fmla="*/ 1143000 w 1143000"/>
              <a:gd name="connsiteY1" fmla="*/ 0 h 5210175"/>
              <a:gd name="connsiteX2" fmla="*/ 1143000 w 1143000"/>
              <a:gd name="connsiteY2" fmla="*/ 5210175 h 5210175"/>
              <a:gd name="connsiteX3" fmla="*/ 206382 w 1143000"/>
              <a:gd name="connsiteY3" fmla="*/ 5210175 h 5210175"/>
              <a:gd name="connsiteX4" fmla="*/ 0 w 1143000"/>
              <a:gd name="connsiteY4" fmla="*/ 5003793 h 521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3000" h="5210175">
                <a:moveTo>
                  <a:pt x="0" y="0"/>
                </a:moveTo>
                <a:lnTo>
                  <a:pt x="1143000" y="0"/>
                </a:lnTo>
                <a:lnTo>
                  <a:pt x="1143000" y="5210175"/>
                </a:lnTo>
                <a:lnTo>
                  <a:pt x="206382" y="5210175"/>
                </a:lnTo>
                <a:cubicBezTo>
                  <a:pt x="92400" y="5210175"/>
                  <a:pt x="0" y="5117775"/>
                  <a:pt x="0" y="500379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任意多边形: 形状 6"/>
          <p:cNvSpPr>
            <a:spLocks noGrp="1"/>
          </p:cNvSpPr>
          <p:nvPr>
            <p:ph type="pic" sz="quarter" idx="11"/>
          </p:nvPr>
        </p:nvSpPr>
        <p:spPr>
          <a:xfrm>
            <a:off x="7849772" y="2278966"/>
            <a:ext cx="2757268" cy="4579034"/>
          </a:xfrm>
          <a:custGeom>
            <a:avLst/>
            <a:gdLst>
              <a:gd name="connsiteX0" fmla="*/ 206326 w 2757268"/>
              <a:gd name="connsiteY0" fmla="*/ 0 h 4579034"/>
              <a:gd name="connsiteX1" fmla="*/ 2550942 w 2757268"/>
              <a:gd name="connsiteY1" fmla="*/ 0 h 4579034"/>
              <a:gd name="connsiteX2" fmla="*/ 2757268 w 2757268"/>
              <a:gd name="connsiteY2" fmla="*/ 206326 h 4579034"/>
              <a:gd name="connsiteX3" fmla="*/ 2757268 w 2757268"/>
              <a:gd name="connsiteY3" fmla="*/ 4579034 h 4579034"/>
              <a:gd name="connsiteX4" fmla="*/ 0 w 2757268"/>
              <a:gd name="connsiteY4" fmla="*/ 4579034 h 4579034"/>
              <a:gd name="connsiteX5" fmla="*/ 0 w 2757268"/>
              <a:gd name="connsiteY5" fmla="*/ 206326 h 4579034"/>
              <a:gd name="connsiteX6" fmla="*/ 206326 w 2757268"/>
              <a:gd name="connsiteY6" fmla="*/ 0 h 45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57268" h="4579034">
                <a:moveTo>
                  <a:pt x="206326" y="0"/>
                </a:moveTo>
                <a:lnTo>
                  <a:pt x="2550942" y="0"/>
                </a:lnTo>
                <a:cubicBezTo>
                  <a:pt x="2664893" y="0"/>
                  <a:pt x="2757268" y="92375"/>
                  <a:pt x="2757268" y="206326"/>
                </a:cubicBezTo>
                <a:lnTo>
                  <a:pt x="2757268" y="4579034"/>
                </a:lnTo>
                <a:lnTo>
                  <a:pt x="0" y="4579034"/>
                </a:lnTo>
                <a:lnTo>
                  <a:pt x="0" y="206326"/>
                </a:lnTo>
                <a:cubicBezTo>
                  <a:pt x="0" y="92375"/>
                  <a:pt x="92375" y="0"/>
                  <a:pt x="20632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0" y="0"/>
            <a:ext cx="3744686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4229100" y="0"/>
            <a:ext cx="3733800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7730133" y="1450053"/>
            <a:ext cx="2849950" cy="31509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4694192" y="1450053"/>
            <a:ext cx="2849950" cy="31509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2"/>
          </p:nvPr>
        </p:nvSpPr>
        <p:spPr>
          <a:xfrm>
            <a:off x="1658250" y="1450053"/>
            <a:ext cx="2849950" cy="31509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950200" y="6343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idx="10"/>
          </p:nvPr>
        </p:nvSpPr>
        <p:spPr>
          <a:xfrm>
            <a:off x="6096000" y="0"/>
            <a:ext cx="2598057" cy="34290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8694058" y="-1"/>
            <a:ext cx="2598057" cy="342900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2"/>
          </p:nvPr>
        </p:nvSpPr>
        <p:spPr>
          <a:xfrm>
            <a:off x="6096000" y="3429001"/>
            <a:ext cx="2598057" cy="342900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8694058" y="3429001"/>
            <a:ext cx="2598057" cy="342900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idx="10"/>
          </p:nvPr>
        </p:nvSpPr>
        <p:spPr>
          <a:xfrm>
            <a:off x="911226" y="635001"/>
            <a:ext cx="5184775" cy="2794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096000" y="3442580"/>
            <a:ext cx="5184775" cy="27940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>
            <a:spLocks noGrp="1"/>
          </p:cNvSpPr>
          <p:nvPr>
            <p:ph type="pic" sz="quarter" idx="10"/>
          </p:nvPr>
        </p:nvSpPr>
        <p:spPr>
          <a:xfrm>
            <a:off x="911226" y="0"/>
            <a:ext cx="4046365" cy="5067759"/>
          </a:xfrm>
          <a:custGeom>
            <a:avLst/>
            <a:gdLst>
              <a:gd name="connsiteX0" fmla="*/ 0 w 4046365"/>
              <a:gd name="connsiteY0" fmla="*/ 0 h 5067759"/>
              <a:gd name="connsiteX1" fmla="*/ 4046365 w 4046365"/>
              <a:gd name="connsiteY1" fmla="*/ 0 h 5067759"/>
              <a:gd name="connsiteX2" fmla="*/ 4046365 w 4046365"/>
              <a:gd name="connsiteY2" fmla="*/ 5067759 h 5067759"/>
              <a:gd name="connsiteX3" fmla="*/ 0 w 4046365"/>
              <a:gd name="connsiteY3" fmla="*/ 5067759 h 5067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365" h="5067759">
                <a:moveTo>
                  <a:pt x="0" y="0"/>
                </a:moveTo>
                <a:lnTo>
                  <a:pt x="4046365" y="0"/>
                </a:lnTo>
                <a:lnTo>
                  <a:pt x="4046365" y="5067759"/>
                </a:lnTo>
                <a:lnTo>
                  <a:pt x="0" y="506775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>
            <a:spLocks noGrp="1"/>
          </p:cNvSpPr>
          <p:nvPr>
            <p:ph type="pic" sz="quarter" idx="10"/>
          </p:nvPr>
        </p:nvSpPr>
        <p:spPr>
          <a:xfrm>
            <a:off x="3949560" y="635001"/>
            <a:ext cx="4292880" cy="4181475"/>
          </a:xfrm>
          <a:custGeom>
            <a:avLst/>
            <a:gdLst>
              <a:gd name="connsiteX0" fmla="*/ 0 w 4292880"/>
              <a:gd name="connsiteY0" fmla="*/ 0 h 4181475"/>
              <a:gd name="connsiteX1" fmla="*/ 4292880 w 4292880"/>
              <a:gd name="connsiteY1" fmla="*/ 0 h 4181475"/>
              <a:gd name="connsiteX2" fmla="*/ 4292880 w 4292880"/>
              <a:gd name="connsiteY2" fmla="*/ 4181475 h 4181475"/>
              <a:gd name="connsiteX3" fmla="*/ 0 w 4292880"/>
              <a:gd name="connsiteY3" fmla="*/ 4181475 h 418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2880" h="4181475">
                <a:moveTo>
                  <a:pt x="0" y="0"/>
                </a:moveTo>
                <a:lnTo>
                  <a:pt x="4292880" y="0"/>
                </a:lnTo>
                <a:lnTo>
                  <a:pt x="4292880" y="4181475"/>
                </a:lnTo>
                <a:lnTo>
                  <a:pt x="0" y="4181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>
            <a:spLocks noGrp="1"/>
          </p:cNvSpPr>
          <p:nvPr>
            <p:ph type="pic" sz="quarter" idx="10"/>
          </p:nvPr>
        </p:nvSpPr>
        <p:spPr>
          <a:xfrm>
            <a:off x="911225" y="3073706"/>
            <a:ext cx="5184775" cy="3127069"/>
          </a:xfrm>
          <a:custGeom>
            <a:avLst/>
            <a:gdLst>
              <a:gd name="connsiteX0" fmla="*/ 0 w 5184775"/>
              <a:gd name="connsiteY0" fmla="*/ 0 h 3127069"/>
              <a:gd name="connsiteX1" fmla="*/ 5184775 w 5184775"/>
              <a:gd name="connsiteY1" fmla="*/ 0 h 3127069"/>
              <a:gd name="connsiteX2" fmla="*/ 5184775 w 5184775"/>
              <a:gd name="connsiteY2" fmla="*/ 3127069 h 3127069"/>
              <a:gd name="connsiteX3" fmla="*/ 0 w 5184775"/>
              <a:gd name="connsiteY3" fmla="*/ 3127069 h 3127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4775" h="3127069">
                <a:moveTo>
                  <a:pt x="0" y="0"/>
                </a:moveTo>
                <a:lnTo>
                  <a:pt x="5184775" y="0"/>
                </a:lnTo>
                <a:lnTo>
                  <a:pt x="5184775" y="3127069"/>
                </a:lnTo>
                <a:lnTo>
                  <a:pt x="0" y="312706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407276" y="680545"/>
            <a:ext cx="3174124" cy="370489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3794235" y="2685611"/>
            <a:ext cx="3174124" cy="370489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4153679" y="2924081"/>
            <a:ext cx="1849696" cy="136434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1"/>
          </p:nvPr>
        </p:nvSpPr>
        <p:spPr>
          <a:xfrm>
            <a:off x="2227035" y="4836432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2"/>
          </p:nvPr>
        </p:nvSpPr>
        <p:spPr>
          <a:xfrm>
            <a:off x="6188625" y="4836432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3"/>
          </p:nvPr>
        </p:nvSpPr>
        <p:spPr>
          <a:xfrm>
            <a:off x="8115270" y="2924081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4"/>
          </p:nvPr>
        </p:nvSpPr>
        <p:spPr>
          <a:xfrm>
            <a:off x="10150216" y="4836432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5"/>
          </p:nvPr>
        </p:nvSpPr>
        <p:spPr>
          <a:xfrm>
            <a:off x="192088" y="2924081"/>
            <a:ext cx="1849696" cy="13643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>
            <a:spLocks noGrp="1"/>
          </p:cNvSpPr>
          <p:nvPr>
            <p:ph type="pic" idx="10"/>
          </p:nvPr>
        </p:nvSpPr>
        <p:spPr>
          <a:xfrm>
            <a:off x="6096000" y="1268414"/>
            <a:ext cx="5459730" cy="1874838"/>
          </a:xfrm>
          <a:custGeom>
            <a:avLst/>
            <a:gdLst>
              <a:gd name="connsiteX0" fmla="*/ 0 w 5459730"/>
              <a:gd name="connsiteY0" fmla="*/ 0 h 1874837"/>
              <a:gd name="connsiteX1" fmla="*/ 5459730 w 5459730"/>
              <a:gd name="connsiteY1" fmla="*/ 0 h 1874837"/>
              <a:gd name="connsiteX2" fmla="*/ 5459730 w 5459730"/>
              <a:gd name="connsiteY2" fmla="*/ 1874837 h 1874837"/>
              <a:gd name="connsiteX3" fmla="*/ 0 w 5459730"/>
              <a:gd name="connsiteY3" fmla="*/ 1874837 h 1874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9730" h="1874837">
                <a:moveTo>
                  <a:pt x="0" y="0"/>
                </a:moveTo>
                <a:lnTo>
                  <a:pt x="5459730" y="0"/>
                </a:lnTo>
                <a:lnTo>
                  <a:pt x="5459730" y="1874837"/>
                </a:lnTo>
                <a:lnTo>
                  <a:pt x="0" y="187483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>
            <a:spLocks noGrp="1"/>
          </p:cNvSpPr>
          <p:nvPr>
            <p:ph type="pic" sz="quarter" idx="10"/>
          </p:nvPr>
        </p:nvSpPr>
        <p:spPr>
          <a:xfrm>
            <a:off x="7258050" y="4069080"/>
            <a:ext cx="1210661" cy="1086168"/>
          </a:xfrm>
          <a:custGeom>
            <a:avLst/>
            <a:gdLst>
              <a:gd name="connsiteX0" fmla="*/ 0 w 1210661"/>
              <a:gd name="connsiteY0" fmla="*/ 0 h 1086168"/>
              <a:gd name="connsiteX1" fmla="*/ 1210661 w 1210661"/>
              <a:gd name="connsiteY1" fmla="*/ 0 h 1086168"/>
              <a:gd name="connsiteX2" fmla="*/ 1210661 w 1210661"/>
              <a:gd name="connsiteY2" fmla="*/ 1086168 h 1086168"/>
              <a:gd name="connsiteX3" fmla="*/ 0 w 1210661"/>
              <a:gd name="connsiteY3" fmla="*/ 1086168 h 1086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0661" h="1086168">
                <a:moveTo>
                  <a:pt x="0" y="0"/>
                </a:moveTo>
                <a:lnTo>
                  <a:pt x="1210661" y="0"/>
                </a:lnTo>
                <a:lnTo>
                  <a:pt x="1210661" y="1086168"/>
                </a:lnTo>
                <a:lnTo>
                  <a:pt x="0" y="10861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任意多边形: 形状 10"/>
          <p:cNvSpPr>
            <a:spLocks noGrp="1"/>
          </p:cNvSpPr>
          <p:nvPr>
            <p:ph type="pic" sz="quarter" idx="11"/>
          </p:nvPr>
        </p:nvSpPr>
        <p:spPr>
          <a:xfrm>
            <a:off x="8664082" y="4069080"/>
            <a:ext cx="1210661" cy="1086168"/>
          </a:xfrm>
          <a:custGeom>
            <a:avLst/>
            <a:gdLst>
              <a:gd name="connsiteX0" fmla="*/ 0 w 1210661"/>
              <a:gd name="connsiteY0" fmla="*/ 0 h 1086168"/>
              <a:gd name="connsiteX1" fmla="*/ 1210661 w 1210661"/>
              <a:gd name="connsiteY1" fmla="*/ 0 h 1086168"/>
              <a:gd name="connsiteX2" fmla="*/ 1210661 w 1210661"/>
              <a:gd name="connsiteY2" fmla="*/ 1086168 h 1086168"/>
              <a:gd name="connsiteX3" fmla="*/ 0 w 1210661"/>
              <a:gd name="connsiteY3" fmla="*/ 1086168 h 1086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0661" h="1086168">
                <a:moveTo>
                  <a:pt x="0" y="0"/>
                </a:moveTo>
                <a:lnTo>
                  <a:pt x="1210661" y="0"/>
                </a:lnTo>
                <a:lnTo>
                  <a:pt x="1210661" y="1086168"/>
                </a:lnTo>
                <a:lnTo>
                  <a:pt x="0" y="10861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任意多边形: 形状 11"/>
          <p:cNvSpPr>
            <a:spLocks noGrp="1"/>
          </p:cNvSpPr>
          <p:nvPr>
            <p:ph type="pic" sz="quarter" idx="12"/>
          </p:nvPr>
        </p:nvSpPr>
        <p:spPr>
          <a:xfrm>
            <a:off x="10070114" y="4069080"/>
            <a:ext cx="1210661" cy="1086168"/>
          </a:xfrm>
          <a:custGeom>
            <a:avLst/>
            <a:gdLst>
              <a:gd name="connsiteX0" fmla="*/ 0 w 1210661"/>
              <a:gd name="connsiteY0" fmla="*/ 0 h 1086168"/>
              <a:gd name="connsiteX1" fmla="*/ 1210661 w 1210661"/>
              <a:gd name="connsiteY1" fmla="*/ 0 h 1086168"/>
              <a:gd name="connsiteX2" fmla="*/ 1210661 w 1210661"/>
              <a:gd name="connsiteY2" fmla="*/ 1086168 h 1086168"/>
              <a:gd name="connsiteX3" fmla="*/ 0 w 1210661"/>
              <a:gd name="connsiteY3" fmla="*/ 1086168 h 1086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0661" h="1086168">
                <a:moveTo>
                  <a:pt x="0" y="0"/>
                </a:moveTo>
                <a:lnTo>
                  <a:pt x="1210661" y="0"/>
                </a:lnTo>
                <a:lnTo>
                  <a:pt x="1210661" y="1086168"/>
                </a:lnTo>
                <a:lnTo>
                  <a:pt x="0" y="10861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0"/>
          </p:nvPr>
        </p:nvSpPr>
        <p:spPr>
          <a:xfrm>
            <a:off x="6112316" y="0"/>
            <a:ext cx="6079684" cy="605111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1"/>
          </p:nvPr>
        </p:nvSpPr>
        <p:spPr>
          <a:xfrm>
            <a:off x="911227" y="4095751"/>
            <a:ext cx="3603625" cy="21050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Pemrograman Platform Khusus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635" y="3803015"/>
            <a:ext cx="121907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3DDC84"/>
                </a:solidFill>
                <a:latin typeface="Open Sans Semibold" panose="020B0706030804020204" charset="0"/>
                <a:cs typeface="Open Sans Semibold" panose="020B0706030804020204" charset="0"/>
              </a:rPr>
              <a:t>Android Activity &amp; </a:t>
            </a:r>
          </a:p>
          <a:p>
            <a:pPr algn="ctr"/>
            <a:r>
              <a:rPr lang="en-US" altLang="zh-CN" sz="4800" dirty="0">
                <a:solidFill>
                  <a:srgbClr val="3DDC84"/>
                </a:solidFill>
                <a:latin typeface="Open Sans Semibold" panose="020B0706030804020204" charset="0"/>
                <a:cs typeface="Open Sans Semibold" panose="020B0706030804020204" charset="0"/>
              </a:rPr>
              <a:t>User Interface</a:t>
            </a:r>
            <a:endParaRPr lang="en-US" altLang="zh-CN" sz="4800" b="1" dirty="0">
              <a:solidFill>
                <a:srgbClr val="3DDC84"/>
              </a:solidFill>
              <a:latin typeface="Open Sans Semibold" panose="020B0706030804020204" charset="0"/>
              <a:cs typeface="Open Sans Semibold" panose="020B070603080402020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048635" y="5723329"/>
            <a:ext cx="6096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b="1" dirty="0" err="1">
                <a:solidFill>
                  <a:schemeClr val="bg1">
                    <a:lumMod val="65000"/>
                  </a:schemeClr>
                </a:solidFill>
              </a:rPr>
              <a:t>Pemrograman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</a:rPr>
              <a:t> Platform Khusus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Politeknik Statistika STIS, 2023</a:t>
            </a:r>
          </a:p>
        </p:txBody>
      </p:sp>
      <p:pic>
        <p:nvPicPr>
          <p:cNvPr id="2" name="Picture 1"/>
          <p:cNvPicPr/>
          <p:nvPr/>
        </p:nvPicPr>
        <p:blipFill>
          <a:blip r:embed="rId4"/>
          <a:stretch>
            <a:fillRect/>
          </a:stretch>
        </p:blipFill>
        <p:spPr>
          <a:xfrm>
            <a:off x="4205605" y="1621155"/>
            <a:ext cx="3780790" cy="21818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690370" y="3970655"/>
            <a:ext cx="8811260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 anchor="t">
            <a:spAutoFit/>
          </a:bodyPr>
          <a:lstStyle/>
          <a:p>
            <a:pPr algn="ctr"/>
            <a:r>
              <a:rPr lang="en-US" sz="4400">
                <a:solidFill>
                  <a:schemeClr val="bg1"/>
                </a:solidFill>
              </a:rPr>
              <a:t>Android Activity</a:t>
            </a: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10"/>
          </p:nvPr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4229100" y="1861185"/>
            <a:ext cx="3733800" cy="21094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Segoe UI" panose="020B0502040204020203" charset="0"/>
                <a:cs typeface="Segoe UI" panose="020B0502040204020203" charset="0"/>
              </a:rPr>
              <a:t>Pengantar Activity</a:t>
            </a:r>
            <a:endParaRPr lang="en-US" altLang="zh-CN" sz="4000" b="1">
              <a:latin typeface="Segoe UI" panose="020B0502040204020203" charset="0"/>
              <a:cs typeface="Segoe UI" panose="020B0502040204020203" charset="0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4713605" y="255270"/>
            <a:ext cx="6092190" cy="432181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823335" y="4671060"/>
            <a:ext cx="787209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Tidak seperti paradigma pemrograman seperti Java, c++, dll. yang menggunakan metode </a:t>
            </a:r>
            <a:r>
              <a:rPr lang="en-US" sz="2000">
                <a:latin typeface="Consolas" panose="020B0609020204030204" charset="0"/>
                <a:cs typeface="Consolas" panose="020B0609020204030204" charset="0"/>
                <a:sym typeface="+mn-ea"/>
              </a:rPr>
              <a:t>main()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 sebagai titik mulai menjalankan aplikasi, sistem Android memulai kode dalam </a:t>
            </a:r>
            <a:r>
              <a:rPr lang="en-US" sz="2000" b="1">
                <a:latin typeface="Consolas" panose="020B0609020204030204" charset="0"/>
                <a:cs typeface="Consolas" panose="020B0609020204030204" charset="0"/>
                <a:sym typeface="+mn-ea"/>
              </a:rPr>
              <a:t>instance Activity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 dengan memanggil metode </a:t>
            </a:r>
            <a:r>
              <a:rPr lang="en-US" sz="2000" i="1">
                <a:latin typeface="Open Sans" panose="020B0606030504020204" charset="0"/>
                <a:cs typeface="Open Sans" panose="020B0606030504020204" charset="0"/>
                <a:sym typeface="+mn-ea"/>
              </a:rPr>
              <a:t>callback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 tertentu yang sesuai dengan tahapan tertentu dari siklus prosesnya.</a:t>
            </a:r>
            <a:endParaRPr 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Segoe UI" panose="020B0502040204020203" charset="0"/>
                <a:cs typeface="Segoe UI" panose="020B0502040204020203" charset="0"/>
              </a:rPr>
              <a:t>Contoh</a:t>
            </a:r>
          </a:p>
          <a:p>
            <a:pPr algn="ctr"/>
            <a:r>
              <a:rPr lang="en-US" altLang="zh-CN" sz="4000">
                <a:latin typeface="Segoe UI" panose="020B0502040204020203" charset="0"/>
                <a:cs typeface="Segoe UI" panose="020B0502040204020203" charset="0"/>
              </a:rPr>
              <a:t>Activity Class</a:t>
            </a:r>
            <a:endParaRPr lang="en-US" altLang="zh-CN" sz="4000" b="1">
              <a:latin typeface="Segoe UI" panose="020B0502040204020203" charset="0"/>
              <a:cs typeface="Segoe UI" panose="020B0502040204020203" charset="0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10"/>
          </p:nvPr>
        </p:nvPicPr>
        <p:blipFill>
          <a:blip r:embed="rId2"/>
          <a:stretch>
            <a:fillRect/>
          </a:stretch>
        </p:blipFill>
        <p:spPr>
          <a:xfrm>
            <a:off x="3649345" y="1043940"/>
            <a:ext cx="8216900" cy="47694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Segoe UI" panose="020B0502040204020203" charset="0"/>
                <a:cs typeface="Segoe UI" panose="020B0502040204020203" charset="0"/>
              </a:rPr>
              <a:t>Hirarki</a:t>
            </a:r>
          </a:p>
          <a:p>
            <a:pPr algn="ctr"/>
            <a:r>
              <a:rPr lang="en-US" altLang="zh-CN" sz="4000">
                <a:latin typeface="Segoe UI" panose="020B0502040204020203" charset="0"/>
                <a:cs typeface="Segoe UI" panose="020B0502040204020203" charset="0"/>
              </a:rPr>
              <a:t>Activity Class</a:t>
            </a:r>
            <a:endParaRPr lang="en-US" altLang="zh-CN" sz="4000" b="1"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699510" y="508000"/>
            <a:ext cx="5281295" cy="368300"/>
          </a:xfrm>
          <a:prstGeom prst="rect">
            <a:avLst/>
          </a:prstGeom>
          <a:noFill/>
          <a:ln>
            <a:solidFill>
              <a:srgbClr val="3DDC8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onsolas" panose="020B0609020204030204" charset="0"/>
                <a:cs typeface="Consolas" panose="020B0609020204030204" charset="0"/>
              </a:rPr>
              <a:t>android.app.</a:t>
            </a:r>
            <a:r>
              <a:rPr lang="en-US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</a:rPr>
              <a:t>Activity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699510" y="1250950"/>
            <a:ext cx="5281930" cy="368300"/>
          </a:xfrm>
          <a:prstGeom prst="rect">
            <a:avLst/>
          </a:prstGeom>
          <a:noFill/>
          <a:ln>
            <a:solidFill>
              <a:srgbClr val="3DDC8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onsolas" panose="020B0609020204030204" charset="0"/>
                <a:cs typeface="Consolas" panose="020B0609020204030204" charset="0"/>
              </a:rPr>
              <a:t>androidx.core.app.</a:t>
            </a:r>
            <a:r>
              <a:rPr lang="en-US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</a:rPr>
              <a:t>ComponentActivity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700145" y="1993900"/>
            <a:ext cx="5280660" cy="368300"/>
          </a:xfrm>
          <a:prstGeom prst="rect">
            <a:avLst/>
          </a:prstGeom>
          <a:noFill/>
          <a:ln>
            <a:solidFill>
              <a:srgbClr val="3DDC8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onsolas" panose="020B0609020204030204" charset="0"/>
                <a:cs typeface="Consolas" panose="020B0609020204030204" charset="0"/>
              </a:rPr>
              <a:t>androidx.activity.</a:t>
            </a:r>
            <a:r>
              <a:rPr lang="en-US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</a:rPr>
              <a:t>ComponentActivity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700145" y="2736850"/>
            <a:ext cx="5280660" cy="368300"/>
          </a:xfrm>
          <a:prstGeom prst="rect">
            <a:avLst/>
          </a:prstGeom>
          <a:noFill/>
          <a:ln>
            <a:solidFill>
              <a:srgbClr val="3DDC8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onsolas" panose="020B0609020204030204" charset="0"/>
                <a:cs typeface="Consolas" panose="020B0609020204030204" charset="0"/>
              </a:rPr>
              <a:t>androidx.fragment.app.</a:t>
            </a:r>
            <a:r>
              <a:rPr lang="en-US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</a:rPr>
              <a:t>FragmentActivity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700145" y="3479800"/>
            <a:ext cx="5280660" cy="368300"/>
          </a:xfrm>
          <a:prstGeom prst="rect">
            <a:avLst/>
          </a:prstGeom>
          <a:noFill/>
          <a:ln>
            <a:solidFill>
              <a:srgbClr val="3DDC8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onsolas" panose="020B0609020204030204" charset="0"/>
                <a:cs typeface="Consolas" panose="020B0609020204030204" charset="0"/>
              </a:rPr>
              <a:t>androidx.appcompat.app.</a:t>
            </a:r>
            <a:r>
              <a:rPr lang="en-US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</a:rPr>
              <a:t>AppCompatActivity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3700145" y="4222750"/>
            <a:ext cx="5281295" cy="368300"/>
          </a:xfrm>
          <a:prstGeom prst="rect">
            <a:avLst/>
          </a:prstGeom>
          <a:noFill/>
          <a:ln>
            <a:solidFill>
              <a:srgbClr val="3DDC8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onsolas" panose="020B0609020204030204" charset="0"/>
                <a:cs typeface="Consolas" panose="020B0609020204030204" charset="0"/>
              </a:rPr>
              <a:t>com.example.myapp.</a:t>
            </a:r>
            <a:r>
              <a:rPr lang="en-US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</a:rPr>
              <a:t>MainActivity</a:t>
            </a:r>
          </a:p>
        </p:txBody>
      </p:sp>
      <p:cxnSp>
        <p:nvCxnSpPr>
          <p:cNvPr id="12" name="Straight Arrow Connector 11"/>
          <p:cNvCxnSpPr>
            <a:stCxn id="11" idx="0"/>
            <a:endCxn id="10" idx="2"/>
          </p:cNvCxnSpPr>
          <p:nvPr/>
        </p:nvCxnSpPr>
        <p:spPr>
          <a:xfrm flipH="1" flipV="1">
            <a:off x="6340475" y="3848100"/>
            <a:ext cx="635" cy="374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0"/>
            <a:endCxn id="9" idx="2"/>
          </p:cNvCxnSpPr>
          <p:nvPr/>
        </p:nvCxnSpPr>
        <p:spPr>
          <a:xfrm flipV="1">
            <a:off x="6340475" y="3105150"/>
            <a:ext cx="0" cy="374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0"/>
            <a:endCxn id="8" idx="2"/>
          </p:cNvCxnSpPr>
          <p:nvPr/>
        </p:nvCxnSpPr>
        <p:spPr>
          <a:xfrm flipV="1">
            <a:off x="6340475" y="2362200"/>
            <a:ext cx="0" cy="374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0"/>
            <a:endCxn id="7" idx="2"/>
          </p:cNvCxnSpPr>
          <p:nvPr/>
        </p:nvCxnSpPr>
        <p:spPr>
          <a:xfrm flipV="1">
            <a:off x="6340475" y="1619250"/>
            <a:ext cx="0" cy="374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0"/>
            <a:endCxn id="5" idx="2"/>
          </p:cNvCxnSpPr>
          <p:nvPr/>
        </p:nvCxnSpPr>
        <p:spPr>
          <a:xfrm flipV="1">
            <a:off x="6340475" y="876300"/>
            <a:ext cx="0" cy="374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59570" y="4222750"/>
            <a:ext cx="2726055" cy="2245360"/>
          </a:xfrm>
          <a:prstGeom prst="rect">
            <a:avLst/>
          </a:prstGeom>
          <a:noFill/>
          <a:ln>
            <a:solidFill>
              <a:srgbClr val="3DDC84"/>
            </a:solidFill>
            <a:prstDash val="dash"/>
          </a:ln>
        </p:spPr>
        <p:txBody>
          <a:bodyPr wrap="square" rtlCol="0" anchor="t">
            <a:spAutoFit/>
          </a:bodyPr>
          <a:lstStyle/>
          <a:p>
            <a:pPr marL="14605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2000" b="1">
                <a:latin typeface="Consolas" panose="020B0609020204030204" charset="0"/>
                <a:cs typeface="Consolas" panose="020B0609020204030204" charset="0"/>
                <a:sym typeface="+mn-ea"/>
              </a:rPr>
              <a:t>AppCompatActivity</a:t>
            </a:r>
            <a:r>
              <a:rPr lang="en-US" sz="1600">
                <a:sym typeface="+mn-ea"/>
              </a:rPr>
              <a:t> </a:t>
            </a:r>
            <a:endParaRPr lang="en-US" sz="2000"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pPr marL="14605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Turunan dari class Activity yang memungkinkan kita menggunakan fitur baru Android di versi Android lama.</a:t>
            </a:r>
          </a:p>
        </p:txBody>
      </p:sp>
      <p:cxnSp>
        <p:nvCxnSpPr>
          <p:cNvPr id="21" name="Elbow Connector 20"/>
          <p:cNvCxnSpPr>
            <a:stCxn id="10" idx="3"/>
            <a:endCxn id="19" idx="0"/>
          </p:cNvCxnSpPr>
          <p:nvPr/>
        </p:nvCxnSpPr>
        <p:spPr>
          <a:xfrm>
            <a:off x="8980805" y="3663950"/>
            <a:ext cx="1642110" cy="558800"/>
          </a:xfrm>
          <a:prstGeom prst="bentConnector2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 Box 21"/>
          <p:cNvSpPr txBox="1"/>
          <p:nvPr/>
        </p:nvSpPr>
        <p:spPr>
          <a:xfrm>
            <a:off x="4481830" y="4887595"/>
            <a:ext cx="4498975" cy="1630045"/>
          </a:xfrm>
          <a:prstGeom prst="rect">
            <a:avLst/>
          </a:prstGeom>
          <a:noFill/>
          <a:ln>
            <a:solidFill>
              <a:srgbClr val="3DDC84"/>
            </a:solidFill>
            <a:prstDash val="dash"/>
          </a:ln>
        </p:spPr>
        <p:txBody>
          <a:bodyPr wrap="square" rtlCol="0" anchor="t">
            <a:spAutoFit/>
          </a:bodyPr>
          <a:lstStyle/>
          <a:p>
            <a:pPr marL="14605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2000" b="1">
                <a:latin typeface="Consolas" panose="020B0609020204030204" charset="0"/>
                <a:cs typeface="Consolas" panose="020B0609020204030204" charset="0"/>
                <a:sym typeface="+mn-ea"/>
              </a:rPr>
              <a:t>MainActivity</a:t>
            </a:r>
            <a:r>
              <a:rPr lang="en-US" sz="1600">
                <a:sym typeface="+mn-ea"/>
              </a:rPr>
              <a:t> </a:t>
            </a:r>
            <a:endParaRPr lang="en-US" sz="2000"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pPr marL="14605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Saat membuat project Android, secara otomatis akan ada sebuah MainActivity yang merupakan class turunan dari AppCompatActivity.</a:t>
            </a:r>
          </a:p>
        </p:txBody>
      </p:sp>
      <p:cxnSp>
        <p:nvCxnSpPr>
          <p:cNvPr id="23" name="Elbow Connector 22"/>
          <p:cNvCxnSpPr>
            <a:stCxn id="11" idx="1"/>
            <a:endCxn id="22" idx="1"/>
          </p:cNvCxnSpPr>
          <p:nvPr/>
        </p:nvCxnSpPr>
        <p:spPr>
          <a:xfrm rot="10800000" flipH="1" flipV="1">
            <a:off x="3699510" y="4406265"/>
            <a:ext cx="781685" cy="1296035"/>
          </a:xfrm>
          <a:prstGeom prst="bentConnector3">
            <a:avLst>
              <a:gd name="adj1" fmla="val -30463"/>
            </a:avLst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Segoe UI" panose="020B0502040204020203" charset="0"/>
                <a:cs typeface="Segoe UI" panose="020B0502040204020203" charset="0"/>
              </a:rPr>
              <a:t>Siklus Proses Activity</a:t>
            </a:r>
            <a:endParaRPr lang="en-US" altLang="zh-CN" sz="4000" b="1">
              <a:latin typeface="Segoe UI" panose="020B0502040204020203" charset="0"/>
              <a:cs typeface="Segoe UI" panose="020B0502040204020203" charset="0"/>
            </a:endParaRPr>
          </a:p>
        </p:txBody>
      </p:sp>
      <p:pic>
        <p:nvPicPr>
          <p:cNvPr id="108" name="Picture 107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" name="Picture Placeholder 108"/>
          <p:cNvPicPr>
            <a:picLocks noGrp="1" noChangeAspect="1"/>
          </p:cNvPicPr>
          <p:nvPr>
            <p:ph type="pic" idx="10"/>
          </p:nvPr>
        </p:nvPicPr>
        <p:blipFill>
          <a:blip r:embed="rId3"/>
          <a:stretch>
            <a:fillRect/>
          </a:stretch>
        </p:blipFill>
        <p:spPr>
          <a:xfrm>
            <a:off x="3308350" y="193040"/>
            <a:ext cx="5007610" cy="64712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8315960" y="193040"/>
            <a:ext cx="3687445" cy="3046095"/>
          </a:xfrm>
          <a:prstGeom prst="rect">
            <a:avLst/>
          </a:prstGeom>
          <a:noFill/>
          <a:ln>
            <a:solidFill>
              <a:srgbClr val="3DDC84"/>
            </a:solidFill>
            <a:prstDash val="sysDot"/>
          </a:ln>
        </p:spPr>
        <p:txBody>
          <a:bodyPr wrap="square" rtlCol="0" anchor="t">
            <a:spAutoFit/>
          </a:bodyPr>
          <a:lstStyle/>
          <a:p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Saat pengguna menelusuri, keluar dan kembali ke aplikasi, </a:t>
            </a:r>
            <a:r>
              <a:rPr lang="en-US" sz="2400" i="1">
                <a:latin typeface="Open Sans" panose="020B0606030504020204" charset="0"/>
                <a:cs typeface="Open Sans" panose="020B0606030504020204" charset="0"/>
              </a:rPr>
              <a:t>instance Activity</a:t>
            </a: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 dalam aplikasi akan melakukan transisi ke berbagai status dalam siklus prosesnya.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315960" y="3861435"/>
            <a:ext cx="3687445" cy="2306955"/>
          </a:xfrm>
          <a:prstGeom prst="rect">
            <a:avLst/>
          </a:prstGeom>
          <a:noFill/>
          <a:ln>
            <a:solidFill>
              <a:srgbClr val="3DDC84"/>
            </a:solidFill>
            <a:prstDash val="sysDot"/>
          </a:ln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i="1">
                <a:latin typeface="Open Sans" panose="020B0606030504020204" charset="0"/>
                <a:cs typeface="Open Sans" panose="020B0606030504020204" charset="0"/>
              </a:rPr>
              <a:t>Class Activity</a:t>
            </a: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 menyediakan sejumlah </a:t>
            </a:r>
            <a:r>
              <a:rPr lang="en-US" sz="2400" i="1">
                <a:latin typeface="Open Sans" panose="020B0606030504020204" charset="0"/>
                <a:cs typeface="Open Sans" panose="020B0606030504020204" charset="0"/>
              </a:rPr>
              <a:t>callback</a:t>
            </a: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 yang memungkinkan aktivitas mengetahui bahwa status telah berubah.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Segoe UI" panose="020B0502040204020203" charset="0"/>
                <a:cs typeface="Segoe UI" panose="020B0502040204020203" charset="0"/>
              </a:rPr>
              <a:t>Callback Activity</a:t>
            </a:r>
            <a:endParaRPr lang="en-US" altLang="zh-CN" sz="4000" b="1">
              <a:latin typeface="Segoe UI" panose="020B0502040204020203" charset="0"/>
              <a:cs typeface="Segoe UI" panose="020B0502040204020203" charset="0"/>
            </a:endParaRPr>
          </a:p>
        </p:txBody>
      </p:sp>
      <p:pic>
        <p:nvPicPr>
          <p:cNvPr id="108" name="Picture 107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3561715" y="248920"/>
            <a:ext cx="8031480" cy="6247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800" b="1">
                <a:latin typeface="Consolas" panose="020B0609020204030204" charset="0"/>
                <a:cs typeface="Consolas" panose="020B0609020204030204" charset="0"/>
              </a:rPr>
              <a:t>onCreate()</a:t>
            </a:r>
            <a:endParaRPr lang="en-US" sz="3600" b="1">
              <a:latin typeface="Consolas" panose="020B0609020204030204" charset="0"/>
              <a:cs typeface="Consolas" panose="020B0609020204030204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400" i="1">
                <a:latin typeface="Open Sans" panose="020B0606030504020204" charset="0"/>
                <a:cs typeface="Open Sans" panose="020B0606030504020204" charset="0"/>
              </a:rPr>
              <a:t>Callback</a:t>
            </a: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 pertama yang dipanggil pertama kali setelah aktivitas dibuat.</a:t>
            </a:r>
          </a:p>
          <a:p>
            <a:pPr indent="0">
              <a:lnSpc>
                <a:spcPct val="100000"/>
              </a:lnSpc>
              <a:buNone/>
            </a:pPr>
            <a:endParaRPr lang="en-US" sz="2400">
              <a:latin typeface="Open Sans" panose="020B0606030504020204" charset="0"/>
              <a:cs typeface="Open Sans" panose="020B0606030504020204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800" b="1">
                <a:latin typeface="Consolas" panose="020B0609020204030204" charset="0"/>
                <a:cs typeface="Consolas" panose="020B0609020204030204" charset="0"/>
                <a:sym typeface="+mn-ea"/>
              </a:rPr>
              <a:t>onStart()</a:t>
            </a:r>
            <a:endParaRPr lang="en-US" sz="2400" b="1">
              <a:latin typeface="Consolas" panose="020B0609020204030204" charset="0"/>
              <a:cs typeface="Consolas" panose="020B0609020204030204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400" i="1">
                <a:latin typeface="Open Sans" panose="020B0606030504020204" charset="0"/>
                <a:cs typeface="Open Sans" panose="020B0606030504020204" charset="0"/>
              </a:rPr>
              <a:t>Callback </a:t>
            </a: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ini dipanggil saat aktivitas baru dimulai sesaat setelah aktivitas dibuat dan mulai ditampilkan ke pengguna.</a:t>
            </a:r>
          </a:p>
          <a:p>
            <a:pPr indent="0">
              <a:lnSpc>
                <a:spcPct val="100000"/>
              </a:lnSpc>
              <a:buNone/>
            </a:pPr>
            <a:endParaRPr lang="en-US" sz="2800" b="1"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800" b="1">
                <a:latin typeface="Consolas" panose="020B0609020204030204" charset="0"/>
                <a:cs typeface="Consolas" panose="020B0609020204030204" charset="0"/>
                <a:sym typeface="+mn-ea"/>
              </a:rPr>
              <a:t>onResume()</a:t>
            </a:r>
            <a:endParaRPr lang="en-US" sz="2400" b="1">
              <a:latin typeface="Consolas" panose="020B0609020204030204" charset="0"/>
              <a:cs typeface="Consolas" panose="020B0609020204030204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400">
                <a:latin typeface="Open Sans" panose="020B0606030504020204" charset="0"/>
                <a:cs typeface="Open Sans" panose="020B0606030504020204" charset="0"/>
                <a:sym typeface="+mn-ea"/>
              </a:rPr>
              <a:t>Callback ini dipanggil setelah pengguna mulai berinteraksi dengan aplikasi.</a:t>
            </a:r>
          </a:p>
          <a:p>
            <a:pPr indent="0">
              <a:lnSpc>
                <a:spcPct val="100000"/>
              </a:lnSpc>
              <a:buNone/>
            </a:pPr>
            <a:endParaRPr lang="en-US" sz="2400">
              <a:latin typeface="Open Sans" panose="020B0606030504020204" charset="0"/>
              <a:cs typeface="Open Sans" panose="020B0606030504020204" charset="0"/>
              <a:sym typeface="+mn-ea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400" b="1">
                <a:latin typeface="Consolas" panose="020B0609020204030204" charset="0"/>
                <a:cs typeface="Consolas" panose="020B0609020204030204" charset="0"/>
                <a:sym typeface="+mn-ea"/>
              </a:rPr>
              <a:t>onPause()</a:t>
            </a:r>
            <a:endParaRPr lang="en-US" sz="2400" b="1">
              <a:latin typeface="Consolas" panose="020B0609020204030204" charset="0"/>
              <a:cs typeface="Consolas" panose="020B0609020204030204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400" i="1">
                <a:latin typeface="Open Sans" panose="020B0606030504020204" charset="0"/>
                <a:cs typeface="Open Sans" panose="020B0606030504020204" charset="0"/>
                <a:sym typeface="+mn-ea"/>
              </a:rPr>
              <a:t>Callback</a:t>
            </a:r>
            <a:r>
              <a:rPr lang="en-US" sz="2400">
                <a:latin typeface="Open Sans" panose="020B0606030504020204" charset="0"/>
                <a:cs typeface="Open Sans" panose="020B0606030504020204" charset="0"/>
                <a:sym typeface="+mn-ea"/>
              </a:rPr>
              <a:t> ini dipanggil ketika pengguna meninggalkan layar depan atau berpindah ke aktivitas lainnya.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Segoe UI" panose="020B0502040204020203" charset="0"/>
                <a:cs typeface="Segoe UI" panose="020B0502040204020203" charset="0"/>
              </a:rPr>
              <a:t>Callback Activity</a:t>
            </a:r>
            <a:endParaRPr lang="en-US" altLang="zh-CN" sz="4000" b="1">
              <a:latin typeface="Segoe UI" panose="020B0502040204020203" charset="0"/>
              <a:cs typeface="Segoe UI" panose="020B0502040204020203" charset="0"/>
            </a:endParaRPr>
          </a:p>
        </p:txBody>
      </p:sp>
      <p:pic>
        <p:nvPicPr>
          <p:cNvPr id="108" name="Picture 107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3551555" y="767080"/>
            <a:ext cx="8031480" cy="5323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800" b="1">
                <a:latin typeface="Consolas" panose="020B0609020204030204" charset="0"/>
                <a:cs typeface="Consolas" panose="020B0609020204030204" charset="0"/>
                <a:sym typeface="+mn-ea"/>
              </a:rPr>
              <a:t>onStop()</a:t>
            </a:r>
            <a:endParaRPr lang="en-US" sz="2400" b="1">
              <a:latin typeface="Consolas" panose="020B0609020204030204" charset="0"/>
              <a:cs typeface="Consolas" panose="020B0609020204030204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400" i="1">
                <a:latin typeface="Open Sans" panose="020B0606030504020204" charset="0"/>
                <a:cs typeface="Open Sans" panose="020B0606030504020204" charset="0"/>
              </a:rPr>
              <a:t>Callback </a:t>
            </a: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ini dipanggil jika aktivitas tidak lagi terlihat oleh pengguna.</a:t>
            </a:r>
          </a:p>
          <a:p>
            <a:pPr indent="0">
              <a:lnSpc>
                <a:spcPct val="100000"/>
              </a:lnSpc>
              <a:buNone/>
            </a:pPr>
            <a:endParaRPr lang="en-US" sz="2400">
              <a:latin typeface="Open Sans" panose="020B0606030504020204" charset="0"/>
              <a:cs typeface="Open Sans" panose="020B0606030504020204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400" b="1">
                <a:latin typeface="Consolas" panose="020B0609020204030204" charset="0"/>
                <a:cs typeface="Consolas" panose="020B0609020204030204" charset="0"/>
                <a:sym typeface="+mn-ea"/>
              </a:rPr>
              <a:t>onDestroy()</a:t>
            </a:r>
            <a:endParaRPr lang="en-US" sz="2400" b="1">
              <a:latin typeface="Consolas" panose="020B0609020204030204" charset="0"/>
              <a:cs typeface="Consolas" panose="020B0609020204030204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400">
                <a:latin typeface="Open Sans" panose="020B0606030504020204" charset="0"/>
                <a:cs typeface="Open Sans" panose="020B0606030504020204" charset="0"/>
                <a:sym typeface="+mn-ea"/>
              </a:rPr>
              <a:t>Callback ini dipanggil sebelum aktivitas ditutup. Sistem memanggil callback ini karena:</a:t>
            </a:r>
            <a:endParaRPr lang="en-US" sz="2400">
              <a:latin typeface="Open Sans" panose="020B0606030504020204" charset="0"/>
              <a:cs typeface="Open Sans" panose="020B0606030504020204" charset="0"/>
            </a:endParaRPr>
          </a:p>
          <a:p>
            <a:pPr indent="0">
              <a:lnSpc>
                <a:spcPct val="100000"/>
              </a:lnSpc>
              <a:buNone/>
            </a:pPr>
            <a:endParaRPr lang="en-US" sz="2400">
              <a:latin typeface="Open Sans" panose="020B0606030504020204" charset="0"/>
              <a:cs typeface="Open Sans" panose="020B0606030504020204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400">
                <a:latin typeface="Open Sans" panose="020B0606030504020204" charset="0"/>
                <a:cs typeface="Open Sans" panose="020B0606030504020204" charset="0"/>
                <a:sym typeface="+mn-ea"/>
              </a:rPr>
              <a:t>aktivitas selesai (karena pengguna benar-benar menutup aktivitas atau karena finish() dipanggil pada aktivitas tersebut), atau</a:t>
            </a:r>
            <a:endParaRPr lang="en-US" sz="2400">
              <a:latin typeface="Open Sans" panose="020B0606030504020204" charset="0"/>
              <a:cs typeface="Open Sans" panose="020B0606030504020204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400">
                <a:latin typeface="Open Sans" panose="020B0606030504020204" charset="0"/>
                <a:cs typeface="Open Sans" panose="020B0606030504020204" charset="0"/>
                <a:sym typeface="+mn-ea"/>
              </a:rPr>
              <a:t>sistem sementara menutup aktivitas karena perubahan konfigurasi (seperti rotasi perangkat atau mode multi-jendela)</a:t>
            </a:r>
            <a:endParaRPr lang="en-US" sz="2400">
              <a:latin typeface="Open Sans" panose="020B0606030504020204" charset="0"/>
              <a:cs typeface="Open Sans" panose="020B0606030504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07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399415" y="506095"/>
            <a:ext cx="5419725" cy="58159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package com.example.helloworld;</a:t>
            </a:r>
          </a:p>
          <a:p>
            <a:pPr indent="0">
              <a:lnSpc>
                <a:spcPct val="100000"/>
              </a:lnSpc>
              <a:buNone/>
            </a:pP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import android.os.Bundle;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import android.app.Activity;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import android.util.Log;</a:t>
            </a:r>
          </a:p>
          <a:p>
            <a:pPr indent="0">
              <a:lnSpc>
                <a:spcPct val="100000"/>
              </a:lnSpc>
              <a:buNone/>
            </a:pP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public class MainActivity extends Activity {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String msg = "Android : ";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/** Called when the activity is first created. */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@Override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public void </a:t>
            </a:r>
            <a:r>
              <a:rPr lang="en-US" sz="120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</a:rPr>
              <a:t>onCreate</a:t>
            </a: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(Bundle savedInstanceState) {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super.onCreate(savedInstanceState);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setContentView(R.layout.activity_main);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Log.d(msg, "The onCreate() event");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}</a:t>
            </a:r>
          </a:p>
          <a:p>
            <a:pPr indent="0">
              <a:lnSpc>
                <a:spcPct val="100000"/>
              </a:lnSpc>
              <a:buNone/>
            </a:pP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/** Called when the activity is about to become visible. */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@Override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protected void </a:t>
            </a:r>
            <a:r>
              <a:rPr lang="en-US" sz="120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</a:rPr>
              <a:t>onStart</a:t>
            </a: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() {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super.onStart();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Log.d(msg, "The onStart() event");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}</a:t>
            </a:r>
          </a:p>
          <a:p>
            <a:pPr indent="0">
              <a:lnSpc>
                <a:spcPct val="100000"/>
              </a:lnSpc>
              <a:buNone/>
            </a:pP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/** Called when the activity has become visible. */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@Override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protected void </a:t>
            </a:r>
            <a:r>
              <a:rPr lang="en-US" sz="120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</a:rPr>
              <a:t>onResume</a:t>
            </a: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() {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super.onResume();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Log.d(msg, "The onResume() event");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}</a:t>
            </a:r>
          </a:p>
          <a:p>
            <a:pPr indent="0">
              <a:lnSpc>
                <a:spcPct val="100000"/>
              </a:lnSpc>
              <a:buNone/>
            </a:pPr>
            <a:endParaRPr lang="en-US" sz="12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96000" y="506095"/>
            <a:ext cx="5659120" cy="50463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/** Called when another activity is taking focus. */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@Override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protected void </a:t>
            </a:r>
            <a:r>
              <a:rPr lang="en-US" sz="140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onPause</a:t>
            </a: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() {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   super.onPause();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   Log.d(msg, "The onPause() event");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}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/** Called when the activity is no longer visible. */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@Override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protected void </a:t>
            </a:r>
            <a:r>
              <a:rPr lang="en-US" sz="140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onStop</a:t>
            </a: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() {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   super.onStop();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   Log.d(msg, "The onStop() event");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}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/** Called just before the activity is destroyed. */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@Override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public void </a:t>
            </a:r>
            <a:r>
              <a:rPr lang="en-US" sz="140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onDestroy</a:t>
            </a: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() {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   super.onDestroy();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   Log.d(msg, "The onDestroy() event");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   }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endParaRPr lang="en-US" sz="14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Segoe UI" panose="020B0502040204020203" charset="0"/>
                <a:cs typeface="Segoe UI" panose="020B0502040204020203" charset="0"/>
              </a:rPr>
              <a:t>Menangani Perubahan Status Aktivitas</a:t>
            </a:r>
          </a:p>
        </p:txBody>
      </p:sp>
      <p:pic>
        <p:nvPicPr>
          <p:cNvPr id="108" name="Picture 107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3808730" y="2011680"/>
            <a:ext cx="794512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>
                <a:latin typeface="Open Sans" panose="020B0606030504020204" charset="0"/>
                <a:cs typeface="Open Sans" panose="020B0606030504020204" charset="0"/>
              </a:rPr>
              <a:t>1. Terjadi Perubahan konfigurasi</a:t>
            </a:r>
            <a:endParaRPr lang="en-US" sz="24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Ada </a:t>
            </a:r>
            <a:r>
              <a:rPr lang="en-US" sz="2400" i="1">
                <a:latin typeface="Open Sans" panose="020B0606030504020204" charset="0"/>
                <a:cs typeface="Open Sans" panose="020B0606030504020204" charset="0"/>
              </a:rPr>
              <a:t>sejumlah event </a:t>
            </a: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yang dapat memicu perubahan konfigurasi.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Contoh: perubahan antara orientasi potret dan lanskap, perubahan bahasa, atau perangkat input.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Jika perubahan konfigurasi terjadi, aktivitas akan diakhiri dan dibuat ulang.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Instance aktivitas asli akan memicu callback </a:t>
            </a:r>
            <a:r>
              <a:rPr lang="en-US" sz="2400">
                <a:latin typeface="Consolas" panose="020B0609020204030204" charset="0"/>
                <a:cs typeface="Consolas" panose="020B0609020204030204" charset="0"/>
              </a:rPr>
              <a:t>onPause(), onStop(),</a:t>
            </a: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 dan </a:t>
            </a:r>
            <a:r>
              <a:rPr lang="en-US" sz="2400">
                <a:latin typeface="Consolas" panose="020B0609020204030204" charset="0"/>
                <a:cs typeface="Consolas" panose="020B0609020204030204" charset="0"/>
              </a:rPr>
              <a:t>onDestroy()</a:t>
            </a: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Instance baru dari aktivitas akan dibuat lalu memicu callback onCreate(), onStart(), dan onResume().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808730" y="503555"/>
            <a:ext cx="79451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Berbagai </a:t>
            </a:r>
            <a:r>
              <a:rPr lang="en-US" sz="2400" i="1">
                <a:latin typeface="Open Sans" panose="020B0606030504020204" charset="0"/>
                <a:cs typeface="Open Sans" panose="020B0606030504020204" charset="0"/>
              </a:rPr>
              <a:t>event</a:t>
            </a: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, yang dipicu oleh pengguna dan dipicu oleh sistem, dapat menyebabkan Activity bertransisi antar-status. Contohnya: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Segoe UI" panose="020B0502040204020203" charset="0"/>
                <a:cs typeface="Segoe UI" panose="020B0502040204020203" charset="0"/>
              </a:rPr>
              <a:t>Menangani Perubahan Status Aktivitas</a:t>
            </a:r>
          </a:p>
        </p:txBody>
      </p:sp>
      <p:pic>
        <p:nvPicPr>
          <p:cNvPr id="108" name="Picture 107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3867150" y="982980"/>
            <a:ext cx="7625715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>
                <a:latin typeface="Open Sans" panose="020B0606030504020204" charset="0"/>
                <a:cs typeface="Open Sans" panose="020B0606030504020204" charset="0"/>
              </a:rPr>
              <a:t>2. Penanganan kasus multi-aplikasi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Dalam mode multi-aplikasi, meskipun ada dua aplikasi yang terlihat oleh pengguna, hanya satu aplikasi yang berinteraksi dengan pengguna di latar depan dan memiliki fokus. Aktivitas tersebut dalam status </a:t>
            </a:r>
            <a:r>
              <a:rPr lang="en-US" sz="2400" i="1">
                <a:latin typeface="Open Sans" panose="020B0606030504020204" charset="0"/>
                <a:cs typeface="Open Sans" panose="020B0606030504020204" charset="0"/>
              </a:rPr>
              <a:t>resume</a:t>
            </a: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, sedangkan aplikasi di jendela lain dalam status </a:t>
            </a:r>
            <a:r>
              <a:rPr lang="en-US" sz="2400" i="1">
                <a:latin typeface="Open Sans" panose="020B0606030504020204" charset="0"/>
                <a:cs typeface="Open Sans" panose="020B0606030504020204" charset="0"/>
              </a:rPr>
              <a:t>paused</a:t>
            </a: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Saat pengguna beralih dari aplikasi A ke aplikasi B, sistem memanggil onPause() pada aplikasi A, dan onResume() pada aplikasi B. Sistem beralih di antara kedua metode ini setiap kali pengguna beralih antar-aplikasi.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Segoe UI" panose="020B0502040204020203" charset="0"/>
                <a:cs typeface="Segoe UI" panose="020B0502040204020203" charset="0"/>
                <a:sym typeface="+mn-ea"/>
              </a:rPr>
              <a:t>Menangani Perubahan Status Aktivitas</a:t>
            </a:r>
            <a:endParaRPr lang="en-US" altLang="zh-CN" sz="4000">
              <a:latin typeface="Segoe UI" panose="020B0502040204020203" charset="0"/>
              <a:cs typeface="Segoe UI" panose="020B0502040204020203" charset="0"/>
            </a:endParaRPr>
          </a:p>
        </p:txBody>
      </p:sp>
      <p:pic>
        <p:nvPicPr>
          <p:cNvPr id="108" name="Picture 107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3867150" y="982980"/>
            <a:ext cx="7625715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>
                <a:latin typeface="Open Sans" panose="020B0606030504020204" charset="0"/>
                <a:cs typeface="Open Sans" panose="020B0606030504020204" charset="0"/>
              </a:rPr>
              <a:t>3. Aktivitas atau dialog muncul di latar depan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Jika aktivitas atau dialog baru muncul di latar depan, mengambil fokus, dan menutupi sebagian aktivitas yang sedang berlangsung, aktivitas yang tertutupi ini akan kehilangan fokus dan memasuki status Dijeda.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Kemudian, sistem akan memanggil onPause() untuk aktivitas tersebut.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Setelah aktivitas yang tertutup kembali ke latar depan dan mendapatkan kembali fokus, aktivitas akan memanggil onResume().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Segoe UI" panose="020B0502040204020203" charset="0"/>
                <a:cs typeface="Segoe UI" panose="020B0502040204020203" charset="0"/>
                <a:sym typeface="+mn-ea"/>
              </a:rPr>
              <a:t>Menangani Perubahan Status Aktivitas</a:t>
            </a:r>
            <a:endParaRPr lang="en-US" altLang="zh-CN" sz="4000">
              <a:latin typeface="Segoe UI" panose="020B0502040204020203" charset="0"/>
              <a:cs typeface="Segoe UI" panose="020B0502040204020203" charset="0"/>
            </a:endParaRPr>
          </a:p>
        </p:txBody>
      </p:sp>
      <p:pic>
        <p:nvPicPr>
          <p:cNvPr id="108" name="Picture 107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952240"/>
            <a:ext cx="0" cy="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3867785" y="787400"/>
            <a:ext cx="7625715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>
                <a:latin typeface="Open Sans" panose="020B0606030504020204" charset="0"/>
                <a:cs typeface="Open Sans" panose="020B0606030504020204" charset="0"/>
              </a:rPr>
              <a:t>4. Pengguna mengetuk tombol Kembali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Jika aktivitas berada di latar depan dan pengguna mengetuk tombol Kembali, aktivitas akan bertransisi melalui callback onPause(), onStop(), dan onDestroy().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Open Sans" panose="020B0606030504020204" charset="0"/>
              <a:cs typeface="Open Sans" panose="020B0606030504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Selain diakhiri, aktivitas juga dihapus dari data sebelumnya.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867785" y="3998595"/>
            <a:ext cx="762571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>
                <a:latin typeface="Open Sans" panose="020B0606030504020204" charset="0"/>
                <a:cs typeface="Open Sans" panose="020B0606030504020204" charset="0"/>
              </a:rPr>
              <a:t>5. Sistem mengakhiri proses aplikasi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Jika aplikasi berada di latar belakang dan sistem perlu mengosongkan memori tambahan untuk aplikasi latar depan, aplikasi latar belakang dapat diakhiri oleh sistem guna mengosongkan lebih banyak memori.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690370" y="3970655"/>
            <a:ext cx="8811260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 anchor="t">
            <a:spAutoFit/>
          </a:bodyPr>
          <a:lstStyle/>
          <a:p>
            <a:pPr algn="ctr"/>
            <a:r>
              <a:rPr lang="en-US" sz="4400">
                <a:solidFill>
                  <a:schemeClr val="bg1"/>
                </a:solidFill>
              </a:rPr>
              <a:t>Android User Interface</a:t>
            </a: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10"/>
          </p:nvPr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4229100" y="1861185"/>
            <a:ext cx="3733800" cy="21094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bg1"/>
                </a:solidFill>
                <a:sym typeface="+mn-ea"/>
              </a:rPr>
              <a:t>Android - User Interface</a:t>
            </a:r>
            <a:endParaRPr lang="en-US" altLang="zh-CN" sz="4000">
              <a:latin typeface="Segoe UI" panose="020B0502040204020203" charset="0"/>
              <a:cs typeface="Segoe UI" panose="020B0502040204020203" charset="0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Picture Placeholder 100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tretch>
            <a:fillRect/>
          </a:stretch>
        </p:blipFill>
        <p:spPr>
          <a:xfrm>
            <a:off x="3789680" y="3045460"/>
            <a:ext cx="7529195" cy="3296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3789045" y="474980"/>
            <a:ext cx="752983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>
                <a:latin typeface="Open Sans" panose="020B0606030504020204" charset="0"/>
                <a:cs typeface="Open Sans" panose="020B0606030504020204" charset="0"/>
              </a:rPr>
              <a:t>Semua elemen </a:t>
            </a:r>
            <a:r>
              <a:rPr lang="en-US" b="1" i="1">
                <a:latin typeface="Open Sans" panose="020B0606030504020204" charset="0"/>
                <a:cs typeface="Open Sans" panose="020B0606030504020204" charset="0"/>
              </a:rPr>
              <a:t>user interface (UI)</a:t>
            </a:r>
            <a:r>
              <a:rPr lang="en-US">
                <a:latin typeface="Open Sans" panose="020B0606030504020204" charset="0"/>
                <a:cs typeface="Open Sans" panose="020B0606030504020204" charset="0"/>
              </a:rPr>
              <a:t> pada Android dibuat menggunakan hierarki objek </a:t>
            </a:r>
            <a:r>
              <a:rPr lang="en-US" b="1">
                <a:latin typeface="Open Sans" panose="020B0606030504020204" charset="0"/>
                <a:cs typeface="Open Sans" panose="020B0606030504020204" charset="0"/>
              </a:rPr>
              <a:t>View</a:t>
            </a:r>
            <a:r>
              <a:rPr lang="en-US">
                <a:latin typeface="Open Sans" panose="020B0606030504020204" charset="0"/>
                <a:cs typeface="Open Sans" panose="020B0606030504020204" charset="0"/>
              </a:rPr>
              <a:t> dan </a:t>
            </a:r>
            <a:r>
              <a:rPr lang="en-US" b="1">
                <a:latin typeface="Open Sans" panose="020B0606030504020204" charset="0"/>
                <a:cs typeface="Open Sans" panose="020B0606030504020204" charset="0"/>
              </a:rPr>
              <a:t>ViewGroup</a:t>
            </a:r>
            <a:r>
              <a:rPr lang="en-US">
                <a:latin typeface="Open Sans" panose="020B0606030504020204" charset="0"/>
                <a:cs typeface="Open Sans" panose="020B0606030504020204" charset="0"/>
              </a:rPr>
              <a:t>. </a:t>
            </a:r>
          </a:p>
          <a:p>
            <a:endParaRPr lang="en-US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 b="1">
                <a:latin typeface="Open Sans" panose="020B0606030504020204" charset="0"/>
                <a:cs typeface="Open Sans" panose="020B0606030504020204" charset="0"/>
              </a:rPr>
              <a:t>View</a:t>
            </a:r>
            <a:r>
              <a:rPr lang="en-US">
                <a:latin typeface="Open Sans" panose="020B0606030504020204" charset="0"/>
                <a:cs typeface="Open Sans" panose="020B0606030504020204" charset="0"/>
              </a:rPr>
              <a:t> biasanya menggambar sesuatu yang terlihat dan pengguna dapat berinteraksi dengannya. </a:t>
            </a:r>
          </a:p>
          <a:p>
            <a:endParaRPr lang="en-US">
              <a:latin typeface="Open Sans" panose="020B0606030504020204" charset="0"/>
              <a:cs typeface="Open Sans" panose="020B0606030504020204" charset="0"/>
            </a:endParaRPr>
          </a:p>
          <a:p>
            <a:r>
              <a:rPr lang="en-US" b="1">
                <a:latin typeface="Open Sans" panose="020B0606030504020204" charset="0"/>
                <a:cs typeface="Open Sans" panose="020B0606030504020204" charset="0"/>
              </a:rPr>
              <a:t>ViewGroup</a:t>
            </a:r>
            <a:r>
              <a:rPr lang="en-US">
                <a:latin typeface="Open Sans" panose="020B0606030504020204" charset="0"/>
                <a:cs typeface="Open Sans" panose="020B0606030504020204" charset="0"/>
              </a:rPr>
              <a:t> adalah container tak terlihat yang menentukan struktur tata letak bagi View dan objek ViewGroup lainnya.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 Placeholder 5"/>
          <p:cNvPicPr>
            <a:picLocks noGrp="1" noChangeAspect="1"/>
          </p:cNvPicPr>
          <p:nvPr>
            <p:ph type="pic" idx="10"/>
          </p:nvPr>
        </p:nvPicPr>
        <p:blipFill>
          <a:blip r:embed="rId4"/>
          <a:stretch>
            <a:fillRect/>
          </a:stretch>
        </p:blipFill>
        <p:spPr>
          <a:xfrm>
            <a:off x="4224020" y="929005"/>
            <a:ext cx="2463800" cy="2101850"/>
          </a:xfrm>
          <a:prstGeom prst="rect">
            <a:avLst/>
          </a:prstGeom>
        </p:spPr>
      </p:pic>
      <p:pic>
        <p:nvPicPr>
          <p:cNvPr id="7" name="Picture Placeholder 6"/>
          <p:cNvPicPr>
            <a:picLocks noGrp="1" noChangeAspect="1"/>
          </p:cNvPicPr>
          <p:nvPr>
            <p:ph type="pic" sz="quarter" idx="11"/>
          </p:nvPr>
        </p:nvPicPr>
        <p:blipFill>
          <a:blip r:embed="rId5"/>
          <a:stretch>
            <a:fillRect/>
          </a:stretch>
        </p:blipFill>
        <p:spPr>
          <a:xfrm>
            <a:off x="6802755" y="925830"/>
            <a:ext cx="2400300" cy="21050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4020" y="3192145"/>
            <a:ext cx="2311400" cy="21209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7990" y="929005"/>
            <a:ext cx="2520950" cy="2978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5" y="929005"/>
            <a:ext cx="3195955" cy="26898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4505" y="3192145"/>
            <a:ext cx="2425700" cy="310515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492125" y="431800"/>
            <a:ext cx="156591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2000" b="1">
                <a:latin typeface="Open Sans" panose="020B0606030504020204" charset="0"/>
                <a:cs typeface="Open Sans" panose="020B0606030504020204" charset="0"/>
                <a:sym typeface="+mn-ea"/>
              </a:rPr>
              <a:t>ViewGroup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7212965" y="431800"/>
            <a:ext cx="78676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2000" b="1">
                <a:latin typeface="Open Sans" panose="020B0606030504020204" charset="0"/>
                <a:cs typeface="Open Sans" panose="020B0606030504020204" charset="0"/>
                <a:sym typeface="+mn-ea"/>
              </a:rPr>
              <a:t>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bg1"/>
                </a:solidFill>
                <a:sym typeface="+mn-ea"/>
              </a:rPr>
              <a:t>Membuat User Interface</a:t>
            </a:r>
            <a:endParaRPr lang="en-US" altLang="zh-CN" sz="4000">
              <a:latin typeface="Segoe UI" panose="020B0502040204020203" charset="0"/>
              <a:cs typeface="Segoe UI" panose="020B0502040204020203" charset="0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3789045" y="671195"/>
            <a:ext cx="752983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>
                <a:latin typeface="Open Sans" panose="020B0606030504020204" charset="0"/>
                <a:cs typeface="Open Sans" panose="020B0606030504020204" charset="0"/>
              </a:rPr>
              <a:t>Membuat elemen UI dalam XML</a:t>
            </a:r>
            <a:r>
              <a:rPr lang="en-US" sz="2400">
                <a:latin typeface="Open Sans" panose="020B0606030504020204" charset="0"/>
                <a:cs typeface="Open Sans" panose="020B0606030504020204" charset="0"/>
              </a:rPr>
              <a:t> </a:t>
            </a:r>
          </a:p>
          <a:p>
            <a:pPr marL="367665" lvl="1" indent="12065">
              <a:buNone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Mendefinisikan View dan ViewGroup pada file XML dengan tags XML yang merepresentasikan class dan subclass View/ViewGroup, baik untuk widget dan layout.</a:t>
            </a: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tretch>
            <a:fillRect/>
          </a:stretch>
        </p:blipFill>
        <p:spPr>
          <a:xfrm>
            <a:off x="4181475" y="2556510"/>
            <a:ext cx="5996940" cy="27578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1475" y="5815965"/>
            <a:ext cx="4044950" cy="7683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 Box 5"/>
          <p:cNvSpPr txBox="1"/>
          <p:nvPr/>
        </p:nvSpPr>
        <p:spPr>
          <a:xfrm>
            <a:off x="4181475" y="2137410"/>
            <a:ext cx="86042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UI XML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4181475" y="5444490"/>
            <a:ext cx="394906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UI XML dimuat dalam callback onCreate()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bg1"/>
                </a:solidFill>
                <a:sym typeface="+mn-ea"/>
              </a:rPr>
              <a:t>Membuat User Interface</a:t>
            </a:r>
            <a:endParaRPr lang="en-US" altLang="zh-CN" sz="4000">
              <a:latin typeface="Segoe UI" panose="020B0502040204020203" charset="0"/>
              <a:cs typeface="Segoe UI" panose="020B0502040204020203" charset="0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3789045" y="671195"/>
            <a:ext cx="7529830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b="1">
                <a:latin typeface="Open Sans" panose="020B0606030504020204" charset="0"/>
                <a:cs typeface="Open Sans" panose="020B0606030504020204" charset="0"/>
                <a:sym typeface="+mn-ea"/>
              </a:rPr>
              <a:t>Membuat elemen UI pada saat runtime (dengan kode program)</a:t>
            </a:r>
            <a:r>
              <a:rPr lang="en-US" sz="2400">
                <a:latin typeface="Open Sans" panose="020B0606030504020204" charset="0"/>
                <a:cs typeface="Open Sans" panose="020B0606030504020204" charset="0"/>
                <a:sym typeface="+mn-ea"/>
              </a:rPr>
              <a:t> </a:t>
            </a:r>
          </a:p>
          <a:p>
            <a:pPr marL="454660" lvl="1" indent="3175">
              <a:buNone/>
            </a:pPr>
            <a:r>
              <a:rPr lang="en-US" sz="2000">
                <a:latin typeface="Open Sans" panose="020B0606030504020204" charset="0"/>
                <a:cs typeface="Open Sans" panose="020B0606030504020204" charset="0"/>
                <a:sym typeface="+mn-ea"/>
              </a:rPr>
              <a:t>Membuat objek View dan ViewGroup dan memanipulasi propertinya secara terprogram.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tretch>
            <a:fillRect/>
          </a:stretch>
        </p:blipFill>
        <p:spPr>
          <a:xfrm>
            <a:off x="4356735" y="2522855"/>
            <a:ext cx="5601335" cy="29019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Segoe UI" panose="020B0502040204020203" charset="0"/>
                <a:cs typeface="Segoe UI" panose="020B0502040204020203" charset="0"/>
              </a:rPr>
              <a:t>Android Studio: UI Designer</a:t>
            </a: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3626485" y="1049655"/>
            <a:ext cx="8350885" cy="47586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Segoe UI" panose="020B0502040204020203" charset="0"/>
                <a:cs typeface="Segoe UI" panose="020B0502040204020203" charset="0"/>
              </a:rPr>
              <a:t>View Group</a:t>
            </a:r>
          </a:p>
        </p:txBody>
      </p:sp>
      <p:pic>
        <p:nvPicPr>
          <p:cNvPr id="106" name="Picture 105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" name="Picture 111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 Box 8"/>
          <p:cNvSpPr txBox="1"/>
          <p:nvPr/>
        </p:nvSpPr>
        <p:spPr>
          <a:xfrm>
            <a:off x="3789045" y="671195"/>
            <a:ext cx="752983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sz="2000" b="1">
                <a:latin typeface="Open Sans" panose="020B0606030504020204" charset="0"/>
                <a:cs typeface="Open Sans" panose="020B0606030504020204" charset="0"/>
              </a:rPr>
              <a:t>ViewGroup</a:t>
            </a: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 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mengatur posisi atau tata letak suatu elemen UI baik view ataupun ViewGroup lainnya.</a:t>
            </a:r>
          </a:p>
        </p:txBody>
      </p:sp>
      <p:pic>
        <p:nvPicPr>
          <p:cNvPr id="114" name="Picture 113"/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5" name="Picture Placeholder 114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tretch>
            <a:fillRect/>
          </a:stretch>
        </p:blipFill>
        <p:spPr>
          <a:xfrm>
            <a:off x="3789045" y="1971040"/>
            <a:ext cx="7778115" cy="44088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Segoe UI" panose="020B0502040204020203" charset="0"/>
                <a:cs typeface="Segoe UI" panose="020B0502040204020203" charset="0"/>
              </a:rPr>
              <a:t>Linier Layout</a:t>
            </a:r>
          </a:p>
        </p:txBody>
      </p:sp>
      <p:pic>
        <p:nvPicPr>
          <p:cNvPr id="106" name="Picture 105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" name="Picture Placeholder 106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3596640" y="915035"/>
            <a:ext cx="2593340" cy="19126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580" y="915035"/>
            <a:ext cx="5626735" cy="50279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2" name="Picture 111"/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" name="Picture 112"/>
          <p:cNvPicPr/>
          <p:nvPr/>
        </p:nvPicPr>
        <p:blipFill>
          <a:blip r:embed="rId4"/>
          <a:srcRect b="50235"/>
          <a:stretch>
            <a:fillRect/>
          </a:stretch>
        </p:blipFill>
        <p:spPr>
          <a:xfrm>
            <a:off x="3503930" y="3789045"/>
            <a:ext cx="2592705" cy="215392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Segoe UI" panose="020B0502040204020203" charset="0"/>
                <a:cs typeface="Segoe UI" panose="020B0502040204020203" charset="0"/>
              </a:rPr>
              <a:t>Relative Layout</a:t>
            </a:r>
          </a:p>
        </p:txBody>
      </p:sp>
      <p:pic>
        <p:nvPicPr>
          <p:cNvPr id="106" name="Picture 105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8" name="Picture 107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" name="Picture Placeholder 108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tretch>
            <a:fillRect/>
          </a:stretch>
        </p:blipFill>
        <p:spPr>
          <a:xfrm>
            <a:off x="3563620" y="730885"/>
            <a:ext cx="2698115" cy="19900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370" y="730885"/>
            <a:ext cx="5422265" cy="53968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0" name="Picture 109"/>
          <p:cNvPicPr/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1" name="Picture 110"/>
          <p:cNvPicPr/>
          <p:nvPr/>
        </p:nvPicPr>
        <p:blipFill>
          <a:blip r:embed="rId5"/>
          <a:srcRect b="55397"/>
          <a:stretch>
            <a:fillRect/>
          </a:stretch>
        </p:blipFill>
        <p:spPr>
          <a:xfrm>
            <a:off x="3563620" y="4137025"/>
            <a:ext cx="2701290" cy="2009775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Segoe UI" panose="020B0502040204020203" charset="0"/>
                <a:cs typeface="Segoe UI" panose="020B0502040204020203" charset="0"/>
              </a:rPr>
              <a:t>View</a:t>
            </a:r>
          </a:p>
        </p:txBody>
      </p:sp>
      <p:pic>
        <p:nvPicPr>
          <p:cNvPr id="106" name="Picture 105"/>
          <p:cNvPicPr/>
          <p:nvPr/>
        </p:nvPicPr>
        <p:blipFill>
          <a:blip r:embed="rId2"/>
          <a:stretch>
            <a:fillRect/>
          </a:stretch>
        </p:blipFill>
        <p:spPr>
          <a:xfrm>
            <a:off x="6713220" y="3321685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" name="Picture 111"/>
          <p:cNvPicPr/>
          <p:nvPr/>
        </p:nvPicPr>
        <p:blipFill>
          <a:blip r:embed="rId3"/>
          <a:stretch>
            <a:fillRect/>
          </a:stretch>
        </p:blipFill>
        <p:spPr>
          <a:xfrm>
            <a:off x="6713220" y="3321685"/>
            <a:ext cx="0" cy="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 Box 8"/>
          <p:cNvSpPr txBox="1"/>
          <p:nvPr/>
        </p:nvSpPr>
        <p:spPr>
          <a:xfrm>
            <a:off x="3789045" y="671195"/>
            <a:ext cx="752983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sz="2000" b="1">
                <a:latin typeface="Open Sans" panose="020B0606030504020204" charset="0"/>
                <a:cs typeface="Open Sans" panose="020B0606030504020204" charset="0"/>
              </a:rPr>
              <a:t>View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000">
                <a:latin typeface="Open Sans" panose="020B0606030504020204" charset="0"/>
                <a:cs typeface="Open Sans" panose="020B0606030504020204" charset="0"/>
              </a:rPr>
              <a:t>objek yang ditampilkan pada layar yang pengguna berinteraksi dengannya.</a:t>
            </a:r>
          </a:p>
        </p:txBody>
      </p:sp>
      <p:sp>
        <p:nvSpPr>
          <p:cNvPr id="2" name="Rectangles 1"/>
          <p:cNvSpPr/>
          <p:nvPr/>
        </p:nvSpPr>
        <p:spPr>
          <a:xfrm>
            <a:off x="3954145" y="3640455"/>
            <a:ext cx="1569720" cy="81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View</a:t>
            </a:r>
          </a:p>
        </p:txBody>
      </p:sp>
      <p:sp>
        <p:nvSpPr>
          <p:cNvPr id="3" name="Rectangles 2"/>
          <p:cNvSpPr/>
          <p:nvPr/>
        </p:nvSpPr>
        <p:spPr>
          <a:xfrm>
            <a:off x="6068060" y="2259330"/>
            <a:ext cx="1569720" cy="81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Input Control</a:t>
            </a:r>
          </a:p>
        </p:txBody>
      </p:sp>
      <p:sp>
        <p:nvSpPr>
          <p:cNvPr id="4" name="Rectangles 3"/>
          <p:cNvSpPr/>
          <p:nvPr/>
        </p:nvSpPr>
        <p:spPr>
          <a:xfrm>
            <a:off x="6093460" y="3651250"/>
            <a:ext cx="1569720" cy="81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Widget</a:t>
            </a:r>
          </a:p>
        </p:txBody>
      </p:sp>
      <p:sp>
        <p:nvSpPr>
          <p:cNvPr id="5" name="Rectangles 4"/>
          <p:cNvSpPr/>
          <p:nvPr/>
        </p:nvSpPr>
        <p:spPr>
          <a:xfrm>
            <a:off x="6068060" y="5043170"/>
            <a:ext cx="1569720" cy="81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Container</a:t>
            </a:r>
          </a:p>
        </p:txBody>
      </p:sp>
      <p:cxnSp>
        <p:nvCxnSpPr>
          <p:cNvPr id="6" name="Straight Arrow Connector 5"/>
          <p:cNvCxnSpPr>
            <a:stCxn id="2" idx="3"/>
            <a:endCxn id="3" idx="1"/>
          </p:cNvCxnSpPr>
          <p:nvPr/>
        </p:nvCxnSpPr>
        <p:spPr>
          <a:xfrm flipV="1">
            <a:off x="5523865" y="2668905"/>
            <a:ext cx="544195" cy="13811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2" idx="3"/>
            <a:endCxn id="5" idx="1"/>
          </p:cNvCxnSpPr>
          <p:nvPr/>
        </p:nvCxnSpPr>
        <p:spPr>
          <a:xfrm>
            <a:off x="5523865" y="4050030"/>
            <a:ext cx="544195" cy="1402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4" idx="1"/>
          </p:cNvCxnSpPr>
          <p:nvPr/>
        </p:nvCxnSpPr>
        <p:spPr>
          <a:xfrm>
            <a:off x="5523865" y="4039235"/>
            <a:ext cx="569595" cy="215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s 9"/>
          <p:cNvSpPr/>
          <p:nvPr/>
        </p:nvSpPr>
        <p:spPr>
          <a:xfrm>
            <a:off x="8342630" y="2259330"/>
            <a:ext cx="3222625" cy="815340"/>
          </a:xfrm>
          <a:prstGeom prst="rect">
            <a:avLst/>
          </a:prstGeom>
          <a:noFill/>
          <a:ln>
            <a:solidFill>
              <a:srgbClr val="3DDC84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Button, TextView, Radio Button, Toggle, Switch, dll </a:t>
            </a:r>
          </a:p>
        </p:txBody>
      </p:sp>
      <p:sp>
        <p:nvSpPr>
          <p:cNvPr id="11" name="Rectangles 10"/>
          <p:cNvSpPr/>
          <p:nvPr/>
        </p:nvSpPr>
        <p:spPr>
          <a:xfrm>
            <a:off x="8348345" y="5042535"/>
            <a:ext cx="3263900" cy="818515"/>
          </a:xfrm>
          <a:prstGeom prst="rect">
            <a:avLst/>
          </a:prstGeom>
          <a:noFill/>
          <a:ln>
            <a:solidFill>
              <a:srgbClr val="3DDC84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RecyclerView, ScrollView, CardView, TabLayout, dll</a:t>
            </a:r>
          </a:p>
        </p:txBody>
      </p:sp>
      <p:cxnSp>
        <p:nvCxnSpPr>
          <p:cNvPr id="12" name="Straight Arrow Connector 11"/>
          <p:cNvCxnSpPr>
            <a:stCxn id="5" idx="3"/>
            <a:endCxn id="11" idx="1"/>
          </p:cNvCxnSpPr>
          <p:nvPr/>
        </p:nvCxnSpPr>
        <p:spPr>
          <a:xfrm flipV="1">
            <a:off x="7637780" y="5452110"/>
            <a:ext cx="710565" cy="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s 12"/>
          <p:cNvSpPr/>
          <p:nvPr/>
        </p:nvSpPr>
        <p:spPr>
          <a:xfrm>
            <a:off x="8354695" y="3650615"/>
            <a:ext cx="3263900" cy="818515"/>
          </a:xfrm>
          <a:prstGeom prst="rect">
            <a:avLst/>
          </a:prstGeom>
          <a:noFill/>
          <a:ln>
            <a:solidFill>
              <a:srgbClr val="3DDC84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ImageView, ProgressBar, CalendarView, SearchView, dll</a:t>
            </a:r>
          </a:p>
        </p:txBody>
      </p:sp>
      <p:cxnSp>
        <p:nvCxnSpPr>
          <p:cNvPr id="15" name="Straight Arrow Connector 14"/>
          <p:cNvCxnSpPr>
            <a:stCxn id="4" idx="3"/>
            <a:endCxn id="13" idx="1"/>
          </p:cNvCxnSpPr>
          <p:nvPr/>
        </p:nvCxnSpPr>
        <p:spPr>
          <a:xfrm flipV="1">
            <a:off x="7663180" y="4060190"/>
            <a:ext cx="691515" cy="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3" idx="3"/>
            <a:endCxn id="10" idx="1"/>
          </p:cNvCxnSpPr>
          <p:nvPr/>
        </p:nvCxnSpPr>
        <p:spPr>
          <a:xfrm flipV="1">
            <a:off x="7637780" y="2667000"/>
            <a:ext cx="704850" cy="19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3308350" cy="6858000"/>
          </a:xfrm>
          <a:prstGeom prst="rect">
            <a:avLst/>
          </a:prstGeom>
          <a:solidFill>
            <a:srgbClr val="3DDC8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Segoe UI" panose="020B0502040204020203" charset="0"/>
                <a:cs typeface="Segoe UI" panose="020B0502040204020203" charset="0"/>
              </a:rPr>
              <a:t>Membuat View</a:t>
            </a:r>
          </a:p>
        </p:txBody>
      </p:sp>
      <p:pic>
        <p:nvPicPr>
          <p:cNvPr id="17" name="Picture Placeholder 16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3674745" y="826135"/>
            <a:ext cx="5041265" cy="342582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745" y="4345940"/>
            <a:ext cx="7198360" cy="582295"/>
          </a:xfrm>
          <a:prstGeom prst="rect">
            <a:avLst/>
          </a:prstGeom>
        </p:spPr>
      </p:pic>
      <p:sp>
        <p:nvSpPr>
          <p:cNvPr id="19" name="Text Box 18"/>
          <p:cNvSpPr txBox="1"/>
          <p:nvPr/>
        </p:nvSpPr>
        <p:spPr>
          <a:xfrm>
            <a:off x="3674745" y="333375"/>
            <a:ext cx="75298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sz="2000" b="1">
                <a:latin typeface="Open Sans" panose="020B0606030504020204" charset="0"/>
                <a:cs typeface="Open Sans" panose="020B0606030504020204" charset="0"/>
              </a:rPr>
              <a:t>Inisiasi Objek View dari XML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928110" y="2550160"/>
            <a:ext cx="4630420" cy="1381760"/>
          </a:xfrm>
          <a:prstGeom prst="rect">
            <a:avLst/>
          </a:prstGeom>
          <a:noFill/>
          <a:ln>
            <a:solidFill>
              <a:schemeClr val="accent1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Elbow Connector 22"/>
          <p:cNvCxnSpPr>
            <a:stCxn id="22" idx="3"/>
            <a:endCxn id="18" idx="3"/>
          </p:cNvCxnSpPr>
          <p:nvPr/>
        </p:nvCxnSpPr>
        <p:spPr>
          <a:xfrm>
            <a:off x="8558530" y="3241040"/>
            <a:ext cx="2314575" cy="1396365"/>
          </a:xfrm>
          <a:prstGeom prst="bentConnector3">
            <a:avLst>
              <a:gd name="adj1" fmla="val 11028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Box 26"/>
          <p:cNvSpPr txBox="1"/>
          <p:nvPr/>
        </p:nvSpPr>
        <p:spPr>
          <a:xfrm>
            <a:off x="3674745" y="5042535"/>
            <a:ext cx="75298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sz="2000" b="1">
                <a:latin typeface="Open Sans" panose="020B0606030504020204" charset="0"/>
                <a:cs typeface="Open Sans" panose="020B0606030504020204" charset="0"/>
              </a:rPr>
              <a:t>Inisiasi Objek View dengan constructor</a:t>
            </a:r>
            <a:endParaRPr lang="en-US" sz="2000">
              <a:latin typeface="Open Sans" panose="020B0606030504020204" charset="0"/>
              <a:cs typeface="Open Sans" panose="020B0606030504020204" charset="0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745" y="5556250"/>
            <a:ext cx="6007735" cy="8039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2275840"/>
            <a:ext cx="12191365" cy="19380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en-US" sz="2400">
                <a:solidFill>
                  <a:srgbClr val="3DDC84"/>
                </a:solidFill>
                <a:latin typeface="Open Sans" panose="020B0606030504020204" charset="0"/>
                <a:cs typeface="Open Sans" panose="020B0606030504020204" charset="0"/>
              </a:rPr>
              <a:t>Pelajari lebih lanjut...</a:t>
            </a:r>
          </a:p>
          <a:p>
            <a:pPr algn="ctr"/>
            <a:endParaRPr lang="en-US" sz="2400">
              <a:solidFill>
                <a:srgbClr val="3DDC84"/>
              </a:solidFill>
              <a:latin typeface="Open Sans Semibold" panose="020B0706030804020204" charset="0"/>
              <a:cs typeface="Open Sans Semibold" panose="020B0706030804020204" charset="0"/>
            </a:endParaRPr>
          </a:p>
          <a:p>
            <a:pPr algn="ctr"/>
            <a:endParaRPr lang="en-US" sz="2400">
              <a:solidFill>
                <a:srgbClr val="3DDC84"/>
              </a:solidFill>
              <a:latin typeface="Open Sans Semibold" panose="020B0706030804020204" charset="0"/>
              <a:cs typeface="Open Sans Semibold" panose="020B0706030804020204" charset="0"/>
            </a:endParaRPr>
          </a:p>
          <a:p>
            <a:pPr algn="ctr"/>
            <a:endParaRPr lang="en-US" sz="2400">
              <a:solidFill>
                <a:srgbClr val="3DDC84"/>
              </a:solidFill>
              <a:latin typeface="Open Sans Semibold" panose="020B0706030804020204" charset="0"/>
              <a:cs typeface="Open Sans Semibold" panose="020B0706030804020204" charset="0"/>
            </a:endParaRPr>
          </a:p>
          <a:p>
            <a:pPr algn="ctr"/>
            <a:r>
              <a:rPr lang="en-US" sz="2400">
                <a:solidFill>
                  <a:srgbClr val="3DDC84"/>
                </a:solidFill>
                <a:latin typeface="Open Sans Semibold" panose="020B0706030804020204" charset="0"/>
                <a:cs typeface="Open Sans Semibold" panose="020B0706030804020204" charset="0"/>
              </a:rPr>
              <a:t>https://developer.android.com/guide</a:t>
            </a:r>
          </a:p>
        </p:txBody>
      </p:sp>
      <p:pic>
        <p:nvPicPr>
          <p:cNvPr id="5" name="Picture Placeholder 4" descr="chevron-down"/>
          <p:cNvPicPr>
            <a:picLocks noGrp="1" noChangeAspect="1"/>
          </p:cNvPicPr>
          <p:nvPr>
            <p:ph type="pic" idx="10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6390" y="2739390"/>
            <a:ext cx="1010920" cy="1010920"/>
          </a:xfrm>
          <a:prstGeom prst="rect">
            <a:avLst/>
          </a:prstGeom>
        </p:spPr>
      </p:pic>
      <p:pic>
        <p:nvPicPr>
          <p:cNvPr id="6" name="Picture Placeholder 4" descr="chevron-dow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6390" y="2923540"/>
            <a:ext cx="1010920" cy="1010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DC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2351881" y="3013650"/>
            <a:ext cx="7310438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  <a:latin typeface="Segoe UI" panose="020B0502040204020203" charset="0"/>
                <a:cs typeface="Segoe UI" panose="020B0502040204020203" charset="0"/>
              </a:rPr>
              <a:t>Ada pertanyaan?</a:t>
            </a:r>
            <a:endParaRPr lang="en-US" altLang="zh-CN" sz="4800" b="1" dirty="0">
              <a:solidFill>
                <a:schemeClr val="bg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048000" y="5901129"/>
            <a:ext cx="6096000" cy="61404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Pemrograman Platform Khusus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Politeknik Statistika STIS,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4ot2hzvm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3FAD86"/>
      </a:accent1>
      <a:accent2>
        <a:srgbClr val="90D8C0"/>
      </a:accent2>
      <a:accent3>
        <a:srgbClr val="646464"/>
      </a:accent3>
      <a:accent4>
        <a:srgbClr val="828282"/>
      </a:accent4>
      <a:accent5>
        <a:srgbClr val="A5A5A5"/>
      </a:accent5>
      <a:accent6>
        <a:srgbClr val="C9C9C9"/>
      </a:accent6>
      <a:hlink>
        <a:srgbClr val="3FAD86"/>
      </a:hlink>
      <a:folHlink>
        <a:srgbClr val="BFBFBF"/>
      </a:folHlink>
    </a:clrScheme>
    <a:fontScheme name="国外模板制作字体">
      <a:majorFont>
        <a:latin typeface="Century Gothic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4ot2hzvm">
    <a:dk1>
      <a:srgbClr val="000000"/>
    </a:dk1>
    <a:lt1>
      <a:srgbClr val="FFFFFF"/>
    </a:lt1>
    <a:dk2>
      <a:srgbClr val="778495"/>
    </a:dk2>
    <a:lt2>
      <a:srgbClr val="F0F0F0"/>
    </a:lt2>
    <a:accent1>
      <a:srgbClr val="3FAD86"/>
    </a:accent1>
    <a:accent2>
      <a:srgbClr val="90D8C0"/>
    </a:accent2>
    <a:accent3>
      <a:srgbClr val="646464"/>
    </a:accent3>
    <a:accent4>
      <a:srgbClr val="828282"/>
    </a:accent4>
    <a:accent5>
      <a:srgbClr val="A5A5A5"/>
    </a:accent5>
    <a:accent6>
      <a:srgbClr val="C9C9C9"/>
    </a:accent6>
    <a:hlink>
      <a:srgbClr val="3FAD86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4ot2hzvm">
    <a:dk1>
      <a:srgbClr val="000000"/>
    </a:dk1>
    <a:lt1>
      <a:srgbClr val="FFFFFF"/>
    </a:lt1>
    <a:dk2>
      <a:srgbClr val="778495"/>
    </a:dk2>
    <a:lt2>
      <a:srgbClr val="F0F0F0"/>
    </a:lt2>
    <a:accent1>
      <a:srgbClr val="3FAD86"/>
    </a:accent1>
    <a:accent2>
      <a:srgbClr val="90D8C0"/>
    </a:accent2>
    <a:accent3>
      <a:srgbClr val="646464"/>
    </a:accent3>
    <a:accent4>
      <a:srgbClr val="828282"/>
    </a:accent4>
    <a:accent5>
      <a:srgbClr val="A5A5A5"/>
    </a:accent5>
    <a:accent6>
      <a:srgbClr val="C9C9C9"/>
    </a:accent6>
    <a:hlink>
      <a:srgbClr val="3FAD86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1209</Words>
  <Application>Microsoft Office PowerPoint</Application>
  <PresentationFormat>Widescreen</PresentationFormat>
  <Paragraphs>171</Paragraphs>
  <Slides>26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等线</vt:lpstr>
      <vt:lpstr>微软雅黑</vt:lpstr>
      <vt:lpstr>Arial</vt:lpstr>
      <vt:lpstr>Century Gothic</vt:lpstr>
      <vt:lpstr>Consolas</vt:lpstr>
      <vt:lpstr>Open Sans</vt:lpstr>
      <vt:lpstr>Open Sans Semibold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Ibnusan</cp:lastModifiedBy>
  <cp:revision>461</cp:revision>
  <dcterms:created xsi:type="dcterms:W3CDTF">2022-08-19T06:51:00Z</dcterms:created>
  <dcterms:modified xsi:type="dcterms:W3CDTF">2023-10-31T02:02:39Z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5164913DB18E43CFB4E68051D5931464</vt:lpwstr>
  </property>
  <property fmtid="{D5CDD505-2E9C-101B-9397-08002B2CF9AE}" pid="3" name="KSOProductBuildVer">
    <vt:lpwstr>1033-11.2.0.11380</vt:lpwstr>
  </property>
</Properties>
</file>