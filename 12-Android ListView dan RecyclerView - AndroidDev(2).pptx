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337" r:id="rId5"/>
    <p:sldId id="609" r:id="rId6"/>
    <p:sldId id="644" r:id="rId7"/>
    <p:sldId id="645" r:id="rId8"/>
    <p:sldId id="646" r:id="rId9"/>
    <p:sldId id="647" r:id="rId10"/>
    <p:sldId id="648" r:id="rId11"/>
    <p:sldId id="649" r:id="rId12"/>
    <p:sldId id="651" r:id="rId13"/>
    <p:sldId id="655" r:id="rId14"/>
    <p:sldId id="657" r:id="rId15"/>
    <p:sldId id="652" r:id="rId16"/>
    <p:sldId id="656" r:id="rId17"/>
    <p:sldId id="658" r:id="rId18"/>
    <p:sldId id="358" r:id="rId19"/>
    <p:sldId id="57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6A86614B-2600-429A-AA34-18849E7BEDC2}">
          <p14:sldIdLst>
            <p14:sldId id="256"/>
            <p14:sldId id="337"/>
            <p14:sldId id="609"/>
            <p14:sldId id="358"/>
            <p14:sldId id="571"/>
            <p14:sldId id="644"/>
            <p14:sldId id="645"/>
            <p14:sldId id="646"/>
            <p14:sldId id="647"/>
            <p14:sldId id="648"/>
            <p14:sldId id="649"/>
            <p14:sldId id="652"/>
            <p14:sldId id="656"/>
            <p14:sldId id="658"/>
            <p14:sldId id="655"/>
            <p14:sldId id="651"/>
            <p14:sldId id="657"/>
          </p14:sldIdLst>
        </p14:section>
        <p14:section name="Template" id="{bf6a4f90-709a-41d3-a26f-e1fd9e5ee135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AD86"/>
    <a:srgbClr val="3DDC84"/>
    <a:srgbClr val="F04E37"/>
    <a:srgbClr val="A2A2A2"/>
    <a:srgbClr val="99D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93" autoAdjust="0"/>
    <p:restoredTop sz="94660"/>
  </p:normalViewPr>
  <p:slideViewPr>
    <p:cSldViewPr snapToGrid="0">
      <p:cViewPr>
        <p:scale>
          <a:sx n="84" d="100"/>
          <a:sy n="84" d="100"/>
        </p:scale>
        <p:origin x="2904" y="17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359E4-CC7C-4E34-9F0B-04017D3A60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7AE9A-01D7-45F1-A266-4CF0781F88D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7AE9A-01D7-45F1-A266-4CF0781F8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7AE9A-01D7-45F1-A266-4CF0781F8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7AE9A-01D7-45F1-A266-4CF0781F8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7AE9A-01D7-45F1-A266-4CF0781F8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1" y="0"/>
            <a:ext cx="4950731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6162839" y="1583676"/>
            <a:ext cx="2851698" cy="2759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177463" y="1583676"/>
            <a:ext cx="2851698" cy="2759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192087" y="1583676"/>
            <a:ext cx="2851698" cy="2759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3"/>
          </p:nvPr>
        </p:nvSpPr>
        <p:spPr>
          <a:xfrm>
            <a:off x="9148215" y="1583676"/>
            <a:ext cx="2851698" cy="2759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6096000" y="1268413"/>
            <a:ext cx="2232752" cy="236715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6096000" y="3820245"/>
            <a:ext cx="2232752" cy="236715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911225" y="635000"/>
            <a:ext cx="10369550" cy="34988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57951" y="3970338"/>
            <a:ext cx="1713105" cy="1619250"/>
          </a:xfrm>
          <a:custGeom>
            <a:avLst/>
            <a:gdLst>
              <a:gd name="connsiteX0" fmla="*/ 0 w 1713105"/>
              <a:gd name="connsiteY0" fmla="*/ 0 h 1619250"/>
              <a:gd name="connsiteX1" fmla="*/ 1713105 w 1713105"/>
              <a:gd name="connsiteY1" fmla="*/ 0 h 1619250"/>
              <a:gd name="connsiteX2" fmla="*/ 1713105 w 1713105"/>
              <a:gd name="connsiteY2" fmla="*/ 1619250 h 1619250"/>
              <a:gd name="connsiteX3" fmla="*/ 0 w 1713105"/>
              <a:gd name="connsiteY3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05" h="1619250">
                <a:moveTo>
                  <a:pt x="0" y="0"/>
                </a:moveTo>
                <a:lnTo>
                  <a:pt x="1713105" y="0"/>
                </a:lnTo>
                <a:lnTo>
                  <a:pt x="1713105" y="1619250"/>
                </a:lnTo>
                <a:lnTo>
                  <a:pt x="0" y="161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325235" y="3970338"/>
            <a:ext cx="1713105" cy="1619250"/>
          </a:xfrm>
          <a:custGeom>
            <a:avLst/>
            <a:gdLst>
              <a:gd name="connsiteX0" fmla="*/ 0 w 1713105"/>
              <a:gd name="connsiteY0" fmla="*/ 0 h 1619250"/>
              <a:gd name="connsiteX1" fmla="*/ 1713105 w 1713105"/>
              <a:gd name="connsiteY1" fmla="*/ 0 h 1619250"/>
              <a:gd name="connsiteX2" fmla="*/ 1713105 w 1713105"/>
              <a:gd name="connsiteY2" fmla="*/ 1619250 h 1619250"/>
              <a:gd name="connsiteX3" fmla="*/ 0 w 1713105"/>
              <a:gd name="connsiteY3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05" h="1619250">
                <a:moveTo>
                  <a:pt x="0" y="0"/>
                </a:moveTo>
                <a:lnTo>
                  <a:pt x="1713105" y="0"/>
                </a:lnTo>
                <a:lnTo>
                  <a:pt x="1713105" y="1619250"/>
                </a:lnTo>
                <a:lnTo>
                  <a:pt x="0" y="161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10201084" y="3970338"/>
            <a:ext cx="1713105" cy="1619250"/>
          </a:xfrm>
          <a:custGeom>
            <a:avLst/>
            <a:gdLst>
              <a:gd name="connsiteX0" fmla="*/ 0 w 1713105"/>
              <a:gd name="connsiteY0" fmla="*/ 0 h 1619250"/>
              <a:gd name="connsiteX1" fmla="*/ 1713105 w 1713105"/>
              <a:gd name="connsiteY1" fmla="*/ 0 h 1619250"/>
              <a:gd name="connsiteX2" fmla="*/ 1713105 w 1713105"/>
              <a:gd name="connsiteY2" fmla="*/ 1619250 h 1619250"/>
              <a:gd name="connsiteX3" fmla="*/ 0 w 1713105"/>
              <a:gd name="connsiteY3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05" h="1619250">
                <a:moveTo>
                  <a:pt x="0" y="0"/>
                </a:moveTo>
                <a:lnTo>
                  <a:pt x="1713105" y="0"/>
                </a:lnTo>
                <a:lnTo>
                  <a:pt x="1713105" y="1619250"/>
                </a:lnTo>
                <a:lnTo>
                  <a:pt x="0" y="161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1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>
            <a:spLocks noGrp="1"/>
          </p:cNvSpPr>
          <p:nvPr>
            <p:ph type="pic" sz="quarter" idx="10"/>
          </p:nvPr>
        </p:nvSpPr>
        <p:spPr>
          <a:xfrm>
            <a:off x="11049000" y="1"/>
            <a:ext cx="1143000" cy="5210175"/>
          </a:xfrm>
          <a:custGeom>
            <a:avLst/>
            <a:gdLst>
              <a:gd name="connsiteX0" fmla="*/ 0 w 1143000"/>
              <a:gd name="connsiteY0" fmla="*/ 0 h 5210175"/>
              <a:gd name="connsiteX1" fmla="*/ 1143000 w 1143000"/>
              <a:gd name="connsiteY1" fmla="*/ 0 h 5210175"/>
              <a:gd name="connsiteX2" fmla="*/ 1143000 w 1143000"/>
              <a:gd name="connsiteY2" fmla="*/ 5210175 h 5210175"/>
              <a:gd name="connsiteX3" fmla="*/ 206382 w 1143000"/>
              <a:gd name="connsiteY3" fmla="*/ 5210175 h 5210175"/>
              <a:gd name="connsiteX4" fmla="*/ 0 w 1143000"/>
              <a:gd name="connsiteY4" fmla="*/ 5003793 h 521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3000" h="5210175">
                <a:moveTo>
                  <a:pt x="0" y="0"/>
                </a:moveTo>
                <a:lnTo>
                  <a:pt x="1143000" y="0"/>
                </a:lnTo>
                <a:lnTo>
                  <a:pt x="1143000" y="5210175"/>
                </a:lnTo>
                <a:lnTo>
                  <a:pt x="206382" y="5210175"/>
                </a:lnTo>
                <a:cubicBezTo>
                  <a:pt x="92400" y="5210175"/>
                  <a:pt x="0" y="5117775"/>
                  <a:pt x="0" y="500379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任意多边形: 形状 6"/>
          <p:cNvSpPr>
            <a:spLocks noGrp="1"/>
          </p:cNvSpPr>
          <p:nvPr>
            <p:ph type="pic" sz="quarter" idx="11"/>
          </p:nvPr>
        </p:nvSpPr>
        <p:spPr>
          <a:xfrm>
            <a:off x="7849772" y="2278966"/>
            <a:ext cx="2757268" cy="4579034"/>
          </a:xfrm>
          <a:custGeom>
            <a:avLst/>
            <a:gdLst>
              <a:gd name="connsiteX0" fmla="*/ 206326 w 2757268"/>
              <a:gd name="connsiteY0" fmla="*/ 0 h 4579034"/>
              <a:gd name="connsiteX1" fmla="*/ 2550942 w 2757268"/>
              <a:gd name="connsiteY1" fmla="*/ 0 h 4579034"/>
              <a:gd name="connsiteX2" fmla="*/ 2757268 w 2757268"/>
              <a:gd name="connsiteY2" fmla="*/ 206326 h 4579034"/>
              <a:gd name="connsiteX3" fmla="*/ 2757268 w 2757268"/>
              <a:gd name="connsiteY3" fmla="*/ 4579034 h 4579034"/>
              <a:gd name="connsiteX4" fmla="*/ 0 w 2757268"/>
              <a:gd name="connsiteY4" fmla="*/ 4579034 h 4579034"/>
              <a:gd name="connsiteX5" fmla="*/ 0 w 2757268"/>
              <a:gd name="connsiteY5" fmla="*/ 206326 h 4579034"/>
              <a:gd name="connsiteX6" fmla="*/ 206326 w 2757268"/>
              <a:gd name="connsiteY6" fmla="*/ 0 h 45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57268" h="4579034">
                <a:moveTo>
                  <a:pt x="206326" y="0"/>
                </a:moveTo>
                <a:lnTo>
                  <a:pt x="2550942" y="0"/>
                </a:lnTo>
                <a:cubicBezTo>
                  <a:pt x="2664893" y="0"/>
                  <a:pt x="2757268" y="92375"/>
                  <a:pt x="2757268" y="206326"/>
                </a:cubicBezTo>
                <a:lnTo>
                  <a:pt x="2757268" y="4579034"/>
                </a:lnTo>
                <a:lnTo>
                  <a:pt x="0" y="4579034"/>
                </a:lnTo>
                <a:lnTo>
                  <a:pt x="0" y="206326"/>
                </a:lnTo>
                <a:cubicBezTo>
                  <a:pt x="0" y="92375"/>
                  <a:pt x="92375" y="0"/>
                  <a:pt x="2063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0" y="0"/>
            <a:ext cx="3744686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4229100" y="0"/>
            <a:ext cx="3733800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7730133" y="1450053"/>
            <a:ext cx="2849950" cy="31509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4694192" y="1450053"/>
            <a:ext cx="2849950" cy="31509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1658250" y="1450053"/>
            <a:ext cx="2849950" cy="31509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idx="10"/>
          </p:nvPr>
        </p:nvSpPr>
        <p:spPr>
          <a:xfrm>
            <a:off x="6096000" y="0"/>
            <a:ext cx="2598057" cy="34290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694058" y="-1"/>
            <a:ext cx="2598057" cy="34290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096000" y="3429001"/>
            <a:ext cx="2598057" cy="34290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8694058" y="3429001"/>
            <a:ext cx="2598057" cy="34290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idx="10"/>
          </p:nvPr>
        </p:nvSpPr>
        <p:spPr>
          <a:xfrm>
            <a:off x="911226" y="635001"/>
            <a:ext cx="5184775" cy="2794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096000" y="3442580"/>
            <a:ext cx="5184775" cy="2794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>
            <a:spLocks noGrp="1"/>
          </p:cNvSpPr>
          <p:nvPr>
            <p:ph type="pic" sz="quarter" idx="10"/>
          </p:nvPr>
        </p:nvSpPr>
        <p:spPr>
          <a:xfrm>
            <a:off x="911226" y="0"/>
            <a:ext cx="4046365" cy="5067759"/>
          </a:xfrm>
          <a:custGeom>
            <a:avLst/>
            <a:gdLst>
              <a:gd name="connsiteX0" fmla="*/ 0 w 4046365"/>
              <a:gd name="connsiteY0" fmla="*/ 0 h 5067759"/>
              <a:gd name="connsiteX1" fmla="*/ 4046365 w 4046365"/>
              <a:gd name="connsiteY1" fmla="*/ 0 h 5067759"/>
              <a:gd name="connsiteX2" fmla="*/ 4046365 w 4046365"/>
              <a:gd name="connsiteY2" fmla="*/ 5067759 h 5067759"/>
              <a:gd name="connsiteX3" fmla="*/ 0 w 4046365"/>
              <a:gd name="connsiteY3" fmla="*/ 5067759 h 5067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365" h="5067759">
                <a:moveTo>
                  <a:pt x="0" y="0"/>
                </a:moveTo>
                <a:lnTo>
                  <a:pt x="4046365" y="0"/>
                </a:lnTo>
                <a:lnTo>
                  <a:pt x="4046365" y="5067759"/>
                </a:lnTo>
                <a:lnTo>
                  <a:pt x="0" y="506775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>
            <a:spLocks noGrp="1"/>
          </p:cNvSpPr>
          <p:nvPr>
            <p:ph type="pic" sz="quarter" idx="10"/>
          </p:nvPr>
        </p:nvSpPr>
        <p:spPr>
          <a:xfrm>
            <a:off x="3949560" y="635001"/>
            <a:ext cx="4292880" cy="4181475"/>
          </a:xfrm>
          <a:custGeom>
            <a:avLst/>
            <a:gdLst>
              <a:gd name="connsiteX0" fmla="*/ 0 w 4292880"/>
              <a:gd name="connsiteY0" fmla="*/ 0 h 4181475"/>
              <a:gd name="connsiteX1" fmla="*/ 4292880 w 4292880"/>
              <a:gd name="connsiteY1" fmla="*/ 0 h 4181475"/>
              <a:gd name="connsiteX2" fmla="*/ 4292880 w 4292880"/>
              <a:gd name="connsiteY2" fmla="*/ 4181475 h 4181475"/>
              <a:gd name="connsiteX3" fmla="*/ 0 w 4292880"/>
              <a:gd name="connsiteY3" fmla="*/ 4181475 h 418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2880" h="4181475">
                <a:moveTo>
                  <a:pt x="0" y="0"/>
                </a:moveTo>
                <a:lnTo>
                  <a:pt x="4292880" y="0"/>
                </a:lnTo>
                <a:lnTo>
                  <a:pt x="4292880" y="4181475"/>
                </a:lnTo>
                <a:lnTo>
                  <a:pt x="0" y="4181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>
            <a:spLocks noGrp="1"/>
          </p:cNvSpPr>
          <p:nvPr>
            <p:ph type="pic" sz="quarter" idx="10"/>
          </p:nvPr>
        </p:nvSpPr>
        <p:spPr>
          <a:xfrm>
            <a:off x="911225" y="3073706"/>
            <a:ext cx="5184775" cy="3127069"/>
          </a:xfrm>
          <a:custGeom>
            <a:avLst/>
            <a:gdLst>
              <a:gd name="connsiteX0" fmla="*/ 0 w 5184775"/>
              <a:gd name="connsiteY0" fmla="*/ 0 h 3127069"/>
              <a:gd name="connsiteX1" fmla="*/ 5184775 w 5184775"/>
              <a:gd name="connsiteY1" fmla="*/ 0 h 3127069"/>
              <a:gd name="connsiteX2" fmla="*/ 5184775 w 5184775"/>
              <a:gd name="connsiteY2" fmla="*/ 3127069 h 3127069"/>
              <a:gd name="connsiteX3" fmla="*/ 0 w 5184775"/>
              <a:gd name="connsiteY3" fmla="*/ 3127069 h 3127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4775" h="3127069">
                <a:moveTo>
                  <a:pt x="0" y="0"/>
                </a:moveTo>
                <a:lnTo>
                  <a:pt x="5184775" y="0"/>
                </a:lnTo>
                <a:lnTo>
                  <a:pt x="5184775" y="3127069"/>
                </a:lnTo>
                <a:lnTo>
                  <a:pt x="0" y="312706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407276" y="680545"/>
            <a:ext cx="3174124" cy="37048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794235" y="2685611"/>
            <a:ext cx="3174124" cy="370489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4153679" y="2924081"/>
            <a:ext cx="1849696" cy="136434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1"/>
          </p:nvPr>
        </p:nvSpPr>
        <p:spPr>
          <a:xfrm>
            <a:off x="2227035" y="4836432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2"/>
          </p:nvPr>
        </p:nvSpPr>
        <p:spPr>
          <a:xfrm>
            <a:off x="6188625" y="4836432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8115270" y="2924081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4"/>
          </p:nvPr>
        </p:nvSpPr>
        <p:spPr>
          <a:xfrm>
            <a:off x="10150216" y="4836432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5"/>
          </p:nvPr>
        </p:nvSpPr>
        <p:spPr>
          <a:xfrm>
            <a:off x="192088" y="2924081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>
            <a:spLocks noGrp="1"/>
          </p:cNvSpPr>
          <p:nvPr>
            <p:ph type="pic" idx="10"/>
          </p:nvPr>
        </p:nvSpPr>
        <p:spPr>
          <a:xfrm>
            <a:off x="6096000" y="1268414"/>
            <a:ext cx="5459730" cy="1874838"/>
          </a:xfrm>
          <a:custGeom>
            <a:avLst/>
            <a:gdLst>
              <a:gd name="connsiteX0" fmla="*/ 0 w 5459730"/>
              <a:gd name="connsiteY0" fmla="*/ 0 h 1874837"/>
              <a:gd name="connsiteX1" fmla="*/ 5459730 w 5459730"/>
              <a:gd name="connsiteY1" fmla="*/ 0 h 1874837"/>
              <a:gd name="connsiteX2" fmla="*/ 5459730 w 5459730"/>
              <a:gd name="connsiteY2" fmla="*/ 1874837 h 1874837"/>
              <a:gd name="connsiteX3" fmla="*/ 0 w 5459730"/>
              <a:gd name="connsiteY3" fmla="*/ 1874837 h 1874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9730" h="1874837">
                <a:moveTo>
                  <a:pt x="0" y="0"/>
                </a:moveTo>
                <a:lnTo>
                  <a:pt x="5459730" y="0"/>
                </a:lnTo>
                <a:lnTo>
                  <a:pt x="5459730" y="1874837"/>
                </a:lnTo>
                <a:lnTo>
                  <a:pt x="0" y="18748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>
            <a:spLocks noGrp="1"/>
          </p:cNvSpPr>
          <p:nvPr>
            <p:ph type="pic" sz="quarter" idx="10"/>
          </p:nvPr>
        </p:nvSpPr>
        <p:spPr>
          <a:xfrm>
            <a:off x="7258050" y="4069080"/>
            <a:ext cx="1210661" cy="1086168"/>
          </a:xfrm>
          <a:custGeom>
            <a:avLst/>
            <a:gdLst>
              <a:gd name="connsiteX0" fmla="*/ 0 w 1210661"/>
              <a:gd name="connsiteY0" fmla="*/ 0 h 1086168"/>
              <a:gd name="connsiteX1" fmla="*/ 1210661 w 1210661"/>
              <a:gd name="connsiteY1" fmla="*/ 0 h 1086168"/>
              <a:gd name="connsiteX2" fmla="*/ 1210661 w 1210661"/>
              <a:gd name="connsiteY2" fmla="*/ 1086168 h 1086168"/>
              <a:gd name="connsiteX3" fmla="*/ 0 w 1210661"/>
              <a:gd name="connsiteY3" fmla="*/ 1086168 h 108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0661" h="1086168">
                <a:moveTo>
                  <a:pt x="0" y="0"/>
                </a:moveTo>
                <a:lnTo>
                  <a:pt x="1210661" y="0"/>
                </a:lnTo>
                <a:lnTo>
                  <a:pt x="1210661" y="1086168"/>
                </a:lnTo>
                <a:lnTo>
                  <a:pt x="0" y="10861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任意多边形: 形状 10"/>
          <p:cNvSpPr>
            <a:spLocks noGrp="1"/>
          </p:cNvSpPr>
          <p:nvPr>
            <p:ph type="pic" sz="quarter" idx="11"/>
          </p:nvPr>
        </p:nvSpPr>
        <p:spPr>
          <a:xfrm>
            <a:off x="8664082" y="4069080"/>
            <a:ext cx="1210661" cy="1086168"/>
          </a:xfrm>
          <a:custGeom>
            <a:avLst/>
            <a:gdLst>
              <a:gd name="connsiteX0" fmla="*/ 0 w 1210661"/>
              <a:gd name="connsiteY0" fmla="*/ 0 h 1086168"/>
              <a:gd name="connsiteX1" fmla="*/ 1210661 w 1210661"/>
              <a:gd name="connsiteY1" fmla="*/ 0 h 1086168"/>
              <a:gd name="connsiteX2" fmla="*/ 1210661 w 1210661"/>
              <a:gd name="connsiteY2" fmla="*/ 1086168 h 1086168"/>
              <a:gd name="connsiteX3" fmla="*/ 0 w 1210661"/>
              <a:gd name="connsiteY3" fmla="*/ 1086168 h 108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0661" h="1086168">
                <a:moveTo>
                  <a:pt x="0" y="0"/>
                </a:moveTo>
                <a:lnTo>
                  <a:pt x="1210661" y="0"/>
                </a:lnTo>
                <a:lnTo>
                  <a:pt x="1210661" y="1086168"/>
                </a:lnTo>
                <a:lnTo>
                  <a:pt x="0" y="10861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任意多边形: 形状 11"/>
          <p:cNvSpPr>
            <a:spLocks noGrp="1"/>
          </p:cNvSpPr>
          <p:nvPr>
            <p:ph type="pic" sz="quarter" idx="12"/>
          </p:nvPr>
        </p:nvSpPr>
        <p:spPr>
          <a:xfrm>
            <a:off x="10070114" y="4069080"/>
            <a:ext cx="1210661" cy="1086168"/>
          </a:xfrm>
          <a:custGeom>
            <a:avLst/>
            <a:gdLst>
              <a:gd name="connsiteX0" fmla="*/ 0 w 1210661"/>
              <a:gd name="connsiteY0" fmla="*/ 0 h 1086168"/>
              <a:gd name="connsiteX1" fmla="*/ 1210661 w 1210661"/>
              <a:gd name="connsiteY1" fmla="*/ 0 h 1086168"/>
              <a:gd name="connsiteX2" fmla="*/ 1210661 w 1210661"/>
              <a:gd name="connsiteY2" fmla="*/ 1086168 h 1086168"/>
              <a:gd name="connsiteX3" fmla="*/ 0 w 1210661"/>
              <a:gd name="connsiteY3" fmla="*/ 1086168 h 108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0661" h="1086168">
                <a:moveTo>
                  <a:pt x="0" y="0"/>
                </a:moveTo>
                <a:lnTo>
                  <a:pt x="1210661" y="0"/>
                </a:lnTo>
                <a:lnTo>
                  <a:pt x="1210661" y="1086168"/>
                </a:lnTo>
                <a:lnTo>
                  <a:pt x="0" y="10861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6112316" y="0"/>
            <a:ext cx="6079684" cy="605111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911227" y="4095751"/>
            <a:ext cx="3603625" cy="21050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sv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635" y="3803015"/>
            <a:ext cx="121907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3DDC84"/>
                </a:solidFill>
                <a:latin typeface="Open Sans Semibold" panose="020B0706030804020204" charset="0"/>
                <a:cs typeface="Open Sans Semibold" panose="020B0706030804020204" charset="0"/>
              </a:rPr>
              <a:t>ListView and RecyclerView</a:t>
            </a:r>
            <a:endParaRPr lang="en-US" altLang="zh-CN" sz="4800" b="1" dirty="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48635" y="5723329"/>
            <a:ext cx="6096000" cy="89154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Presented by Mutaqin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Pemrograman Platform Khusus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Politeknik Statistika STIS, 2022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4205605" y="1621155"/>
            <a:ext cx="3780790" cy="21818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1366520" y="1721485"/>
            <a:ext cx="9458325" cy="2984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latin typeface="Open Sans Semibold" panose="020B0706030804020204" charset="0"/>
                <a:cs typeface="Open Sans Semibold" panose="020B0706030804020204" charset="0"/>
              </a:rPr>
              <a:t>ListView</a:t>
            </a:r>
            <a:endParaRPr lang="en-US" altLang="zh-CN" sz="4800" dirty="0">
              <a:solidFill>
                <a:schemeClr val="bg1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“Salah satu widget yang digunakan untuk menampilkan kumpulan data dalam bentuk daftar.”</a:t>
            </a:r>
            <a:endParaRPr lang="en-US" sz="2800">
              <a:solidFill>
                <a:schemeClr val="bg1"/>
              </a:solidFill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algn="ctr"/>
            <a:endParaRPr lang="en-US" sz="2800">
              <a:solidFill>
                <a:schemeClr val="bg1"/>
              </a:solidFill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Jika data yang ditampilkan melebihi tampilan layar, maka secara otomatis akan memunculkan scroll.</a:t>
            </a:r>
            <a:endParaRPr lang="en-US" sz="2800">
              <a:solidFill>
                <a:schemeClr val="bg1"/>
              </a:solidFill>
              <a:latin typeface="Open Sans" panose="020B0606030504020204" charset="0"/>
              <a:cs typeface="Open Sans" panose="020B06060305040202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ym typeface="+mn-ea"/>
              </a:rPr>
              <a:t>Membuat ListView</a:t>
            </a:r>
            <a:endParaRPr lang="en-US" sz="4000" b="1">
              <a:sym typeface="+mn-ea"/>
            </a:endParaRPr>
          </a:p>
        </p:txBody>
      </p:sp>
      <p:pic>
        <p:nvPicPr>
          <p:cNvPr id="8" name="Picture Placeholder 7"/>
          <p:cNvPicPr>
            <a:picLocks noChangeAspect="1"/>
          </p:cNvPicPr>
          <p:nvPr>
            <p:ph type="pic" idx="10"/>
          </p:nvPr>
        </p:nvPicPr>
        <p:blipFill>
          <a:blip r:embed="rId1"/>
          <a:stretch>
            <a:fillRect/>
          </a:stretch>
        </p:blipFill>
        <p:spPr>
          <a:xfrm>
            <a:off x="3697605" y="694690"/>
            <a:ext cx="6492240" cy="15805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605" y="2383790"/>
            <a:ext cx="8015605" cy="319786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3697605" y="295910"/>
            <a:ext cx="71888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olidFill>
                  <a:schemeClr val="bg1">
                    <a:lumMod val="50000"/>
                  </a:schemeClr>
                </a:solidFill>
                <a:latin typeface="Open Sans" panose="020B0606030504020204" charset="0"/>
                <a:cs typeface="Open Sans" panose="020B0606030504020204" charset="0"/>
              </a:rPr>
              <a:t>XML UI</a:t>
            </a:r>
            <a:endParaRPr lang="en-US" sz="2000" b="1">
              <a:solidFill>
                <a:schemeClr val="bg1">
                  <a:lumMod val="50000"/>
                </a:schemeClr>
              </a:solidFill>
              <a:latin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697605" y="5978525"/>
            <a:ext cx="71888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ListView listView = findViewById(R.id.list_view);</a:t>
            </a:r>
            <a:endParaRPr lang="en-US" sz="2000">
              <a:solidFill>
                <a:schemeClr val="bg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ym typeface="+mn-ea"/>
              </a:rPr>
              <a:t>ListAdapter</a:t>
            </a:r>
            <a:endParaRPr lang="en-US" sz="40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876040" y="1383030"/>
            <a:ext cx="745172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ListAdapter digunakan untuk menampung data yang akan ditampilkan dalam ListView.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Agar ListView dapat menampilkan data harus memanggil method: </a:t>
            </a:r>
            <a:r>
              <a:rPr lang="en-US" sz="2000" b="1">
                <a:latin typeface="Consolas" panose="020B0609020204030204" charset="0"/>
                <a:cs typeface="Consolas" panose="020B0609020204030204" charset="0"/>
              </a:rPr>
              <a:t>setAdapter(android.widget.ListAdapter).</a:t>
            </a:r>
            <a:endParaRPr lang="en-US" sz="2000" b="1">
              <a:latin typeface="Consolas" panose="020B0609020204030204" charset="0"/>
              <a:cs typeface="Consolas" panose="020B0609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>
              <a:latin typeface="Consolas" panose="020B0609020204030204" charset="0"/>
              <a:cs typeface="Consolas" panose="020B0609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Android menyediakan beberapa jenis adapter sesuai dengan jenis data yang ditangani seperti: ArrayAdapter, BaseAdapter, CursorAdapter, SimpleCursorAdapter, SpinnerAdapter dan WrapperListAdapter. </a:t>
            </a:r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Agar dapat menampilkan jenis data yang beragam, dapat dibuat kelas dengan meng-extends kelas BaseAdapter</a:t>
            </a:r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Placeholder 1"/>
          <p:cNvPicPr>
            <a:picLocks noChangeAspect="1"/>
          </p:cNvPicPr>
          <p:nvPr>
            <p:ph type="pic" idx="10"/>
          </p:nvPr>
        </p:nvPicPr>
        <p:blipFill>
          <a:blip r:embed="rId1"/>
          <a:stretch>
            <a:fillRect/>
          </a:stretch>
        </p:blipFill>
        <p:spPr>
          <a:xfrm>
            <a:off x="494665" y="1194435"/>
            <a:ext cx="11202670" cy="44691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ext Box 2"/>
          <p:cNvSpPr txBox="1"/>
          <p:nvPr/>
        </p:nvSpPr>
        <p:spPr>
          <a:xfrm>
            <a:off x="4560570" y="469265"/>
            <a:ext cx="307086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2800" b="1">
                <a:latin typeface="Open Sans" panose="020B0606030504020204" charset="0"/>
                <a:cs typeface="Open Sans" panose="020B0606030504020204" charset="0"/>
                <a:sym typeface="+mn-ea"/>
              </a:rPr>
              <a:t>Custom Adapter</a:t>
            </a:r>
            <a:endParaRPr lang="en-US" sz="2800" b="1">
              <a:latin typeface="Open Sans" panose="020B0606030504020204" charset="0"/>
              <a:cs typeface="Open Sans" panose="020B06060305040202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ym typeface="+mn-ea"/>
              </a:rPr>
              <a:t>ArrayAdapter</a:t>
            </a:r>
            <a:endParaRPr lang="en-US" sz="400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825240" y="1037590"/>
            <a:ext cx="745172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ArrayAdapter digunakan untuk menangani data berupa array.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Contoh: ListView menampilkan data berupa string</a:t>
            </a:r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</p:txBody>
      </p:sp>
      <p:pic>
        <p:nvPicPr>
          <p:cNvPr id="2" name="Picture Placeholder 1"/>
          <p:cNvPicPr>
            <a:picLocks noChangeAspect="1"/>
          </p:cNvPicPr>
          <p:nvPr>
            <p:ph type="pic" idx="10"/>
          </p:nvPr>
        </p:nvPicPr>
        <p:blipFill>
          <a:blip r:embed="rId1"/>
          <a:stretch>
            <a:fillRect/>
          </a:stretch>
        </p:blipFill>
        <p:spPr>
          <a:xfrm>
            <a:off x="3825240" y="2667635"/>
            <a:ext cx="6857365" cy="9493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240" y="3799840"/>
            <a:ext cx="7081520" cy="686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ym typeface="+mn-ea"/>
              </a:rPr>
              <a:t>SimpleCursorAdapter</a:t>
            </a:r>
            <a:endParaRPr lang="en-US" sz="400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65550" y="771525"/>
            <a:ext cx="74517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SimpleCursorAdapter digunakan untuk menangani data yang berasal dari Cursor.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Cursor adalah interface yang menyediakan akses ke hasil query database.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Contoh: menampilkan data dari queri daftar nama dan nomor HP</a:t>
            </a:r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</p:txBody>
      </p:sp>
      <p:pic>
        <p:nvPicPr>
          <p:cNvPr id="6" name="Picture Placeholder 5"/>
          <p:cNvPicPr>
            <a:picLocks noChangeAspect="1"/>
          </p:cNvPicPr>
          <p:nvPr>
            <p:ph type="pic" idx="10"/>
          </p:nvPr>
        </p:nvPicPr>
        <p:blipFill>
          <a:blip r:embed="rId1"/>
          <a:stretch>
            <a:fillRect/>
          </a:stretch>
        </p:blipFill>
        <p:spPr>
          <a:xfrm>
            <a:off x="3924935" y="2709545"/>
            <a:ext cx="7132320" cy="10274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935" y="4086860"/>
            <a:ext cx="7646035" cy="1051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ym typeface="+mn-ea"/>
              </a:rPr>
              <a:t>Menangani Event onClick</a:t>
            </a:r>
            <a:endParaRPr lang="en-US" sz="4000">
              <a:sym typeface="+mn-ea"/>
            </a:endParaRPr>
          </a:p>
        </p:txBody>
      </p:sp>
      <p:pic>
        <p:nvPicPr>
          <p:cNvPr id="3" name="Picture Placeholder 2"/>
          <p:cNvPicPr>
            <a:picLocks noChangeAspect="1"/>
          </p:cNvPicPr>
          <p:nvPr>
            <p:ph type="pic" idx="10"/>
          </p:nvPr>
        </p:nvPicPr>
        <p:blipFill>
          <a:blip r:embed="rId1"/>
          <a:stretch>
            <a:fillRect/>
          </a:stretch>
        </p:blipFill>
        <p:spPr>
          <a:xfrm>
            <a:off x="3818890" y="2419350"/>
            <a:ext cx="7873365" cy="201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1366520" y="1721485"/>
            <a:ext cx="9458325" cy="2984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latin typeface="Open Sans Semibold" panose="020B0706030804020204" charset="0"/>
                <a:cs typeface="Open Sans Semibold" panose="020B0706030804020204" charset="0"/>
              </a:rPr>
              <a:t>RecyclerView</a:t>
            </a:r>
            <a:endParaRPr lang="en-US" altLang="zh-CN" sz="4800" dirty="0">
              <a:solidFill>
                <a:schemeClr val="bg1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“View yang digunakan untuk menampilkan kumpulan data dalam jumlah besar secara efisien.”</a:t>
            </a:r>
            <a:endParaRPr lang="en-US" sz="2800">
              <a:solidFill>
                <a:schemeClr val="bg1"/>
              </a:solidFill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algn="ctr"/>
            <a:endParaRPr lang="en-US" sz="2800">
              <a:solidFill>
                <a:schemeClr val="bg1"/>
              </a:solidFill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RecyclerView memiliki perfoma yang jauh lebih baik daripada ListView</a:t>
            </a:r>
            <a:endParaRPr lang="en-US" sz="2800">
              <a:solidFill>
                <a:schemeClr val="bg1"/>
              </a:solidFill>
              <a:latin typeface="Open Sans" panose="020B0606030504020204" charset="0"/>
              <a:cs typeface="Open Sans" panose="020B0606030504020204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ym typeface="+mn-ea"/>
              </a:rPr>
              <a:t>RecyclerView</a:t>
            </a:r>
            <a:endParaRPr lang="en-US" sz="400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65550" y="771525"/>
            <a:ext cx="775398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Library RecyclerView secara dinamis membuat elemen saat diperlukan pada saat data ditampilkan di layar.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Sesuai namanya, RecyclerView mendaur ulang elemen individual tersebut. 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Saat item di-scroll keluar layar, RecyclerView tidak merusak tampilannya. 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Sebaliknya, RecyclerView menggunakan kembali tampilan tersebut untuk item baru yang telah di-scroll di layar. 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Penggunaan ulang ini sangat meningkatkan performa, meningkatkan daya respons aplikasi, dan mengurangi pemakaian daya.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ym typeface="+mn-ea"/>
              </a:rPr>
              <a:t>Cara Kerja RecyclerView</a:t>
            </a:r>
            <a:endParaRPr lang="en-US" sz="4000">
              <a:sym typeface="+mn-ea"/>
            </a:endParaRPr>
          </a:p>
        </p:txBody>
      </p:sp>
      <p:pic>
        <p:nvPicPr>
          <p:cNvPr id="102" name="Picture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Picture Placeholder 102"/>
          <p:cNvPicPr>
            <a:picLocks noChangeAspect="1"/>
          </p:cNvPicPr>
          <p:nvPr>
            <p:ph type="pic" idx="10"/>
          </p:nvPr>
        </p:nvPicPr>
        <p:blipFill>
          <a:blip r:embed="rId1"/>
          <a:stretch>
            <a:fillRect/>
          </a:stretch>
        </p:blipFill>
        <p:spPr>
          <a:xfrm>
            <a:off x="3940810" y="167005"/>
            <a:ext cx="2343150" cy="6524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Picture 103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Picture 104"/>
          <p:cNvPicPr/>
          <p:nvPr/>
        </p:nvPicPr>
        <p:blipFill>
          <a:blip r:embed="rId2"/>
          <a:stretch>
            <a:fillRect/>
          </a:stretch>
        </p:blipFill>
        <p:spPr>
          <a:xfrm>
            <a:off x="6695440" y="886460"/>
            <a:ext cx="5302250" cy="5086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7" name="Picture Placeholder 106"/>
          <p:cNvPicPr/>
          <p:nvPr>
            <p:ph type="pic" idx="10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ym typeface="+mn-ea"/>
              </a:rPr>
              <a:t>Komponen RecyclerView</a:t>
            </a:r>
            <a:endParaRPr lang="en-US" sz="400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76345" y="1194435"/>
            <a:ext cx="77539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ViewHolder: menangani tampilan satu item yang akan di tampilkan.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Adapter: menangani data set yang akan ditampilkan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LayoutManager: menentukan bagaimana setiap item ditampilkan pada layar.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Picture Placeholder 100"/>
          <p:cNvPicPr>
            <a:picLocks noChangeAspect="1"/>
          </p:cNvPicPr>
          <p:nvPr>
            <p:ph type="pic" idx="10"/>
          </p:nvPr>
        </p:nvPicPr>
        <p:blipFill>
          <a:blip r:embed="rId1"/>
          <a:stretch>
            <a:fillRect/>
          </a:stretch>
        </p:blipFill>
        <p:spPr>
          <a:xfrm>
            <a:off x="3658870" y="3902710"/>
            <a:ext cx="7486650" cy="20948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6" name="Picture Placeholder 105"/>
          <p:cNvPicPr/>
          <p:nvPr>
            <p:ph type="pic" idx="10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8" name="Picture Placeholder 107"/>
          <p:cNvPicPr/>
          <p:nvPr>
            <p:ph type="pic" idx="10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0" y="2275840"/>
            <a:ext cx="12191365" cy="19380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algn="ctr"/>
            <a:r>
              <a:rPr lang="en-US" sz="2400">
                <a:solidFill>
                  <a:srgbClr val="3DDC84"/>
                </a:solidFill>
                <a:latin typeface="Open Sans" panose="020B0606030504020204" charset="0"/>
                <a:cs typeface="Open Sans" panose="020B0606030504020204" charset="0"/>
              </a:rPr>
              <a:t>Pelajari lebih lanjut...</a:t>
            </a:r>
            <a:endParaRPr lang="en-US" sz="2400">
              <a:solidFill>
                <a:srgbClr val="3DDC84"/>
              </a:solidFill>
              <a:latin typeface="Open Sans" panose="020B0606030504020204" charset="0"/>
              <a:cs typeface="Open Sans" panose="020B0606030504020204" charset="0"/>
            </a:endParaRPr>
          </a:p>
          <a:p>
            <a:pPr algn="ctr"/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r>
              <a:rPr lang="en-US" sz="2400">
                <a:solidFill>
                  <a:srgbClr val="3DDC84"/>
                </a:solidFill>
                <a:latin typeface="Open Sans Semibold" panose="020B0706030804020204" charset="0"/>
                <a:cs typeface="Open Sans Semibold" panose="020B0706030804020204" charset="0"/>
              </a:rPr>
              <a:t>https://developer.android.com/guide</a:t>
            </a:r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</p:txBody>
      </p:sp>
      <p:pic>
        <p:nvPicPr>
          <p:cNvPr id="5" name="Picture Placeholder 4" descr="chevron-down"/>
          <p:cNvPicPr>
            <a:picLocks noChangeAspect="1"/>
          </p:cNvPicPr>
          <p:nvPr>
            <p:ph type="pic" idx="10"/>
          </p:nvPr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6390" y="2739390"/>
            <a:ext cx="1010920" cy="1010920"/>
          </a:xfrm>
          <a:prstGeom prst="rect">
            <a:avLst/>
          </a:prstGeom>
        </p:spPr>
      </p:pic>
      <p:pic>
        <p:nvPicPr>
          <p:cNvPr id="6" name="Picture Placeholder 4" descr="chevron-dow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6390" y="2923540"/>
            <a:ext cx="1010920" cy="1010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2351881" y="3013650"/>
            <a:ext cx="731043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latin typeface="Segoe UI" panose="020B0502040204020203" charset="0"/>
                <a:cs typeface="Segoe UI" panose="020B0502040204020203" charset="0"/>
              </a:rPr>
              <a:t>Ada pertanyaan?</a:t>
            </a:r>
            <a:endParaRPr lang="en-US" altLang="zh-CN" sz="4800" b="1" dirty="0">
              <a:solidFill>
                <a:schemeClr val="bg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48000" y="5901129"/>
            <a:ext cx="6096000" cy="6140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Pemrograman Platform Khusus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Politeknik Statistika STIS, 2022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4ot2hzvm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FAD86"/>
      </a:accent1>
      <a:accent2>
        <a:srgbClr val="90D8C0"/>
      </a:accent2>
      <a:accent3>
        <a:srgbClr val="646464"/>
      </a:accent3>
      <a:accent4>
        <a:srgbClr val="828282"/>
      </a:accent4>
      <a:accent5>
        <a:srgbClr val="A5A5A5"/>
      </a:accent5>
      <a:accent6>
        <a:srgbClr val="C9C9C9"/>
      </a:accent6>
      <a:hlink>
        <a:srgbClr val="3FAD86"/>
      </a:hlink>
      <a:folHlink>
        <a:srgbClr val="BFBFBF"/>
      </a:folHlink>
    </a:clrScheme>
    <a:fontScheme name="国外模板制作字体">
      <a:majorFont>
        <a:latin typeface="Century Gothic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4ot2hzvm">
    <a:dk1>
      <a:srgbClr val="000000"/>
    </a:dk1>
    <a:lt1>
      <a:srgbClr val="FFFFFF"/>
    </a:lt1>
    <a:dk2>
      <a:srgbClr val="778495"/>
    </a:dk2>
    <a:lt2>
      <a:srgbClr val="F0F0F0"/>
    </a:lt2>
    <a:accent1>
      <a:srgbClr val="3FAD86"/>
    </a:accent1>
    <a:accent2>
      <a:srgbClr val="90D8C0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3FAD86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4ot2hzvm">
    <a:dk1>
      <a:srgbClr val="000000"/>
    </a:dk1>
    <a:lt1>
      <a:srgbClr val="FFFFFF"/>
    </a:lt1>
    <a:dk2>
      <a:srgbClr val="778495"/>
    </a:dk2>
    <a:lt2>
      <a:srgbClr val="F0F0F0"/>
    </a:lt2>
    <a:accent1>
      <a:srgbClr val="3FAD86"/>
    </a:accent1>
    <a:accent2>
      <a:srgbClr val="90D8C0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3FAD86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4ot2hzvm">
    <a:dk1>
      <a:srgbClr val="000000"/>
    </a:dk1>
    <a:lt1>
      <a:srgbClr val="FFFFFF"/>
    </a:lt1>
    <a:dk2>
      <a:srgbClr val="778495"/>
    </a:dk2>
    <a:lt2>
      <a:srgbClr val="F0F0F0"/>
    </a:lt2>
    <a:accent1>
      <a:srgbClr val="3FAD86"/>
    </a:accent1>
    <a:accent2>
      <a:srgbClr val="90D8C0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3FAD86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4ot2hzvm">
    <a:dk1>
      <a:srgbClr val="000000"/>
    </a:dk1>
    <a:lt1>
      <a:srgbClr val="FFFFFF"/>
    </a:lt1>
    <a:dk2>
      <a:srgbClr val="778495"/>
    </a:dk2>
    <a:lt2>
      <a:srgbClr val="F0F0F0"/>
    </a:lt2>
    <a:accent1>
      <a:srgbClr val="3FAD86"/>
    </a:accent1>
    <a:accent2>
      <a:srgbClr val="90D8C0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3FAD86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2252</Words>
  <Application>WPS Presentation</Application>
  <PresentationFormat>宽屏</PresentationFormat>
  <Paragraphs>83</Paragraphs>
  <Slides>17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Open Sans Semibold</vt:lpstr>
      <vt:lpstr>Open Sans</vt:lpstr>
      <vt:lpstr>Consolas</vt:lpstr>
      <vt:lpstr>Segoe UI</vt:lpstr>
      <vt:lpstr>Microsoft YaHei</vt:lpstr>
      <vt:lpstr>Arial Unicode MS</vt:lpstr>
      <vt:lpstr>Century Gothic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Mutaqin Abu Saad</cp:lastModifiedBy>
  <cp:revision>528</cp:revision>
  <dcterms:created xsi:type="dcterms:W3CDTF">2022-08-19T06:51:00Z</dcterms:created>
  <dcterms:modified xsi:type="dcterms:W3CDTF">2022-11-18T10:30:12Z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2C77CF9D6C91433DB5B962A0CF5D0876</vt:lpwstr>
  </property>
  <property fmtid="{D5CDD505-2E9C-101B-9397-08002B2CF9AE}" pid="3" name="KSOProductBuildVer">
    <vt:lpwstr>1033-11.2.0.11380</vt:lpwstr>
  </property>
</Properties>
</file>