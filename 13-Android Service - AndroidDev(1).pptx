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theme/themeOverride6.xml" ContentType="application/vnd.openxmlformats-officedocument.themeOverride+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2"/>
  </p:notesMasterIdLst>
  <p:sldIdLst>
    <p:sldId id="256" r:id="rId2"/>
    <p:sldId id="337" r:id="rId3"/>
    <p:sldId id="609" r:id="rId4"/>
    <p:sldId id="644" r:id="rId5"/>
    <p:sldId id="669" r:id="rId6"/>
    <p:sldId id="670" r:id="rId7"/>
    <p:sldId id="666" r:id="rId8"/>
    <p:sldId id="676" r:id="rId9"/>
    <p:sldId id="672" r:id="rId10"/>
    <p:sldId id="674" r:id="rId11"/>
    <p:sldId id="675" r:id="rId12"/>
    <p:sldId id="677" r:id="rId13"/>
    <p:sldId id="679" r:id="rId14"/>
    <p:sldId id="681" r:id="rId15"/>
    <p:sldId id="671" r:id="rId16"/>
    <p:sldId id="667" r:id="rId17"/>
    <p:sldId id="668" r:id="rId18"/>
    <p:sldId id="682" r:id="rId19"/>
    <p:sldId id="698" r:id="rId20"/>
    <p:sldId id="684" r:id="rId21"/>
    <p:sldId id="702" r:id="rId22"/>
    <p:sldId id="703" r:id="rId23"/>
    <p:sldId id="705" r:id="rId24"/>
    <p:sldId id="683" r:id="rId25"/>
    <p:sldId id="685" r:id="rId26"/>
    <p:sldId id="686" r:id="rId27"/>
    <p:sldId id="688" r:id="rId28"/>
    <p:sldId id="689" r:id="rId29"/>
    <p:sldId id="358" r:id="rId30"/>
    <p:sldId id="571"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6A86614B-2600-429A-AA34-18849E7BEDC2}">
          <p14:sldIdLst>
            <p14:sldId id="256"/>
            <p14:sldId id="337"/>
            <p14:sldId id="609"/>
            <p14:sldId id="644"/>
            <p14:sldId id="669"/>
            <p14:sldId id="670"/>
            <p14:sldId id="666"/>
            <p14:sldId id="676"/>
            <p14:sldId id="672"/>
            <p14:sldId id="674"/>
            <p14:sldId id="675"/>
            <p14:sldId id="677"/>
            <p14:sldId id="679"/>
            <p14:sldId id="681"/>
            <p14:sldId id="671"/>
            <p14:sldId id="667"/>
            <p14:sldId id="668"/>
            <p14:sldId id="682"/>
            <p14:sldId id="698"/>
            <p14:sldId id="684"/>
            <p14:sldId id="702"/>
            <p14:sldId id="703"/>
            <p14:sldId id="705"/>
            <p14:sldId id="683"/>
            <p14:sldId id="685"/>
            <p14:sldId id="686"/>
            <p14:sldId id="688"/>
            <p14:sldId id="689"/>
            <p14:sldId id="358"/>
            <p14:sldId id="571"/>
          </p14:sldIdLst>
        </p14:section>
        <p14:section name="Template" id="{BF6A4F90-709A-41D3-A26F-E1FD9E5EE13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AD86"/>
    <a:srgbClr val="3DDC84"/>
    <a:srgbClr val="F04E37"/>
    <a:srgbClr val="A2A2A2"/>
    <a:srgbClr val="99D0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93" autoAdjust="0"/>
    <p:restoredTop sz="94660"/>
  </p:normalViewPr>
  <p:slideViewPr>
    <p:cSldViewPr snapToGrid="0">
      <p:cViewPr varScale="1">
        <p:scale>
          <a:sx n="111" d="100"/>
          <a:sy n="111" d="100"/>
        </p:scale>
        <p:origin x="900"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8359E4-CC7C-4E34-9F0B-04017D3A60D8}" type="datetimeFigureOut">
              <a:rPr lang="zh-CN" altLang="en-US" smtClean="0"/>
              <a:t>2023/11/28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C7AE9A-01D7-45F1-A266-4CF0781F88D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C7AE9A-01D7-45F1-A266-4CF0781F88D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C7AE9A-01D7-45F1-A266-4CF0781F88D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C7AE9A-01D7-45F1-A266-4CF0781F88D7}" type="slidenum">
              <a:rPr lang="zh-CN" altLang="en-US" smtClean="0"/>
              <a:t>14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C7AE9A-01D7-45F1-A266-4CF0781F88D7}" type="slidenum">
              <a:rPr lang="zh-CN" altLang="en-US" smtClean="0"/>
              <a:t>18</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C7AE9A-01D7-45F1-A266-4CF0781F88D7}" type="slidenum">
              <a:rPr lang="zh-CN" altLang="en-US" smtClean="0"/>
              <a:t>19</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C7AE9A-01D7-45F1-A266-4CF0781F88D7}" type="slidenum">
              <a:rPr lang="zh-CN" altLang="en-US" smtClean="0"/>
              <a:t>24</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C7AE9A-01D7-45F1-A266-4CF0781F88D7}" type="slidenum">
              <a:rPr lang="zh-CN" altLang="en-US" smtClean="0"/>
              <a:t>30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0" y="0"/>
            <a:ext cx="12192000" cy="6858000"/>
          </a:xfrm>
        </p:spPr>
        <p:txBody>
          <a:bodyPr/>
          <a:lstStyle/>
          <a:p>
            <a:endParaRPr lang="zh-CN" alt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1" y="0"/>
            <a:ext cx="4950731" cy="6858000"/>
          </a:xfr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6162839" y="1583676"/>
            <a:ext cx="2851698" cy="2759725"/>
          </a:xfrm>
        </p:spPr>
        <p:txBody>
          <a:bodyPr/>
          <a:lstStyle/>
          <a:p>
            <a:endParaRPr lang="zh-CN" altLang="en-US"/>
          </a:p>
        </p:txBody>
      </p:sp>
      <p:sp>
        <p:nvSpPr>
          <p:cNvPr id="3" name="图片占位符 2"/>
          <p:cNvSpPr>
            <a:spLocks noGrp="1"/>
          </p:cNvSpPr>
          <p:nvPr>
            <p:ph type="pic" sz="quarter" idx="11"/>
          </p:nvPr>
        </p:nvSpPr>
        <p:spPr>
          <a:xfrm>
            <a:off x="3177463" y="1583676"/>
            <a:ext cx="2851698" cy="2759725"/>
          </a:xfrm>
          <a:prstGeom prst="rect">
            <a:avLst/>
          </a:prstGeom>
        </p:spPr>
        <p:txBody>
          <a:bodyPr/>
          <a:lstStyle/>
          <a:p>
            <a:endParaRPr lang="zh-CN" altLang="en-US"/>
          </a:p>
        </p:txBody>
      </p:sp>
      <p:sp>
        <p:nvSpPr>
          <p:cNvPr id="4" name="图片占位符 3"/>
          <p:cNvSpPr>
            <a:spLocks noGrp="1"/>
          </p:cNvSpPr>
          <p:nvPr>
            <p:ph type="pic" sz="quarter" idx="12"/>
          </p:nvPr>
        </p:nvSpPr>
        <p:spPr>
          <a:xfrm>
            <a:off x="192087" y="1583676"/>
            <a:ext cx="2851698" cy="2759725"/>
          </a:xfrm>
          <a:prstGeom prst="rect">
            <a:avLst/>
          </a:prstGeom>
        </p:spPr>
        <p:txBody>
          <a:bodyPr/>
          <a:lstStyle/>
          <a:p>
            <a:endParaRPr lang="zh-CN" altLang="en-US"/>
          </a:p>
        </p:txBody>
      </p:sp>
      <p:sp>
        <p:nvSpPr>
          <p:cNvPr id="5" name="图片占位符 4"/>
          <p:cNvSpPr>
            <a:spLocks noGrp="1"/>
          </p:cNvSpPr>
          <p:nvPr>
            <p:ph type="pic" sz="quarter" idx="13"/>
          </p:nvPr>
        </p:nvSpPr>
        <p:spPr>
          <a:xfrm>
            <a:off x="9148215" y="1583676"/>
            <a:ext cx="2851698" cy="2759725"/>
          </a:xfrm>
          <a:prstGeom prst="rect">
            <a:avLst/>
          </a:prstGeom>
        </p:spPr>
        <p:txBody>
          <a:bodyPr/>
          <a:lstStyle/>
          <a:p>
            <a:endParaRPr lang="zh-CN" altLang="en-US"/>
          </a:p>
        </p:txBody>
      </p:sp>
      <p:sp>
        <p:nvSpPr>
          <p:cNvPr id="6"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6096000" y="1268413"/>
            <a:ext cx="2232752" cy="2367154"/>
          </a:xfrm>
        </p:spPr>
        <p:txBody>
          <a:bodyPr/>
          <a:lstStyle/>
          <a:p>
            <a:endParaRPr lang="zh-CN" altLang="en-US"/>
          </a:p>
        </p:txBody>
      </p:sp>
      <p:sp>
        <p:nvSpPr>
          <p:cNvPr id="3" name="图片占位符 2"/>
          <p:cNvSpPr>
            <a:spLocks noGrp="1"/>
          </p:cNvSpPr>
          <p:nvPr>
            <p:ph type="pic" sz="quarter" idx="11"/>
          </p:nvPr>
        </p:nvSpPr>
        <p:spPr>
          <a:xfrm>
            <a:off x="6096000" y="3820245"/>
            <a:ext cx="2232752" cy="2367154"/>
          </a:xfrm>
          <a:prstGeom prst="rect">
            <a:avLst/>
          </a:prstGeo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911225" y="635000"/>
            <a:ext cx="10369550" cy="3498850"/>
          </a:xfr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0" y="0"/>
            <a:ext cx="6096000" cy="6858000"/>
          </a:xfrm>
        </p:spPr>
        <p:txBody>
          <a:bodyPr/>
          <a:lstStyle/>
          <a:p>
            <a:endParaRPr lang="zh-CN" altLang="en-US"/>
          </a:p>
        </p:txBody>
      </p:sp>
      <p:sp>
        <p:nvSpPr>
          <p:cNvPr id="13" name="图片占位符 12"/>
          <p:cNvSpPr>
            <a:spLocks noGrp="1"/>
          </p:cNvSpPr>
          <p:nvPr>
            <p:ph type="pic" sz="quarter" idx="11"/>
          </p:nvPr>
        </p:nvSpPr>
        <p:spPr>
          <a:xfrm>
            <a:off x="6457951" y="3970338"/>
            <a:ext cx="1713105" cy="1619250"/>
          </a:xfrm>
          <a:custGeom>
            <a:avLst/>
            <a:gdLst>
              <a:gd name="connsiteX0" fmla="*/ 0 w 1713105"/>
              <a:gd name="connsiteY0" fmla="*/ 0 h 1619250"/>
              <a:gd name="connsiteX1" fmla="*/ 1713105 w 1713105"/>
              <a:gd name="connsiteY1" fmla="*/ 0 h 1619250"/>
              <a:gd name="connsiteX2" fmla="*/ 1713105 w 1713105"/>
              <a:gd name="connsiteY2" fmla="*/ 1619250 h 1619250"/>
              <a:gd name="connsiteX3" fmla="*/ 0 w 1713105"/>
              <a:gd name="connsiteY3" fmla="*/ 1619250 h 1619250"/>
            </a:gdLst>
            <a:ahLst/>
            <a:cxnLst>
              <a:cxn ang="0">
                <a:pos x="connsiteX0" y="connsiteY0"/>
              </a:cxn>
              <a:cxn ang="0">
                <a:pos x="connsiteX1" y="connsiteY1"/>
              </a:cxn>
              <a:cxn ang="0">
                <a:pos x="connsiteX2" y="connsiteY2"/>
              </a:cxn>
              <a:cxn ang="0">
                <a:pos x="connsiteX3" y="connsiteY3"/>
              </a:cxn>
            </a:cxnLst>
            <a:rect l="l" t="t" r="r" b="b"/>
            <a:pathLst>
              <a:path w="1713105" h="1619250">
                <a:moveTo>
                  <a:pt x="0" y="0"/>
                </a:moveTo>
                <a:lnTo>
                  <a:pt x="1713105" y="0"/>
                </a:lnTo>
                <a:lnTo>
                  <a:pt x="1713105" y="1619250"/>
                </a:lnTo>
                <a:lnTo>
                  <a:pt x="0" y="1619250"/>
                </a:lnTo>
                <a:close/>
              </a:path>
            </a:pathLst>
          </a:custGeom>
        </p:spPr>
        <p:txBody>
          <a:bodyPr wrap="square">
            <a:noAutofit/>
          </a:bodyPr>
          <a:lstStyle/>
          <a:p>
            <a:endParaRPr lang="zh-CN" altLang="en-US"/>
          </a:p>
        </p:txBody>
      </p:sp>
      <p:sp>
        <p:nvSpPr>
          <p:cNvPr id="12" name="图片占位符 11"/>
          <p:cNvSpPr>
            <a:spLocks noGrp="1"/>
          </p:cNvSpPr>
          <p:nvPr>
            <p:ph type="pic" sz="quarter" idx="12"/>
          </p:nvPr>
        </p:nvSpPr>
        <p:spPr>
          <a:xfrm>
            <a:off x="8325235" y="3970338"/>
            <a:ext cx="1713105" cy="1619250"/>
          </a:xfrm>
          <a:custGeom>
            <a:avLst/>
            <a:gdLst>
              <a:gd name="connsiteX0" fmla="*/ 0 w 1713105"/>
              <a:gd name="connsiteY0" fmla="*/ 0 h 1619250"/>
              <a:gd name="connsiteX1" fmla="*/ 1713105 w 1713105"/>
              <a:gd name="connsiteY1" fmla="*/ 0 h 1619250"/>
              <a:gd name="connsiteX2" fmla="*/ 1713105 w 1713105"/>
              <a:gd name="connsiteY2" fmla="*/ 1619250 h 1619250"/>
              <a:gd name="connsiteX3" fmla="*/ 0 w 1713105"/>
              <a:gd name="connsiteY3" fmla="*/ 1619250 h 1619250"/>
            </a:gdLst>
            <a:ahLst/>
            <a:cxnLst>
              <a:cxn ang="0">
                <a:pos x="connsiteX0" y="connsiteY0"/>
              </a:cxn>
              <a:cxn ang="0">
                <a:pos x="connsiteX1" y="connsiteY1"/>
              </a:cxn>
              <a:cxn ang="0">
                <a:pos x="connsiteX2" y="connsiteY2"/>
              </a:cxn>
              <a:cxn ang="0">
                <a:pos x="connsiteX3" y="connsiteY3"/>
              </a:cxn>
            </a:cxnLst>
            <a:rect l="l" t="t" r="r" b="b"/>
            <a:pathLst>
              <a:path w="1713105" h="1619250">
                <a:moveTo>
                  <a:pt x="0" y="0"/>
                </a:moveTo>
                <a:lnTo>
                  <a:pt x="1713105" y="0"/>
                </a:lnTo>
                <a:lnTo>
                  <a:pt x="1713105" y="1619250"/>
                </a:lnTo>
                <a:lnTo>
                  <a:pt x="0" y="1619250"/>
                </a:lnTo>
                <a:close/>
              </a:path>
            </a:pathLst>
          </a:custGeom>
        </p:spPr>
        <p:txBody>
          <a:bodyPr wrap="square">
            <a:noAutofit/>
          </a:bodyPr>
          <a:lstStyle/>
          <a:p>
            <a:endParaRPr lang="zh-CN" altLang="en-US"/>
          </a:p>
        </p:txBody>
      </p:sp>
      <p:sp>
        <p:nvSpPr>
          <p:cNvPr id="11" name="图片占位符 10"/>
          <p:cNvSpPr>
            <a:spLocks noGrp="1"/>
          </p:cNvSpPr>
          <p:nvPr>
            <p:ph type="pic" sz="quarter" idx="13"/>
          </p:nvPr>
        </p:nvSpPr>
        <p:spPr>
          <a:xfrm>
            <a:off x="10201084" y="3970338"/>
            <a:ext cx="1713105" cy="1619250"/>
          </a:xfrm>
          <a:custGeom>
            <a:avLst/>
            <a:gdLst>
              <a:gd name="connsiteX0" fmla="*/ 0 w 1713105"/>
              <a:gd name="connsiteY0" fmla="*/ 0 h 1619250"/>
              <a:gd name="connsiteX1" fmla="*/ 1713105 w 1713105"/>
              <a:gd name="connsiteY1" fmla="*/ 0 h 1619250"/>
              <a:gd name="connsiteX2" fmla="*/ 1713105 w 1713105"/>
              <a:gd name="connsiteY2" fmla="*/ 1619250 h 1619250"/>
              <a:gd name="connsiteX3" fmla="*/ 0 w 1713105"/>
              <a:gd name="connsiteY3" fmla="*/ 1619250 h 1619250"/>
            </a:gdLst>
            <a:ahLst/>
            <a:cxnLst>
              <a:cxn ang="0">
                <a:pos x="connsiteX0" y="connsiteY0"/>
              </a:cxn>
              <a:cxn ang="0">
                <a:pos x="connsiteX1" y="connsiteY1"/>
              </a:cxn>
              <a:cxn ang="0">
                <a:pos x="connsiteX2" y="connsiteY2"/>
              </a:cxn>
              <a:cxn ang="0">
                <a:pos x="connsiteX3" y="connsiteY3"/>
              </a:cxn>
            </a:cxnLst>
            <a:rect l="l" t="t" r="r" b="b"/>
            <a:pathLst>
              <a:path w="1713105" h="1619250">
                <a:moveTo>
                  <a:pt x="0" y="0"/>
                </a:moveTo>
                <a:lnTo>
                  <a:pt x="1713105" y="0"/>
                </a:lnTo>
                <a:lnTo>
                  <a:pt x="1713105" y="1619250"/>
                </a:lnTo>
                <a:lnTo>
                  <a:pt x="0" y="1619250"/>
                </a:lnTo>
                <a:close/>
              </a:path>
            </a:pathLst>
          </a:custGeom>
        </p:spPr>
        <p:txBody>
          <a:bodyPr wrap="square">
            <a:noAutofit/>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1" y="0"/>
            <a:ext cx="12192000" cy="6858000"/>
          </a:xfrm>
        </p:spPr>
        <p:txBody>
          <a:bodyPr/>
          <a:lstStyle/>
          <a:p>
            <a:endParaRPr lang="zh-CN" alt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任意多边形: 形状 7"/>
          <p:cNvSpPr>
            <a:spLocks noGrp="1"/>
          </p:cNvSpPr>
          <p:nvPr>
            <p:ph type="pic" sz="quarter" idx="10"/>
          </p:nvPr>
        </p:nvSpPr>
        <p:spPr>
          <a:xfrm>
            <a:off x="11049000" y="1"/>
            <a:ext cx="1143000" cy="5210175"/>
          </a:xfrm>
          <a:custGeom>
            <a:avLst/>
            <a:gdLst>
              <a:gd name="connsiteX0" fmla="*/ 0 w 1143000"/>
              <a:gd name="connsiteY0" fmla="*/ 0 h 5210175"/>
              <a:gd name="connsiteX1" fmla="*/ 1143000 w 1143000"/>
              <a:gd name="connsiteY1" fmla="*/ 0 h 5210175"/>
              <a:gd name="connsiteX2" fmla="*/ 1143000 w 1143000"/>
              <a:gd name="connsiteY2" fmla="*/ 5210175 h 5210175"/>
              <a:gd name="connsiteX3" fmla="*/ 206382 w 1143000"/>
              <a:gd name="connsiteY3" fmla="*/ 5210175 h 5210175"/>
              <a:gd name="connsiteX4" fmla="*/ 0 w 1143000"/>
              <a:gd name="connsiteY4" fmla="*/ 5003793 h 521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0" h="5210175">
                <a:moveTo>
                  <a:pt x="0" y="0"/>
                </a:moveTo>
                <a:lnTo>
                  <a:pt x="1143000" y="0"/>
                </a:lnTo>
                <a:lnTo>
                  <a:pt x="1143000" y="5210175"/>
                </a:lnTo>
                <a:lnTo>
                  <a:pt x="206382" y="5210175"/>
                </a:lnTo>
                <a:cubicBezTo>
                  <a:pt x="92400" y="5210175"/>
                  <a:pt x="0" y="5117775"/>
                  <a:pt x="0" y="5003793"/>
                </a:cubicBezTo>
                <a:close/>
              </a:path>
            </a:pathLst>
          </a:custGeom>
        </p:spPr>
        <p:txBody>
          <a:bodyPr wrap="square">
            <a:noAutofit/>
          </a:bodyPr>
          <a:lstStyle/>
          <a:p>
            <a:endParaRPr lang="zh-CN" altLang="en-US"/>
          </a:p>
        </p:txBody>
      </p:sp>
      <p:sp>
        <p:nvSpPr>
          <p:cNvPr id="7" name="任意多边形: 形状 6"/>
          <p:cNvSpPr>
            <a:spLocks noGrp="1"/>
          </p:cNvSpPr>
          <p:nvPr>
            <p:ph type="pic" sz="quarter" idx="11"/>
          </p:nvPr>
        </p:nvSpPr>
        <p:spPr>
          <a:xfrm>
            <a:off x="7849772" y="2278966"/>
            <a:ext cx="2757268" cy="4579034"/>
          </a:xfrm>
          <a:custGeom>
            <a:avLst/>
            <a:gdLst>
              <a:gd name="connsiteX0" fmla="*/ 206326 w 2757268"/>
              <a:gd name="connsiteY0" fmla="*/ 0 h 4579034"/>
              <a:gd name="connsiteX1" fmla="*/ 2550942 w 2757268"/>
              <a:gd name="connsiteY1" fmla="*/ 0 h 4579034"/>
              <a:gd name="connsiteX2" fmla="*/ 2757268 w 2757268"/>
              <a:gd name="connsiteY2" fmla="*/ 206326 h 4579034"/>
              <a:gd name="connsiteX3" fmla="*/ 2757268 w 2757268"/>
              <a:gd name="connsiteY3" fmla="*/ 4579034 h 4579034"/>
              <a:gd name="connsiteX4" fmla="*/ 0 w 2757268"/>
              <a:gd name="connsiteY4" fmla="*/ 4579034 h 4579034"/>
              <a:gd name="connsiteX5" fmla="*/ 0 w 2757268"/>
              <a:gd name="connsiteY5" fmla="*/ 206326 h 4579034"/>
              <a:gd name="connsiteX6" fmla="*/ 206326 w 2757268"/>
              <a:gd name="connsiteY6" fmla="*/ 0 h 4579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7268" h="4579034">
                <a:moveTo>
                  <a:pt x="206326" y="0"/>
                </a:moveTo>
                <a:lnTo>
                  <a:pt x="2550942" y="0"/>
                </a:lnTo>
                <a:cubicBezTo>
                  <a:pt x="2664893" y="0"/>
                  <a:pt x="2757268" y="92375"/>
                  <a:pt x="2757268" y="206326"/>
                </a:cubicBezTo>
                <a:lnTo>
                  <a:pt x="2757268" y="4579034"/>
                </a:lnTo>
                <a:lnTo>
                  <a:pt x="0" y="4579034"/>
                </a:lnTo>
                <a:lnTo>
                  <a:pt x="0" y="206326"/>
                </a:lnTo>
                <a:cubicBezTo>
                  <a:pt x="0" y="92375"/>
                  <a:pt x="92375" y="0"/>
                  <a:pt x="206326" y="0"/>
                </a:cubicBezTo>
                <a:close/>
              </a:path>
            </a:pathLst>
          </a:custGeom>
        </p:spPr>
        <p:txBody>
          <a:bodyPr wrap="square">
            <a:noAutofit/>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0" y="0"/>
            <a:ext cx="3744686" cy="6858000"/>
          </a:xfr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4229100" y="0"/>
            <a:ext cx="3733800" cy="6858000"/>
          </a:xfr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7730133" y="1450053"/>
            <a:ext cx="2849950" cy="3150975"/>
          </a:xfrm>
        </p:spPr>
        <p:txBody>
          <a:bodyPr/>
          <a:lstStyle/>
          <a:p>
            <a:endParaRPr lang="zh-CN" altLang="en-US"/>
          </a:p>
        </p:txBody>
      </p:sp>
      <p:sp>
        <p:nvSpPr>
          <p:cNvPr id="3" name="图片占位符 2"/>
          <p:cNvSpPr>
            <a:spLocks noGrp="1"/>
          </p:cNvSpPr>
          <p:nvPr>
            <p:ph type="pic" sz="quarter" idx="11"/>
          </p:nvPr>
        </p:nvSpPr>
        <p:spPr>
          <a:xfrm>
            <a:off x="4694192" y="1450053"/>
            <a:ext cx="2849950" cy="3150975"/>
          </a:xfrm>
          <a:prstGeom prst="rect">
            <a:avLst/>
          </a:prstGeom>
        </p:spPr>
        <p:txBody>
          <a:bodyPr/>
          <a:lstStyle/>
          <a:p>
            <a:endParaRPr lang="zh-CN" altLang="en-US"/>
          </a:p>
        </p:txBody>
      </p:sp>
      <p:sp>
        <p:nvSpPr>
          <p:cNvPr id="4" name="图片占位符 3"/>
          <p:cNvSpPr>
            <a:spLocks noGrp="1"/>
          </p:cNvSpPr>
          <p:nvPr>
            <p:ph type="pic" sz="quarter" idx="12"/>
          </p:nvPr>
        </p:nvSpPr>
        <p:spPr>
          <a:xfrm>
            <a:off x="1658250" y="1450053"/>
            <a:ext cx="2849950" cy="3150975"/>
          </a:xfrm>
          <a:prstGeom prst="rect">
            <a:avLst/>
          </a:prstGeo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图片占位符 5"/>
          <p:cNvSpPr>
            <a:spLocks noGrp="1"/>
          </p:cNvSpPr>
          <p:nvPr>
            <p:ph type="pic" idx="10"/>
          </p:nvPr>
        </p:nvSpPr>
        <p:spPr>
          <a:xfrm>
            <a:off x="6096000" y="0"/>
            <a:ext cx="2598057" cy="3429001"/>
          </a:xfrm>
        </p:spPr>
        <p:txBody>
          <a:bodyPr/>
          <a:lstStyle/>
          <a:p>
            <a:endParaRPr lang="zh-CN" altLang="en-US"/>
          </a:p>
        </p:txBody>
      </p:sp>
      <p:sp>
        <p:nvSpPr>
          <p:cNvPr id="7" name="图片占位符 6"/>
          <p:cNvSpPr>
            <a:spLocks noGrp="1"/>
          </p:cNvSpPr>
          <p:nvPr>
            <p:ph type="pic" sz="quarter" idx="11"/>
          </p:nvPr>
        </p:nvSpPr>
        <p:spPr>
          <a:xfrm>
            <a:off x="8694058" y="-1"/>
            <a:ext cx="2598057" cy="3429001"/>
          </a:xfrm>
          <a:prstGeom prst="rect">
            <a:avLst/>
          </a:prstGeom>
        </p:spPr>
        <p:txBody>
          <a:bodyPr/>
          <a:lstStyle/>
          <a:p>
            <a:endParaRPr lang="zh-CN" altLang="en-US"/>
          </a:p>
        </p:txBody>
      </p:sp>
      <p:sp>
        <p:nvSpPr>
          <p:cNvPr id="8" name="图片占位符 7"/>
          <p:cNvSpPr>
            <a:spLocks noGrp="1"/>
          </p:cNvSpPr>
          <p:nvPr>
            <p:ph type="pic" sz="quarter" idx="12"/>
          </p:nvPr>
        </p:nvSpPr>
        <p:spPr>
          <a:xfrm>
            <a:off x="6096000" y="3429001"/>
            <a:ext cx="2598057" cy="3429001"/>
          </a:xfrm>
          <a:prstGeom prst="rect">
            <a:avLst/>
          </a:prstGeom>
        </p:spPr>
        <p:txBody>
          <a:bodyPr/>
          <a:lstStyle/>
          <a:p>
            <a:endParaRPr lang="zh-CN" altLang="en-US"/>
          </a:p>
        </p:txBody>
      </p:sp>
      <p:sp>
        <p:nvSpPr>
          <p:cNvPr id="9" name="图片占位符 8"/>
          <p:cNvSpPr>
            <a:spLocks noGrp="1"/>
          </p:cNvSpPr>
          <p:nvPr>
            <p:ph type="pic" sz="quarter" idx="13"/>
          </p:nvPr>
        </p:nvSpPr>
        <p:spPr>
          <a:xfrm>
            <a:off x="8694058" y="3429001"/>
            <a:ext cx="2598057" cy="3429001"/>
          </a:xfrm>
          <a:prstGeom prst="rect">
            <a:avLst/>
          </a:prstGeom>
        </p:spPr>
        <p:txBody>
          <a:bodyPr/>
          <a:lstStyle/>
          <a:p>
            <a:endParaRPr lang="zh-CN" altLang="en-US"/>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图片占位符 3"/>
          <p:cNvSpPr>
            <a:spLocks noGrp="1"/>
          </p:cNvSpPr>
          <p:nvPr>
            <p:ph type="pic" idx="10"/>
          </p:nvPr>
        </p:nvSpPr>
        <p:spPr>
          <a:xfrm>
            <a:off x="911226" y="635001"/>
            <a:ext cx="5184775" cy="2794000"/>
          </a:xfrm>
        </p:spPr>
        <p:txBody>
          <a:bodyPr/>
          <a:lstStyle/>
          <a:p>
            <a:endParaRPr lang="zh-CN" altLang="en-US"/>
          </a:p>
        </p:txBody>
      </p:sp>
      <p:sp>
        <p:nvSpPr>
          <p:cNvPr id="5" name="图片占位符 4"/>
          <p:cNvSpPr>
            <a:spLocks noGrp="1"/>
          </p:cNvSpPr>
          <p:nvPr>
            <p:ph type="pic" sz="quarter" idx="11"/>
          </p:nvPr>
        </p:nvSpPr>
        <p:spPr>
          <a:xfrm>
            <a:off x="6096000" y="3442580"/>
            <a:ext cx="5184775" cy="2794000"/>
          </a:xfrm>
          <a:prstGeom prst="rect">
            <a:avLst/>
          </a:prstGeom>
        </p:spPr>
        <p:txBody>
          <a:bodyPr/>
          <a:lstStyle/>
          <a:p>
            <a:endParaRPr lang="zh-CN" altLang="en-US"/>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任意多边形: 形状 4"/>
          <p:cNvSpPr>
            <a:spLocks noGrp="1"/>
          </p:cNvSpPr>
          <p:nvPr>
            <p:ph type="pic" sz="quarter" idx="10"/>
          </p:nvPr>
        </p:nvSpPr>
        <p:spPr>
          <a:xfrm>
            <a:off x="911226" y="0"/>
            <a:ext cx="4046365" cy="5067759"/>
          </a:xfrm>
          <a:custGeom>
            <a:avLst/>
            <a:gdLst>
              <a:gd name="connsiteX0" fmla="*/ 0 w 4046365"/>
              <a:gd name="connsiteY0" fmla="*/ 0 h 5067759"/>
              <a:gd name="connsiteX1" fmla="*/ 4046365 w 4046365"/>
              <a:gd name="connsiteY1" fmla="*/ 0 h 5067759"/>
              <a:gd name="connsiteX2" fmla="*/ 4046365 w 4046365"/>
              <a:gd name="connsiteY2" fmla="*/ 5067759 h 5067759"/>
              <a:gd name="connsiteX3" fmla="*/ 0 w 4046365"/>
              <a:gd name="connsiteY3" fmla="*/ 5067759 h 5067759"/>
            </a:gdLst>
            <a:ahLst/>
            <a:cxnLst>
              <a:cxn ang="0">
                <a:pos x="connsiteX0" y="connsiteY0"/>
              </a:cxn>
              <a:cxn ang="0">
                <a:pos x="connsiteX1" y="connsiteY1"/>
              </a:cxn>
              <a:cxn ang="0">
                <a:pos x="connsiteX2" y="connsiteY2"/>
              </a:cxn>
              <a:cxn ang="0">
                <a:pos x="connsiteX3" y="connsiteY3"/>
              </a:cxn>
            </a:cxnLst>
            <a:rect l="l" t="t" r="r" b="b"/>
            <a:pathLst>
              <a:path w="4046365" h="5067759">
                <a:moveTo>
                  <a:pt x="0" y="0"/>
                </a:moveTo>
                <a:lnTo>
                  <a:pt x="4046365" y="0"/>
                </a:lnTo>
                <a:lnTo>
                  <a:pt x="4046365" y="5067759"/>
                </a:lnTo>
                <a:lnTo>
                  <a:pt x="0" y="5067759"/>
                </a:lnTo>
                <a:close/>
              </a:path>
            </a:pathLst>
          </a:custGeom>
        </p:spPr>
        <p:txBody>
          <a:bodyPr wrap="square">
            <a:noAutofit/>
          </a:bodyPr>
          <a:lstStyle/>
          <a:p>
            <a:endParaRPr lang="zh-CN" altLang="en-US"/>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任意多边形: 形状 4"/>
          <p:cNvSpPr>
            <a:spLocks noGrp="1"/>
          </p:cNvSpPr>
          <p:nvPr>
            <p:ph type="pic" sz="quarter" idx="10"/>
          </p:nvPr>
        </p:nvSpPr>
        <p:spPr>
          <a:xfrm>
            <a:off x="3949560" y="635001"/>
            <a:ext cx="4292880" cy="4181475"/>
          </a:xfrm>
          <a:custGeom>
            <a:avLst/>
            <a:gdLst>
              <a:gd name="connsiteX0" fmla="*/ 0 w 4292880"/>
              <a:gd name="connsiteY0" fmla="*/ 0 h 4181475"/>
              <a:gd name="connsiteX1" fmla="*/ 4292880 w 4292880"/>
              <a:gd name="connsiteY1" fmla="*/ 0 h 4181475"/>
              <a:gd name="connsiteX2" fmla="*/ 4292880 w 4292880"/>
              <a:gd name="connsiteY2" fmla="*/ 4181475 h 4181475"/>
              <a:gd name="connsiteX3" fmla="*/ 0 w 4292880"/>
              <a:gd name="connsiteY3" fmla="*/ 4181475 h 4181475"/>
            </a:gdLst>
            <a:ahLst/>
            <a:cxnLst>
              <a:cxn ang="0">
                <a:pos x="connsiteX0" y="connsiteY0"/>
              </a:cxn>
              <a:cxn ang="0">
                <a:pos x="connsiteX1" y="connsiteY1"/>
              </a:cxn>
              <a:cxn ang="0">
                <a:pos x="connsiteX2" y="connsiteY2"/>
              </a:cxn>
              <a:cxn ang="0">
                <a:pos x="connsiteX3" y="connsiteY3"/>
              </a:cxn>
            </a:cxnLst>
            <a:rect l="l" t="t" r="r" b="b"/>
            <a:pathLst>
              <a:path w="4292880" h="4181475">
                <a:moveTo>
                  <a:pt x="0" y="0"/>
                </a:moveTo>
                <a:lnTo>
                  <a:pt x="4292880" y="0"/>
                </a:lnTo>
                <a:lnTo>
                  <a:pt x="4292880" y="4181475"/>
                </a:lnTo>
                <a:lnTo>
                  <a:pt x="0" y="4181475"/>
                </a:lnTo>
                <a:close/>
              </a:path>
            </a:pathLst>
          </a:custGeom>
        </p:spPr>
        <p:txBody>
          <a:bodyPr wrap="square">
            <a:noAutofit/>
          </a:bodyPr>
          <a:lstStyle/>
          <a:p>
            <a:endParaRPr lang="zh-CN" altLang="en-US"/>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任意多边形: 形状 5"/>
          <p:cNvSpPr>
            <a:spLocks noGrp="1"/>
          </p:cNvSpPr>
          <p:nvPr>
            <p:ph type="pic" sz="quarter" idx="10"/>
          </p:nvPr>
        </p:nvSpPr>
        <p:spPr>
          <a:xfrm>
            <a:off x="911225" y="3073706"/>
            <a:ext cx="5184775" cy="3127069"/>
          </a:xfrm>
          <a:custGeom>
            <a:avLst/>
            <a:gdLst>
              <a:gd name="connsiteX0" fmla="*/ 0 w 5184775"/>
              <a:gd name="connsiteY0" fmla="*/ 0 h 3127069"/>
              <a:gd name="connsiteX1" fmla="*/ 5184775 w 5184775"/>
              <a:gd name="connsiteY1" fmla="*/ 0 h 3127069"/>
              <a:gd name="connsiteX2" fmla="*/ 5184775 w 5184775"/>
              <a:gd name="connsiteY2" fmla="*/ 3127069 h 3127069"/>
              <a:gd name="connsiteX3" fmla="*/ 0 w 5184775"/>
              <a:gd name="connsiteY3" fmla="*/ 3127069 h 3127069"/>
            </a:gdLst>
            <a:ahLst/>
            <a:cxnLst>
              <a:cxn ang="0">
                <a:pos x="connsiteX0" y="connsiteY0"/>
              </a:cxn>
              <a:cxn ang="0">
                <a:pos x="connsiteX1" y="connsiteY1"/>
              </a:cxn>
              <a:cxn ang="0">
                <a:pos x="connsiteX2" y="connsiteY2"/>
              </a:cxn>
              <a:cxn ang="0">
                <a:pos x="connsiteX3" y="connsiteY3"/>
              </a:cxn>
            </a:cxnLst>
            <a:rect l="l" t="t" r="r" b="b"/>
            <a:pathLst>
              <a:path w="5184775" h="3127069">
                <a:moveTo>
                  <a:pt x="0" y="0"/>
                </a:moveTo>
                <a:lnTo>
                  <a:pt x="5184775" y="0"/>
                </a:lnTo>
                <a:lnTo>
                  <a:pt x="5184775" y="3127069"/>
                </a:lnTo>
                <a:lnTo>
                  <a:pt x="0" y="3127069"/>
                </a:lnTo>
                <a:close/>
              </a:path>
            </a:pathLst>
          </a:custGeom>
        </p:spPr>
        <p:txBody>
          <a:bodyPr wrap="square">
            <a:noAutofit/>
          </a:bodyPr>
          <a:lstStyle/>
          <a:p>
            <a:endParaRPr lang="zh-CN" altLang="en-US"/>
          </a:p>
        </p:txBody>
      </p:sp>
    </p:spTree>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407276" y="680545"/>
            <a:ext cx="3174124" cy="3704897"/>
          </a:xfrm>
        </p:spPr>
        <p:txBody>
          <a:bodyPr/>
          <a:lstStyle/>
          <a:p>
            <a:endParaRPr lang="zh-CN" altLang="en-US"/>
          </a:p>
        </p:txBody>
      </p:sp>
      <p:sp>
        <p:nvSpPr>
          <p:cNvPr id="3" name="图片占位符 2"/>
          <p:cNvSpPr>
            <a:spLocks noGrp="1"/>
          </p:cNvSpPr>
          <p:nvPr>
            <p:ph type="pic" sz="quarter" idx="11"/>
          </p:nvPr>
        </p:nvSpPr>
        <p:spPr>
          <a:xfrm>
            <a:off x="3794235" y="2685611"/>
            <a:ext cx="3174124" cy="3704897"/>
          </a:xfrm>
          <a:prstGeom prst="rect">
            <a:avLst/>
          </a:prstGeom>
        </p:spPr>
        <p:txBody>
          <a:bodyPr/>
          <a:lstStyle/>
          <a:p>
            <a:endParaRPr lang="zh-CN" altLang="en-US"/>
          </a:p>
        </p:txBody>
      </p:sp>
    </p:spTree>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4153679" y="2924081"/>
            <a:ext cx="1849696" cy="1364343"/>
          </a:xfrm>
        </p:spPr>
        <p:txBody>
          <a:bodyPr/>
          <a:lstStyle/>
          <a:p>
            <a:endParaRPr lang="zh-CN" altLang="en-US"/>
          </a:p>
        </p:txBody>
      </p:sp>
      <p:sp>
        <p:nvSpPr>
          <p:cNvPr id="4" name="图片占位符 3"/>
          <p:cNvSpPr>
            <a:spLocks noGrp="1"/>
          </p:cNvSpPr>
          <p:nvPr>
            <p:ph type="pic" sz="quarter" idx="11"/>
          </p:nvPr>
        </p:nvSpPr>
        <p:spPr>
          <a:xfrm>
            <a:off x="2227035" y="4836432"/>
            <a:ext cx="1849696" cy="1364343"/>
          </a:xfrm>
          <a:prstGeom prst="rect">
            <a:avLst/>
          </a:prstGeom>
        </p:spPr>
        <p:txBody>
          <a:bodyPr/>
          <a:lstStyle/>
          <a:p>
            <a:endParaRPr lang="zh-CN" altLang="en-US"/>
          </a:p>
        </p:txBody>
      </p:sp>
      <p:sp>
        <p:nvSpPr>
          <p:cNvPr id="5" name="图片占位符 4"/>
          <p:cNvSpPr>
            <a:spLocks noGrp="1"/>
          </p:cNvSpPr>
          <p:nvPr>
            <p:ph type="pic" sz="quarter" idx="12"/>
          </p:nvPr>
        </p:nvSpPr>
        <p:spPr>
          <a:xfrm>
            <a:off x="6188625" y="4836432"/>
            <a:ext cx="1849696" cy="1364343"/>
          </a:xfrm>
          <a:prstGeom prst="rect">
            <a:avLst/>
          </a:prstGeom>
        </p:spPr>
        <p:txBody>
          <a:bodyPr/>
          <a:lstStyle/>
          <a:p>
            <a:endParaRPr lang="zh-CN" altLang="en-US"/>
          </a:p>
        </p:txBody>
      </p:sp>
      <p:sp>
        <p:nvSpPr>
          <p:cNvPr id="6" name="图片占位符 5"/>
          <p:cNvSpPr>
            <a:spLocks noGrp="1"/>
          </p:cNvSpPr>
          <p:nvPr>
            <p:ph type="pic" sz="quarter" idx="13"/>
          </p:nvPr>
        </p:nvSpPr>
        <p:spPr>
          <a:xfrm>
            <a:off x="8115270" y="2924081"/>
            <a:ext cx="1849696" cy="1364343"/>
          </a:xfrm>
          <a:prstGeom prst="rect">
            <a:avLst/>
          </a:prstGeom>
        </p:spPr>
        <p:txBody>
          <a:bodyPr/>
          <a:lstStyle/>
          <a:p>
            <a:endParaRPr lang="zh-CN" altLang="en-US"/>
          </a:p>
        </p:txBody>
      </p:sp>
      <p:sp>
        <p:nvSpPr>
          <p:cNvPr id="7" name="图片占位符 6"/>
          <p:cNvSpPr>
            <a:spLocks noGrp="1"/>
          </p:cNvSpPr>
          <p:nvPr>
            <p:ph type="pic" sz="quarter" idx="14"/>
          </p:nvPr>
        </p:nvSpPr>
        <p:spPr>
          <a:xfrm>
            <a:off x="10150216" y="4836432"/>
            <a:ext cx="1849696" cy="1364343"/>
          </a:xfrm>
          <a:prstGeom prst="rect">
            <a:avLst/>
          </a:prstGeom>
        </p:spPr>
        <p:txBody>
          <a:bodyPr/>
          <a:lstStyle/>
          <a:p>
            <a:endParaRPr lang="zh-CN" altLang="en-US"/>
          </a:p>
        </p:txBody>
      </p:sp>
      <p:sp>
        <p:nvSpPr>
          <p:cNvPr id="8" name="图片占位符 7"/>
          <p:cNvSpPr>
            <a:spLocks noGrp="1"/>
          </p:cNvSpPr>
          <p:nvPr>
            <p:ph type="pic" sz="quarter" idx="15"/>
          </p:nvPr>
        </p:nvSpPr>
        <p:spPr>
          <a:xfrm>
            <a:off x="192088" y="2924081"/>
            <a:ext cx="1849696" cy="1364343"/>
          </a:xfrm>
          <a:prstGeom prst="rect">
            <a:avLst/>
          </a:prstGeom>
        </p:spPr>
        <p:txBody>
          <a:bodyPr/>
          <a:lstStyle/>
          <a:p>
            <a:endParaRPr lang="zh-CN" altLang="en-US"/>
          </a:p>
        </p:txBody>
      </p:sp>
    </p:spTree>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任意多边形: 形状 5"/>
          <p:cNvSpPr>
            <a:spLocks noGrp="1"/>
          </p:cNvSpPr>
          <p:nvPr>
            <p:ph type="pic" idx="10"/>
          </p:nvPr>
        </p:nvSpPr>
        <p:spPr>
          <a:xfrm>
            <a:off x="6096000" y="1268414"/>
            <a:ext cx="5459730" cy="1874838"/>
          </a:xfrm>
          <a:custGeom>
            <a:avLst/>
            <a:gdLst>
              <a:gd name="connsiteX0" fmla="*/ 0 w 5459730"/>
              <a:gd name="connsiteY0" fmla="*/ 0 h 1874837"/>
              <a:gd name="connsiteX1" fmla="*/ 5459730 w 5459730"/>
              <a:gd name="connsiteY1" fmla="*/ 0 h 1874837"/>
              <a:gd name="connsiteX2" fmla="*/ 5459730 w 5459730"/>
              <a:gd name="connsiteY2" fmla="*/ 1874837 h 1874837"/>
              <a:gd name="connsiteX3" fmla="*/ 0 w 5459730"/>
              <a:gd name="connsiteY3" fmla="*/ 1874837 h 1874837"/>
            </a:gdLst>
            <a:ahLst/>
            <a:cxnLst>
              <a:cxn ang="0">
                <a:pos x="connsiteX0" y="connsiteY0"/>
              </a:cxn>
              <a:cxn ang="0">
                <a:pos x="connsiteX1" y="connsiteY1"/>
              </a:cxn>
              <a:cxn ang="0">
                <a:pos x="connsiteX2" y="connsiteY2"/>
              </a:cxn>
              <a:cxn ang="0">
                <a:pos x="connsiteX3" y="connsiteY3"/>
              </a:cxn>
            </a:cxnLst>
            <a:rect l="l" t="t" r="r" b="b"/>
            <a:pathLst>
              <a:path w="5459730" h="1874837">
                <a:moveTo>
                  <a:pt x="0" y="0"/>
                </a:moveTo>
                <a:lnTo>
                  <a:pt x="5459730" y="0"/>
                </a:lnTo>
                <a:lnTo>
                  <a:pt x="5459730" y="1874837"/>
                </a:lnTo>
                <a:lnTo>
                  <a:pt x="0" y="1874837"/>
                </a:lnTo>
                <a:close/>
              </a:path>
            </a:pathLst>
          </a:custGeom>
        </p:spPr>
        <p:txBody>
          <a:bodyPr wrap="square">
            <a:noAutofit/>
          </a:bodyPr>
          <a:lstStyle/>
          <a:p>
            <a:endParaRPr lang="zh-CN" altLang="en-US"/>
          </a:p>
        </p:txBody>
      </p:sp>
    </p:spTree>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任意多边形: 形状 9"/>
          <p:cNvSpPr>
            <a:spLocks noGrp="1"/>
          </p:cNvSpPr>
          <p:nvPr>
            <p:ph type="pic" sz="quarter" idx="10"/>
          </p:nvPr>
        </p:nvSpPr>
        <p:spPr>
          <a:xfrm>
            <a:off x="7258050" y="4069080"/>
            <a:ext cx="1210661" cy="1086168"/>
          </a:xfrm>
          <a:custGeom>
            <a:avLst/>
            <a:gdLst>
              <a:gd name="connsiteX0" fmla="*/ 0 w 1210661"/>
              <a:gd name="connsiteY0" fmla="*/ 0 h 1086168"/>
              <a:gd name="connsiteX1" fmla="*/ 1210661 w 1210661"/>
              <a:gd name="connsiteY1" fmla="*/ 0 h 1086168"/>
              <a:gd name="connsiteX2" fmla="*/ 1210661 w 1210661"/>
              <a:gd name="connsiteY2" fmla="*/ 1086168 h 1086168"/>
              <a:gd name="connsiteX3" fmla="*/ 0 w 1210661"/>
              <a:gd name="connsiteY3" fmla="*/ 1086168 h 1086168"/>
            </a:gdLst>
            <a:ahLst/>
            <a:cxnLst>
              <a:cxn ang="0">
                <a:pos x="connsiteX0" y="connsiteY0"/>
              </a:cxn>
              <a:cxn ang="0">
                <a:pos x="connsiteX1" y="connsiteY1"/>
              </a:cxn>
              <a:cxn ang="0">
                <a:pos x="connsiteX2" y="connsiteY2"/>
              </a:cxn>
              <a:cxn ang="0">
                <a:pos x="connsiteX3" y="connsiteY3"/>
              </a:cxn>
            </a:cxnLst>
            <a:rect l="l" t="t" r="r" b="b"/>
            <a:pathLst>
              <a:path w="1210661" h="1086168">
                <a:moveTo>
                  <a:pt x="0" y="0"/>
                </a:moveTo>
                <a:lnTo>
                  <a:pt x="1210661" y="0"/>
                </a:lnTo>
                <a:lnTo>
                  <a:pt x="1210661" y="1086168"/>
                </a:lnTo>
                <a:lnTo>
                  <a:pt x="0" y="1086168"/>
                </a:lnTo>
                <a:close/>
              </a:path>
            </a:pathLst>
          </a:custGeom>
        </p:spPr>
        <p:txBody>
          <a:bodyPr wrap="square">
            <a:noAutofit/>
          </a:bodyPr>
          <a:lstStyle/>
          <a:p>
            <a:endParaRPr lang="zh-CN" altLang="en-US"/>
          </a:p>
        </p:txBody>
      </p:sp>
      <p:sp>
        <p:nvSpPr>
          <p:cNvPr id="11" name="任意多边形: 形状 10"/>
          <p:cNvSpPr>
            <a:spLocks noGrp="1"/>
          </p:cNvSpPr>
          <p:nvPr>
            <p:ph type="pic" sz="quarter" idx="11"/>
          </p:nvPr>
        </p:nvSpPr>
        <p:spPr>
          <a:xfrm>
            <a:off x="8664082" y="4069080"/>
            <a:ext cx="1210661" cy="1086168"/>
          </a:xfrm>
          <a:custGeom>
            <a:avLst/>
            <a:gdLst>
              <a:gd name="connsiteX0" fmla="*/ 0 w 1210661"/>
              <a:gd name="connsiteY0" fmla="*/ 0 h 1086168"/>
              <a:gd name="connsiteX1" fmla="*/ 1210661 w 1210661"/>
              <a:gd name="connsiteY1" fmla="*/ 0 h 1086168"/>
              <a:gd name="connsiteX2" fmla="*/ 1210661 w 1210661"/>
              <a:gd name="connsiteY2" fmla="*/ 1086168 h 1086168"/>
              <a:gd name="connsiteX3" fmla="*/ 0 w 1210661"/>
              <a:gd name="connsiteY3" fmla="*/ 1086168 h 1086168"/>
            </a:gdLst>
            <a:ahLst/>
            <a:cxnLst>
              <a:cxn ang="0">
                <a:pos x="connsiteX0" y="connsiteY0"/>
              </a:cxn>
              <a:cxn ang="0">
                <a:pos x="connsiteX1" y="connsiteY1"/>
              </a:cxn>
              <a:cxn ang="0">
                <a:pos x="connsiteX2" y="connsiteY2"/>
              </a:cxn>
              <a:cxn ang="0">
                <a:pos x="connsiteX3" y="connsiteY3"/>
              </a:cxn>
            </a:cxnLst>
            <a:rect l="l" t="t" r="r" b="b"/>
            <a:pathLst>
              <a:path w="1210661" h="1086168">
                <a:moveTo>
                  <a:pt x="0" y="0"/>
                </a:moveTo>
                <a:lnTo>
                  <a:pt x="1210661" y="0"/>
                </a:lnTo>
                <a:lnTo>
                  <a:pt x="1210661" y="1086168"/>
                </a:lnTo>
                <a:lnTo>
                  <a:pt x="0" y="1086168"/>
                </a:lnTo>
                <a:close/>
              </a:path>
            </a:pathLst>
          </a:custGeom>
        </p:spPr>
        <p:txBody>
          <a:bodyPr wrap="square">
            <a:noAutofit/>
          </a:bodyPr>
          <a:lstStyle/>
          <a:p>
            <a:endParaRPr lang="zh-CN" altLang="en-US"/>
          </a:p>
        </p:txBody>
      </p:sp>
      <p:sp>
        <p:nvSpPr>
          <p:cNvPr id="12" name="任意多边形: 形状 11"/>
          <p:cNvSpPr>
            <a:spLocks noGrp="1"/>
          </p:cNvSpPr>
          <p:nvPr>
            <p:ph type="pic" sz="quarter" idx="12"/>
          </p:nvPr>
        </p:nvSpPr>
        <p:spPr>
          <a:xfrm>
            <a:off x="10070114" y="4069080"/>
            <a:ext cx="1210661" cy="1086168"/>
          </a:xfrm>
          <a:custGeom>
            <a:avLst/>
            <a:gdLst>
              <a:gd name="connsiteX0" fmla="*/ 0 w 1210661"/>
              <a:gd name="connsiteY0" fmla="*/ 0 h 1086168"/>
              <a:gd name="connsiteX1" fmla="*/ 1210661 w 1210661"/>
              <a:gd name="connsiteY1" fmla="*/ 0 h 1086168"/>
              <a:gd name="connsiteX2" fmla="*/ 1210661 w 1210661"/>
              <a:gd name="connsiteY2" fmla="*/ 1086168 h 1086168"/>
              <a:gd name="connsiteX3" fmla="*/ 0 w 1210661"/>
              <a:gd name="connsiteY3" fmla="*/ 1086168 h 1086168"/>
            </a:gdLst>
            <a:ahLst/>
            <a:cxnLst>
              <a:cxn ang="0">
                <a:pos x="connsiteX0" y="connsiteY0"/>
              </a:cxn>
              <a:cxn ang="0">
                <a:pos x="connsiteX1" y="connsiteY1"/>
              </a:cxn>
              <a:cxn ang="0">
                <a:pos x="connsiteX2" y="connsiteY2"/>
              </a:cxn>
              <a:cxn ang="0">
                <a:pos x="connsiteX3" y="connsiteY3"/>
              </a:cxn>
            </a:cxnLst>
            <a:rect l="l" t="t" r="r" b="b"/>
            <a:pathLst>
              <a:path w="1210661" h="1086168">
                <a:moveTo>
                  <a:pt x="0" y="0"/>
                </a:moveTo>
                <a:lnTo>
                  <a:pt x="1210661" y="0"/>
                </a:lnTo>
                <a:lnTo>
                  <a:pt x="1210661" y="1086168"/>
                </a:lnTo>
                <a:lnTo>
                  <a:pt x="0" y="1086168"/>
                </a:lnTo>
                <a:close/>
              </a:path>
            </a:pathLst>
          </a:custGeom>
        </p:spPr>
        <p:txBody>
          <a:bodyPr wrap="square">
            <a:noAutofit/>
          </a:bodyPr>
          <a:lstStyle/>
          <a:p>
            <a:endParaRPr lang="zh-CN" altLang="en-US"/>
          </a:p>
        </p:txBody>
      </p:sp>
    </p:spTree>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6112316" y="0"/>
            <a:ext cx="6079684" cy="6051112"/>
          </a:xfrm>
        </p:spPr>
        <p:txBody>
          <a:bodyPr/>
          <a:lstStyle/>
          <a:p>
            <a:endParaRPr lang="zh-CN" altLang="en-US"/>
          </a:p>
        </p:txBody>
      </p:sp>
      <p:sp>
        <p:nvSpPr>
          <p:cNvPr id="3" name="图片占位符 2"/>
          <p:cNvSpPr>
            <a:spLocks noGrp="1"/>
          </p:cNvSpPr>
          <p:nvPr>
            <p:ph type="pic" sz="quarter" idx="11"/>
          </p:nvPr>
        </p:nvSpPr>
        <p:spPr>
          <a:xfrm>
            <a:off x="911227" y="4095751"/>
            <a:ext cx="3603625" cy="2105025"/>
          </a:xfrm>
          <a:prstGeom prst="rect">
            <a:avLst/>
          </a:prstGeom>
        </p:spPr>
        <p:txBody>
          <a:bodyPr/>
          <a:lstStyle/>
          <a:p>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2023/11/28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Pemrograman Platform Khusus</a:t>
            </a: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hemeOverride" Target="../theme/themeOverride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hemeOverride" Target="../theme/themeOverride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hemeOverride" Target="../theme/themeOverride5.xml"/></Relationships>
</file>

<file path=ppt/slides/_rels/slide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hemeOverride" Target="../theme/themeOverride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hemeOverride" Target="../theme/themeOverr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635" y="3803015"/>
            <a:ext cx="12190730" cy="829945"/>
          </a:xfrm>
          <a:prstGeom prst="rect">
            <a:avLst/>
          </a:prstGeom>
          <a:noFill/>
        </p:spPr>
        <p:txBody>
          <a:bodyPr wrap="square" rtlCol="0">
            <a:spAutoFit/>
          </a:bodyPr>
          <a:lstStyle/>
          <a:p>
            <a:pPr algn="ctr"/>
            <a:r>
              <a:rPr lang="en-US" altLang="zh-CN" sz="4800" dirty="0">
                <a:solidFill>
                  <a:srgbClr val="3DDC84"/>
                </a:solidFill>
                <a:latin typeface="Open Sans Semibold" panose="020B0706030804020204" charset="0"/>
                <a:cs typeface="Open Sans Semibold" panose="020B0706030804020204" charset="0"/>
              </a:rPr>
              <a:t>Android Service</a:t>
            </a:r>
            <a:endParaRPr lang="en-US" altLang="zh-CN" sz="4800" b="1" dirty="0">
              <a:solidFill>
                <a:srgbClr val="3DDC84"/>
              </a:solidFill>
              <a:latin typeface="Open Sans Semibold" panose="020B0706030804020204" charset="0"/>
              <a:cs typeface="Open Sans Semibold" panose="020B0706030804020204" charset="0"/>
            </a:endParaRPr>
          </a:p>
        </p:txBody>
      </p:sp>
      <p:sp>
        <p:nvSpPr>
          <p:cNvPr id="27" name="矩形 26"/>
          <p:cNvSpPr/>
          <p:nvPr/>
        </p:nvSpPr>
        <p:spPr>
          <a:xfrm>
            <a:off x="3048635" y="5723329"/>
            <a:ext cx="6096000" cy="891540"/>
          </a:xfrm>
          <a:prstGeom prst="rect">
            <a:avLst/>
          </a:prstGeom>
        </p:spPr>
        <p:txBody>
          <a:bodyPr>
            <a:spAutoFit/>
          </a:bodyPr>
          <a:lstStyle/>
          <a:p>
            <a:pPr algn="ctr">
              <a:lnSpc>
                <a:spcPct val="100000"/>
              </a:lnSpc>
            </a:pPr>
            <a:endParaRPr lang="en-US" altLang="zh-CN" b="1" dirty="0">
              <a:solidFill>
                <a:schemeClr val="bg1">
                  <a:lumMod val="65000"/>
                </a:schemeClr>
              </a:solidFill>
            </a:endParaRPr>
          </a:p>
          <a:p>
            <a:pPr algn="ctr">
              <a:lnSpc>
                <a:spcPct val="100000"/>
              </a:lnSpc>
            </a:pPr>
            <a:r>
              <a:rPr lang="en-US" altLang="zh-CN" b="1" dirty="0">
                <a:solidFill>
                  <a:schemeClr val="bg1">
                    <a:lumMod val="65000"/>
                  </a:schemeClr>
                </a:solidFill>
              </a:rPr>
              <a:t>Pemrograman Platform Khusus</a:t>
            </a:r>
            <a:endParaRPr lang="en-US" altLang="zh-CN" sz="1600" dirty="0">
              <a:solidFill>
                <a:schemeClr val="bg1">
                  <a:lumMod val="65000"/>
                </a:schemeClr>
              </a:solidFill>
            </a:endParaRPr>
          </a:p>
          <a:p>
            <a:pPr algn="ctr">
              <a:lnSpc>
                <a:spcPct val="100000"/>
              </a:lnSpc>
            </a:pPr>
            <a:r>
              <a:rPr lang="en-US" altLang="zh-CN" sz="1600" dirty="0">
                <a:solidFill>
                  <a:schemeClr val="bg1">
                    <a:lumMod val="65000"/>
                  </a:schemeClr>
                </a:solidFill>
              </a:rPr>
              <a:t>Politeknik Statistika STIS, 2023</a:t>
            </a:r>
          </a:p>
        </p:txBody>
      </p:sp>
      <p:pic>
        <p:nvPicPr>
          <p:cNvPr id="2" name="Picture 1"/>
          <p:cNvPicPr/>
          <p:nvPr/>
        </p:nvPicPr>
        <p:blipFill>
          <a:blip r:embed="rId4"/>
          <a:stretch>
            <a:fillRect/>
          </a:stretch>
        </p:blipFill>
        <p:spPr>
          <a:xfrm>
            <a:off x="4205605" y="1621155"/>
            <a:ext cx="3780790" cy="218186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DDC84"/>
        </a:solidFill>
        <a:effectLst/>
      </p:bgPr>
    </p:bg>
    <p:spTree>
      <p:nvGrpSpPr>
        <p:cNvPr id="1" name=""/>
        <p:cNvGrpSpPr/>
        <p:nvPr/>
      </p:nvGrpSpPr>
      <p:grpSpPr>
        <a:xfrm>
          <a:off x="0" y="0"/>
          <a:ext cx="0" cy="0"/>
          <a:chOff x="0" y="0"/>
          <a:chExt cx="0" cy="0"/>
        </a:xfrm>
      </p:grpSpPr>
      <p:sp>
        <p:nvSpPr>
          <p:cNvPr id="26" name="文本框 25"/>
          <p:cNvSpPr txBox="1"/>
          <p:nvPr/>
        </p:nvSpPr>
        <p:spPr>
          <a:xfrm>
            <a:off x="1366520" y="1721485"/>
            <a:ext cx="9458325" cy="3846195"/>
          </a:xfrm>
          <a:prstGeom prst="rect">
            <a:avLst/>
          </a:prstGeom>
          <a:noFill/>
        </p:spPr>
        <p:txBody>
          <a:bodyPr wrap="square" rtlCol="0">
            <a:spAutoFit/>
          </a:bodyPr>
          <a:lstStyle/>
          <a:p>
            <a:pPr algn="ctr"/>
            <a:r>
              <a:rPr lang="en-US" altLang="zh-CN" sz="4800" dirty="0">
                <a:solidFill>
                  <a:schemeClr val="bg1"/>
                </a:solidFill>
                <a:latin typeface="Open Sans Semibold" panose="020B0706030804020204" charset="0"/>
                <a:cs typeface="Open Sans Semibold" panose="020B0706030804020204" charset="0"/>
              </a:rPr>
              <a:t>Android Service</a:t>
            </a:r>
          </a:p>
          <a:p>
            <a:pPr algn="ctr"/>
            <a:r>
              <a:rPr lang="en-US" sz="2800">
                <a:solidFill>
                  <a:schemeClr val="bg1"/>
                </a:solidFill>
                <a:latin typeface="Open Sans" panose="020B0606030504020204" charset="0"/>
                <a:cs typeface="Open Sans" panose="020B0606030504020204" charset="0"/>
                <a:sym typeface="+mn-ea"/>
              </a:rPr>
              <a:t>“Sebuah komponen aplikasi yang bisa melakukan operasi yang berjalan lama di latar belakang dan tidak menyediakan antarmuka pengguna.”</a:t>
            </a:r>
          </a:p>
          <a:p>
            <a:pPr algn="ctr"/>
            <a:endParaRPr lang="en-US" sz="2800">
              <a:solidFill>
                <a:schemeClr val="bg1"/>
              </a:solidFill>
              <a:latin typeface="Open Sans" panose="020B0606030504020204" charset="0"/>
              <a:cs typeface="Open Sans" panose="020B0606030504020204" charset="0"/>
              <a:sym typeface="+mn-ea"/>
            </a:endParaRPr>
          </a:p>
          <a:p>
            <a:pPr algn="ctr"/>
            <a:r>
              <a:rPr lang="en-US" sz="2800">
                <a:solidFill>
                  <a:schemeClr val="bg1"/>
                </a:solidFill>
                <a:latin typeface="Open Sans" panose="020B0606030504020204" charset="0"/>
                <a:cs typeface="Open Sans" panose="020B0606030504020204" charset="0"/>
                <a:sym typeface="+mn-ea"/>
              </a:rPr>
              <a:t>Komponen aplikasi lain bisa memulai layanan dan komponen aplikasi tersebut akan terus berjalan di latar belakang walaupun pengguna beralih ke aplikasi lain.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Tipe Service</a:t>
            </a:r>
            <a:endParaRPr lang="en-US" sz="4000" b="1">
              <a:sym typeface="+mn-ea"/>
            </a:endParaRPr>
          </a:p>
        </p:txBody>
      </p:sp>
      <p:sp>
        <p:nvSpPr>
          <p:cNvPr id="4" name="Rectangles 3"/>
          <p:cNvSpPr/>
          <p:nvPr/>
        </p:nvSpPr>
        <p:spPr>
          <a:xfrm>
            <a:off x="3930015" y="2808605"/>
            <a:ext cx="2397125" cy="1241425"/>
          </a:xfrm>
          <a:prstGeom prst="rect">
            <a:avLst/>
          </a:prstGeom>
          <a:solidFill>
            <a:srgbClr val="3DDC84"/>
          </a:solidFill>
          <a:ln>
            <a:solidFill>
              <a:srgbClr val="3DDC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Open Sans Semibold" panose="020B0706030804020204" charset="0"/>
                <a:cs typeface="Open Sans Semibold" panose="020B0706030804020204" charset="0"/>
              </a:rPr>
              <a:t>Android Services</a:t>
            </a:r>
          </a:p>
        </p:txBody>
      </p:sp>
      <p:sp>
        <p:nvSpPr>
          <p:cNvPr id="5" name="Rectangles 4"/>
          <p:cNvSpPr/>
          <p:nvPr/>
        </p:nvSpPr>
        <p:spPr>
          <a:xfrm>
            <a:off x="8517255" y="2807970"/>
            <a:ext cx="2397125" cy="1241425"/>
          </a:xfrm>
          <a:prstGeom prst="rect">
            <a:avLst/>
          </a:prstGeom>
          <a:noFill/>
          <a:ln>
            <a:solidFill>
              <a:srgbClr val="3DDC84"/>
            </a:solidFill>
          </a:ln>
          <a:extLst>
            <a:ext uri="{909E8E84-426E-40DD-AFC4-6F175D3DCCD1}">
              <a14:hiddenFill xmlns:a14="http://schemas.microsoft.com/office/drawing/2010/main">
                <a:solidFill>
                  <a:srgbClr val="3DDC8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bg1">
                    <a:lumMod val="50000"/>
                  </a:schemeClr>
                </a:solidFill>
                <a:latin typeface="Open Sans Semibold" panose="020B0706030804020204" charset="0"/>
                <a:cs typeface="Open Sans Semibold" panose="020B0706030804020204" charset="0"/>
              </a:rPr>
              <a:t>Background Service</a:t>
            </a:r>
          </a:p>
        </p:txBody>
      </p:sp>
      <p:sp>
        <p:nvSpPr>
          <p:cNvPr id="6" name="Rectangles 5"/>
          <p:cNvSpPr/>
          <p:nvPr/>
        </p:nvSpPr>
        <p:spPr>
          <a:xfrm>
            <a:off x="8517255" y="785495"/>
            <a:ext cx="2397125" cy="1241425"/>
          </a:xfrm>
          <a:prstGeom prst="rect">
            <a:avLst/>
          </a:prstGeom>
          <a:noFill/>
          <a:ln>
            <a:solidFill>
              <a:srgbClr val="3DDC84"/>
            </a:solidFill>
          </a:ln>
          <a:extLst>
            <a:ext uri="{909E8E84-426E-40DD-AFC4-6F175D3DCCD1}">
              <a14:hiddenFill xmlns:a14="http://schemas.microsoft.com/office/drawing/2010/main">
                <a:solidFill>
                  <a:srgbClr val="3DDC8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bg1">
                    <a:lumMod val="50000"/>
                  </a:schemeClr>
                </a:solidFill>
                <a:latin typeface="Open Sans Semibold" panose="020B0706030804020204" charset="0"/>
                <a:cs typeface="Open Sans Semibold" panose="020B0706030804020204" charset="0"/>
              </a:rPr>
              <a:t>Foreground Service</a:t>
            </a:r>
          </a:p>
        </p:txBody>
      </p:sp>
      <p:sp>
        <p:nvSpPr>
          <p:cNvPr id="7" name="Rectangles 6"/>
          <p:cNvSpPr/>
          <p:nvPr/>
        </p:nvSpPr>
        <p:spPr>
          <a:xfrm>
            <a:off x="8517255" y="4830445"/>
            <a:ext cx="2397125" cy="1241425"/>
          </a:xfrm>
          <a:prstGeom prst="rect">
            <a:avLst/>
          </a:prstGeom>
          <a:noFill/>
          <a:ln>
            <a:solidFill>
              <a:srgbClr val="3DDC84"/>
            </a:solidFill>
          </a:ln>
          <a:extLst>
            <a:ext uri="{909E8E84-426E-40DD-AFC4-6F175D3DCCD1}">
              <a14:hiddenFill xmlns:a14="http://schemas.microsoft.com/office/drawing/2010/main">
                <a:solidFill>
                  <a:srgbClr val="3DDC8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bg1">
                    <a:lumMod val="50000"/>
                  </a:schemeClr>
                </a:solidFill>
                <a:latin typeface="Open Sans Semibold" panose="020B0706030804020204" charset="0"/>
                <a:cs typeface="Open Sans Semibold" panose="020B0706030804020204" charset="0"/>
              </a:rPr>
              <a:t>Bound </a:t>
            </a:r>
          </a:p>
          <a:p>
            <a:pPr algn="ctr"/>
            <a:r>
              <a:rPr lang="en-US" sz="2400">
                <a:solidFill>
                  <a:schemeClr val="bg1">
                    <a:lumMod val="50000"/>
                  </a:schemeClr>
                </a:solidFill>
                <a:latin typeface="Open Sans Semibold" panose="020B0706030804020204" charset="0"/>
                <a:cs typeface="Open Sans Semibold" panose="020B0706030804020204" charset="0"/>
              </a:rPr>
              <a:t>Service</a:t>
            </a:r>
          </a:p>
        </p:txBody>
      </p:sp>
      <p:cxnSp>
        <p:nvCxnSpPr>
          <p:cNvPr id="9" name="Straight Arrow Connector 8"/>
          <p:cNvCxnSpPr>
            <a:stCxn id="4" idx="3"/>
            <a:endCxn id="6" idx="1"/>
          </p:cNvCxnSpPr>
          <p:nvPr/>
        </p:nvCxnSpPr>
        <p:spPr>
          <a:xfrm flipV="1">
            <a:off x="6327140" y="1406525"/>
            <a:ext cx="2190115" cy="2023110"/>
          </a:xfrm>
          <a:prstGeom prst="straightConnector1">
            <a:avLst/>
          </a:prstGeom>
          <a:ln>
            <a:solidFill>
              <a:srgbClr val="3DDC84"/>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3"/>
            <a:endCxn id="5" idx="1"/>
          </p:cNvCxnSpPr>
          <p:nvPr/>
        </p:nvCxnSpPr>
        <p:spPr>
          <a:xfrm flipV="1">
            <a:off x="6327140" y="3429000"/>
            <a:ext cx="2190115" cy="635"/>
          </a:xfrm>
          <a:prstGeom prst="straightConnector1">
            <a:avLst/>
          </a:prstGeom>
          <a:ln>
            <a:solidFill>
              <a:srgbClr val="3DDC84"/>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 idx="3"/>
            <a:endCxn id="7" idx="1"/>
          </p:cNvCxnSpPr>
          <p:nvPr/>
        </p:nvCxnSpPr>
        <p:spPr>
          <a:xfrm>
            <a:off x="6327140" y="3429635"/>
            <a:ext cx="2190115" cy="2021840"/>
          </a:xfrm>
          <a:prstGeom prst="straightConnector1">
            <a:avLst/>
          </a:prstGeom>
          <a:ln>
            <a:solidFill>
              <a:srgbClr val="3DDC84"/>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Foreground Service</a:t>
            </a:r>
            <a:endParaRPr lang="en-US" sz="4000" b="1">
              <a:sym typeface="+mn-ea"/>
            </a:endParaRPr>
          </a:p>
        </p:txBody>
      </p:sp>
      <p:sp>
        <p:nvSpPr>
          <p:cNvPr id="5" name="Text Box 4"/>
          <p:cNvSpPr txBox="1"/>
          <p:nvPr/>
        </p:nvSpPr>
        <p:spPr>
          <a:xfrm>
            <a:off x="4049395" y="920750"/>
            <a:ext cx="7451725" cy="5015865"/>
          </a:xfrm>
          <a:prstGeom prst="rect">
            <a:avLst/>
          </a:prstGeom>
          <a:noFill/>
        </p:spPr>
        <p:txBody>
          <a:bodyPr wrap="square" rtlCol="0">
            <a:spAutoFit/>
          </a:bodyPr>
          <a:lstStyle/>
          <a:p>
            <a:pPr marL="342900" indent="-342900">
              <a:buFont typeface="Arial" panose="020B0604020202020204" pitchFamily="34" charset="0"/>
              <a:buChar char="•"/>
            </a:pPr>
            <a:r>
              <a:rPr lang="en-US" sz="2000">
                <a:latin typeface="Open Sans" panose="020B0606030504020204" charset="0"/>
                <a:cs typeface="Open Sans" panose="020B0606030504020204" charset="0"/>
              </a:rPr>
              <a:t>Service yang menjalankan suatu operasi yang terlihat oleh pengguna. </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rPr>
              <a:t>Service ini ditampilkan pada notifikasi sehingga pengguna sadar bahwa sedang ada proses yang berjalan.</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rPr>
              <a:t>Pengguna dapat berinteraksi dengan service melalui notifikasi tentang proses yang sedang berjalan.</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rPr>
              <a:t>Contoh:</a:t>
            </a:r>
          </a:p>
          <a:p>
            <a:pPr marL="800100" lvl="1" indent="-342900">
              <a:buFont typeface="Arial" panose="020B0604020202020204" pitchFamily="34" charset="0"/>
              <a:buChar char="•"/>
            </a:pPr>
            <a:r>
              <a:rPr lang="en-US" sz="2000">
                <a:latin typeface="Open Sans" panose="020B0606030504020204" charset="0"/>
                <a:cs typeface="Open Sans" panose="020B0606030504020204" charset="0"/>
              </a:rPr>
              <a:t>Ketika mendownload suatu file, pengguna dapat memantau progres download dan menghentikan/melanjutkan prosesnya.</a:t>
            </a:r>
          </a:p>
          <a:p>
            <a:pPr marL="800100" lvl="1" indent="-342900">
              <a:buFont typeface="Arial" panose="020B0604020202020204" pitchFamily="34" charset="0"/>
              <a:buChar char="•"/>
            </a:pPr>
            <a:r>
              <a:rPr lang="en-US" sz="2000">
                <a:latin typeface="Open Sans" panose="020B0606030504020204" charset="0"/>
                <a:cs typeface="Open Sans" panose="020B0606030504020204" charset="0"/>
              </a:rPr>
              <a:t>Aplikasi audio menggunakan service untuk memutar audio dan menampilkan di notifikasi. Audio tetap bejalan walaupun pengguna tidak berinteraksi.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Background Service</a:t>
            </a:r>
            <a:endParaRPr lang="en-US" sz="4000" b="1">
              <a:sym typeface="+mn-ea"/>
            </a:endParaRPr>
          </a:p>
        </p:txBody>
      </p:sp>
      <p:sp>
        <p:nvSpPr>
          <p:cNvPr id="5" name="Text Box 4"/>
          <p:cNvSpPr txBox="1"/>
          <p:nvPr/>
        </p:nvSpPr>
        <p:spPr>
          <a:xfrm>
            <a:off x="3973830" y="2613660"/>
            <a:ext cx="7451725" cy="1630045"/>
          </a:xfrm>
          <a:prstGeom prst="rect">
            <a:avLst/>
          </a:prstGeom>
          <a:noFill/>
        </p:spPr>
        <p:txBody>
          <a:bodyPr wrap="square" rtlCol="0">
            <a:spAutoFit/>
          </a:bodyPr>
          <a:lstStyle/>
          <a:p>
            <a:pPr marL="342900" indent="-342900">
              <a:buFont typeface="Arial" panose="020B0604020202020204" pitchFamily="34" charset="0"/>
              <a:buChar char="•"/>
            </a:pPr>
            <a:r>
              <a:rPr lang="en-US" sz="2000">
                <a:latin typeface="Open Sans" panose="020B0606030504020204" charset="0"/>
                <a:cs typeface="Open Sans" panose="020B0606030504020204" charset="0"/>
              </a:rPr>
              <a:t>Service yang menjalankan suatu operasi yang tidak terlihat secara langsung oleh pengguna. </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rPr>
              <a:t>Contoh:</a:t>
            </a:r>
          </a:p>
          <a:p>
            <a:pPr marL="800100" lvl="1" indent="-342900">
              <a:buFont typeface="Arial" panose="020B0604020202020204" pitchFamily="34" charset="0"/>
              <a:buChar char="•"/>
            </a:pPr>
            <a:r>
              <a:rPr lang="en-US" sz="2000">
                <a:latin typeface="Open Sans" panose="020B0606030504020204" charset="0"/>
                <a:cs typeface="Open Sans" panose="020B0606030504020204" charset="0"/>
              </a:rPr>
              <a:t>Sinkronisasi data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Bound Service</a:t>
            </a:r>
            <a:endParaRPr lang="en-US" sz="4000" b="1">
              <a:sym typeface="+mn-ea"/>
            </a:endParaRPr>
          </a:p>
        </p:txBody>
      </p:sp>
      <p:sp>
        <p:nvSpPr>
          <p:cNvPr id="5" name="Text Box 4"/>
          <p:cNvSpPr txBox="1"/>
          <p:nvPr/>
        </p:nvSpPr>
        <p:spPr>
          <a:xfrm>
            <a:off x="3930650" y="1501140"/>
            <a:ext cx="7451725" cy="4707890"/>
          </a:xfrm>
          <a:prstGeom prst="rect">
            <a:avLst/>
          </a:prstGeom>
          <a:noFill/>
        </p:spPr>
        <p:txBody>
          <a:bodyPr wrap="square" rtlCol="0">
            <a:spAutoFit/>
          </a:bodyPr>
          <a:lstStyle/>
          <a:p>
            <a:pPr marL="342900" indent="-342900">
              <a:buFont typeface="Arial" panose="020B0604020202020204" pitchFamily="34" charset="0"/>
              <a:buChar char="•"/>
            </a:pPr>
            <a:r>
              <a:rPr lang="en-US" sz="2000">
                <a:latin typeface="Open Sans" panose="020B0606030504020204" charset="0"/>
                <a:cs typeface="Open Sans" panose="020B0606030504020204" charset="0"/>
              </a:rPr>
              <a:t>Sebuah layanan akan terikat bila komponen aplikasi mengikatkan kepadanya dengan memanggil bindService().</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i="1">
                <a:latin typeface="Open Sans" panose="020B0606030504020204" charset="0"/>
                <a:cs typeface="Open Sans" panose="020B0606030504020204" charset="0"/>
              </a:rPr>
              <a:t>Bound service</a:t>
            </a:r>
            <a:r>
              <a:rPr lang="en-US" sz="2000">
                <a:latin typeface="Open Sans" panose="020B0606030504020204" charset="0"/>
                <a:cs typeface="Open Sans" panose="020B0606030504020204" charset="0"/>
              </a:rPr>
              <a:t> menawarkan antarmuka klien-server yang memungkinkan komponen berinteraksi dengan service tersebut, mengirim permintaan, mendapatkan hasil dan bahkan melakukannya pada sejumlah proses dengan komunikasi antarproses (IPC). </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i="1">
                <a:latin typeface="Open Sans" panose="020B0606030504020204" charset="0"/>
                <a:cs typeface="Open Sans" panose="020B0606030504020204" charset="0"/>
              </a:rPr>
              <a:t>Bound service</a:t>
            </a:r>
            <a:r>
              <a:rPr lang="en-US" sz="2000">
                <a:latin typeface="Open Sans" panose="020B0606030504020204" charset="0"/>
                <a:cs typeface="Open Sans" panose="020B0606030504020204" charset="0"/>
              </a:rPr>
              <a:t> hanya berjalan selama komponen aplikasi terikat padanya. </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rPr>
              <a:t>Beberapa komponen bisa diikat ke layanan sekaligus, namun bila semuanya telah dilepas, layanan akan dimusnahkan.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Class Service</a:t>
            </a:r>
            <a:endParaRPr lang="en-US" sz="4000" b="1">
              <a:sym typeface="+mn-ea"/>
            </a:endParaRPr>
          </a:p>
        </p:txBody>
      </p:sp>
      <p:sp>
        <p:nvSpPr>
          <p:cNvPr id="7" name="Text Box 6"/>
          <p:cNvSpPr txBox="1"/>
          <p:nvPr/>
        </p:nvSpPr>
        <p:spPr>
          <a:xfrm>
            <a:off x="3926840" y="372745"/>
            <a:ext cx="7561580" cy="2245360"/>
          </a:xfrm>
          <a:prstGeom prst="rect">
            <a:avLst/>
          </a:prstGeom>
          <a:noFill/>
        </p:spPr>
        <p:txBody>
          <a:bodyPr wrap="square" rtlCol="0" anchor="t">
            <a:spAutoFit/>
          </a:bodyPr>
          <a:lstStyle/>
          <a:p>
            <a:pPr marL="342900" indent="-342900">
              <a:buFont typeface="Arial" panose="020B0604020202020204" pitchFamily="34" charset="0"/>
              <a:buChar char="•"/>
            </a:pPr>
            <a:r>
              <a:rPr lang="en-US" sz="2000">
                <a:latin typeface="Open Sans" panose="020B0606030504020204" charset="0"/>
                <a:cs typeface="Open Sans" panose="020B0606030504020204" charset="0"/>
              </a:rPr>
              <a:t>Service dapat dibuat dengan membuat kelas turunan dari </a:t>
            </a:r>
            <a:r>
              <a:rPr lang="en-US" sz="2000" b="1">
                <a:latin typeface="Consolas" panose="020B0609020204030204" charset="0"/>
                <a:cs typeface="Consolas" panose="020B0609020204030204" charset="0"/>
              </a:rPr>
              <a:t>android.app.Service</a:t>
            </a:r>
          </a:p>
          <a:p>
            <a:pPr marL="342900" indent="-342900">
              <a:buFont typeface="Arial" panose="020B0604020202020204" pitchFamily="34" charset="0"/>
              <a:buChar char="•"/>
            </a:pPr>
            <a:endParaRPr lang="en-US" sz="2000" b="1">
              <a:latin typeface="Consolas" panose="020B0609020204030204" charset="0"/>
              <a:cs typeface="Consolas" panose="020B060902020403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rPr>
              <a:t>Beberapa method perlu diimplementasikan untuk menangani lifecycle service seperti: </a:t>
            </a:r>
          </a:p>
          <a:p>
            <a:pPr lvl="1" indent="0">
              <a:buFont typeface="Arial" panose="020B0604020202020204" pitchFamily="34" charset="0"/>
              <a:buNone/>
            </a:pPr>
            <a:r>
              <a:rPr lang="en-US" sz="2000" b="1">
                <a:latin typeface="Consolas" panose="020B0609020204030204" charset="0"/>
                <a:cs typeface="Consolas" panose="020B0609020204030204" charset="0"/>
              </a:rPr>
              <a:t>onStartCommand(), onCreate, onBind(), dan onDestroy()</a:t>
            </a:r>
          </a:p>
        </p:txBody>
      </p:sp>
      <p:pic>
        <p:nvPicPr>
          <p:cNvPr id="11" name="Picture Placeholder 10"/>
          <p:cNvPicPr>
            <a:picLocks noGrp="1" noChangeAspect="1"/>
          </p:cNvPicPr>
          <p:nvPr>
            <p:ph type="pic" idx="10"/>
          </p:nvPr>
        </p:nvPicPr>
        <p:blipFill>
          <a:blip r:embed="rId2"/>
          <a:stretch>
            <a:fillRect/>
          </a:stretch>
        </p:blipFill>
        <p:spPr>
          <a:xfrm>
            <a:off x="3926840" y="2618105"/>
            <a:ext cx="6550660" cy="4067810"/>
          </a:xfrm>
          <a:prstGeom prst="rect">
            <a:avLst/>
          </a:prstGeom>
          <a:ln>
            <a:solidFill>
              <a:srgbClr val="3DDC84"/>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Lifecycle of Service</a:t>
            </a:r>
            <a:endParaRPr lang="en-US" sz="4000" b="1">
              <a:sym typeface="+mn-ea"/>
            </a:endParaRPr>
          </a:p>
        </p:txBody>
      </p:sp>
      <p:pic>
        <p:nvPicPr>
          <p:cNvPr id="100" name="Picture Placeholder 99"/>
          <p:cNvPicPr>
            <a:picLocks noGrp="1"/>
          </p:cNvPicPr>
          <p:nvPr>
            <p:ph type="pic" idx="10"/>
          </p:nvPr>
        </p:nvPicPr>
        <p:blipFill>
          <a:blip r:embed="rId2"/>
          <a:stretch>
            <a:fillRect/>
          </a:stretch>
        </p:blipFill>
        <p:spPr>
          <a:xfrm>
            <a:off x="5438775" y="415290"/>
            <a:ext cx="3281045" cy="602678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Lifecycle of Service</a:t>
            </a:r>
            <a:endParaRPr lang="en-US" sz="4000" b="1">
              <a:sym typeface="+mn-ea"/>
            </a:endParaRPr>
          </a:p>
        </p:txBody>
      </p:sp>
      <p:sp>
        <p:nvSpPr>
          <p:cNvPr id="2" name="Text Box 1"/>
          <p:cNvSpPr txBox="1"/>
          <p:nvPr/>
        </p:nvSpPr>
        <p:spPr>
          <a:xfrm>
            <a:off x="3767455" y="1382395"/>
            <a:ext cx="7301865" cy="4092575"/>
          </a:xfrm>
          <a:prstGeom prst="rect">
            <a:avLst/>
          </a:prstGeom>
          <a:noFill/>
        </p:spPr>
        <p:txBody>
          <a:bodyPr wrap="square" rtlCol="0" anchor="t">
            <a:spAutoFit/>
          </a:bodyPr>
          <a:lstStyle/>
          <a:p>
            <a:r>
              <a:rPr lang="en-US" sz="2000" b="1">
                <a:latin typeface="Open Sans" panose="020B0606030504020204" charset="0"/>
                <a:cs typeface="Open Sans" panose="020B0606030504020204" charset="0"/>
              </a:rPr>
              <a:t>onStartCommand()</a:t>
            </a:r>
            <a:endParaRPr lang="en-US" b="1">
              <a:latin typeface="Open Sans" panose="020B0606030504020204" charset="0"/>
              <a:cs typeface="Open Sans" panose="020B0606030504020204" charset="0"/>
            </a:endParaRPr>
          </a:p>
          <a:p>
            <a:pPr marL="285750" indent="-285750">
              <a:buFont typeface="Arial" panose="020B0604020202020204" pitchFamily="34" charset="0"/>
              <a:buChar char="•"/>
            </a:pPr>
            <a:r>
              <a:rPr lang="en-US" sz="2000">
                <a:latin typeface="Open Sans" panose="020B0606030504020204" charset="0"/>
                <a:cs typeface="Open Sans" panose="020B0606030504020204" charset="0"/>
              </a:rPr>
              <a:t>Method ini akan dipanggil ketika komponen lain meminta agar service dijalankan.</a:t>
            </a:r>
          </a:p>
          <a:p>
            <a:pPr marL="285750" indent="-285750">
              <a:buFont typeface="Arial" panose="020B0604020202020204" pitchFamily="34" charset="0"/>
              <a:buChar char="•"/>
            </a:pPr>
            <a:endParaRPr lang="en-US" sz="2000">
              <a:latin typeface="Open Sans" panose="020B0606030504020204" charset="0"/>
              <a:cs typeface="Open Sans" panose="020B0606030504020204" charset="0"/>
            </a:endParaRPr>
          </a:p>
          <a:p>
            <a:pPr marL="285750" indent="-285750">
              <a:buFont typeface="Arial" panose="020B0604020202020204" pitchFamily="34" charset="0"/>
              <a:buChar char="•"/>
            </a:pPr>
            <a:r>
              <a:rPr lang="en-US" sz="2000">
                <a:latin typeface="Open Sans" panose="020B0606030504020204" charset="0"/>
                <a:cs typeface="Open Sans" panose="020B0606030504020204" charset="0"/>
              </a:rPr>
              <a:t>Jika metode ini dieksekusi, layanan akan dimulai dan bisa berjalan di latar belakang terus-menerus. </a:t>
            </a:r>
          </a:p>
          <a:p>
            <a:pPr marL="285750" indent="-285750">
              <a:buFont typeface="Arial" panose="020B0604020202020204" pitchFamily="34" charset="0"/>
              <a:buChar char="•"/>
            </a:pPr>
            <a:endParaRPr lang="en-US" sz="2000">
              <a:latin typeface="Open Sans" panose="020B0606030504020204" charset="0"/>
              <a:cs typeface="Open Sans" panose="020B0606030504020204" charset="0"/>
            </a:endParaRPr>
          </a:p>
          <a:p>
            <a:pPr marL="285750" indent="-285750">
              <a:buFont typeface="Arial" panose="020B0604020202020204" pitchFamily="34" charset="0"/>
              <a:buChar char="•"/>
            </a:pPr>
            <a:r>
              <a:rPr lang="en-US" sz="2000">
                <a:latin typeface="Open Sans" panose="020B0606030504020204" charset="0"/>
                <a:cs typeface="Open Sans" panose="020B0606030504020204" charset="0"/>
              </a:rPr>
              <a:t>Jika mengimplementasikannya, Anda bertanggung jawab menghentikan layanan setelah pekerjaannya selesai, dengan memanggil stopSelf() atau stopService(). </a:t>
            </a:r>
          </a:p>
          <a:p>
            <a:pPr marL="285750" indent="-285750">
              <a:buFont typeface="Arial" panose="020B0604020202020204" pitchFamily="34" charset="0"/>
              <a:buChar char="•"/>
            </a:pPr>
            <a:endParaRPr lang="en-US" sz="2000">
              <a:latin typeface="Open Sans" panose="020B0606030504020204" charset="0"/>
              <a:cs typeface="Open Sans" panose="020B0606030504020204" charset="0"/>
            </a:endParaRPr>
          </a:p>
          <a:p>
            <a:pPr marL="285750" indent="-285750">
              <a:buFont typeface="Arial" panose="020B0604020202020204" pitchFamily="34" charset="0"/>
              <a:buChar char="•"/>
            </a:pPr>
            <a:r>
              <a:rPr lang="en-US" sz="2000">
                <a:latin typeface="Open Sans" panose="020B0606030504020204" charset="0"/>
                <a:cs typeface="Open Sans" panose="020B0606030504020204" charset="0"/>
              </a:rPr>
              <a:t>Jika hanya ingin menyediakan pengikatan, Anda tidak perlu mengimplementasikan metode ini.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Lifecycle of Service</a:t>
            </a:r>
            <a:endParaRPr lang="en-US" sz="4000" b="1">
              <a:sym typeface="+mn-ea"/>
            </a:endParaRPr>
          </a:p>
        </p:txBody>
      </p:sp>
      <p:sp>
        <p:nvSpPr>
          <p:cNvPr id="2" name="Text Box 1"/>
          <p:cNvSpPr txBox="1"/>
          <p:nvPr/>
        </p:nvSpPr>
        <p:spPr>
          <a:xfrm>
            <a:off x="3767455" y="1382395"/>
            <a:ext cx="7301865" cy="4092575"/>
          </a:xfrm>
          <a:prstGeom prst="rect">
            <a:avLst/>
          </a:prstGeom>
          <a:noFill/>
        </p:spPr>
        <p:txBody>
          <a:bodyPr wrap="square" rtlCol="0" anchor="t">
            <a:spAutoFit/>
          </a:bodyPr>
          <a:lstStyle/>
          <a:p>
            <a:r>
              <a:rPr lang="en-US" sz="2000" b="1">
                <a:latin typeface="Open Sans" panose="020B0606030504020204" charset="0"/>
                <a:cs typeface="Open Sans" panose="020B0606030504020204" charset="0"/>
              </a:rPr>
              <a:t>onBind()</a:t>
            </a:r>
            <a:endParaRPr lang="en-US" b="1">
              <a:latin typeface="Open Sans" panose="020B0606030504020204" charset="0"/>
              <a:cs typeface="Open Sans" panose="020B0606030504020204" charset="0"/>
            </a:endParaRPr>
          </a:p>
          <a:p>
            <a:pPr marL="285750" indent="-285750">
              <a:buFont typeface="Arial" panose="020B0604020202020204" pitchFamily="34" charset="0"/>
              <a:buChar char="•"/>
            </a:pPr>
            <a:r>
              <a:rPr lang="en-US" sz="2000">
                <a:latin typeface="Open Sans" panose="020B0606030504020204" charset="0"/>
                <a:cs typeface="Open Sans" panose="020B0606030504020204" charset="0"/>
              </a:rPr>
              <a:t>Sistem akan memicu metode ini dengan memanggil bindService() bila komponen lain ingin mengikat pada layanan (misalnya untuk melakukan RPC). </a:t>
            </a:r>
          </a:p>
          <a:p>
            <a:pPr marL="285750" indent="-285750">
              <a:buFont typeface="Arial" panose="020B0604020202020204" pitchFamily="34" charset="0"/>
              <a:buChar char="•"/>
            </a:pPr>
            <a:endParaRPr lang="en-US" sz="2000">
              <a:latin typeface="Open Sans" panose="020B0606030504020204" charset="0"/>
              <a:cs typeface="Open Sans" panose="020B0606030504020204" charset="0"/>
            </a:endParaRPr>
          </a:p>
          <a:p>
            <a:pPr marL="285750" indent="-285750">
              <a:buFont typeface="Arial" panose="020B0604020202020204" pitchFamily="34" charset="0"/>
              <a:buChar char="•"/>
            </a:pPr>
            <a:r>
              <a:rPr lang="en-US" sz="2000">
                <a:latin typeface="Open Sans" panose="020B0606030504020204" charset="0"/>
                <a:cs typeface="Open Sans" panose="020B0606030504020204" charset="0"/>
              </a:rPr>
              <a:t>Dalam mengimplementasikan metode ini, Anda harus menyediakan antarmuka yang digunakan klien untuk berkomunikasi dengan layanan, dengan mengembalikan IBinder. </a:t>
            </a:r>
          </a:p>
          <a:p>
            <a:pPr marL="285750" indent="-285750">
              <a:buFont typeface="Arial" panose="020B0604020202020204" pitchFamily="34" charset="0"/>
              <a:buChar char="•"/>
            </a:pPr>
            <a:endParaRPr lang="en-US" sz="2000">
              <a:latin typeface="Open Sans" panose="020B0606030504020204" charset="0"/>
              <a:cs typeface="Open Sans" panose="020B0606030504020204" charset="0"/>
            </a:endParaRPr>
          </a:p>
          <a:p>
            <a:pPr marL="285750" indent="-285750">
              <a:buFont typeface="Arial" panose="020B0604020202020204" pitchFamily="34" charset="0"/>
              <a:buChar char="•"/>
            </a:pPr>
            <a:r>
              <a:rPr lang="en-US" sz="2000">
                <a:latin typeface="Open Sans" panose="020B0606030504020204" charset="0"/>
                <a:cs typeface="Open Sans" panose="020B0606030504020204" charset="0"/>
              </a:rPr>
              <a:t>Anda harus selalu mengimplementasikan metode ini, namun jika tidak ingin mengizinkan pengikatan, Anda perlu mengembalikan null.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Lifecycle of Service</a:t>
            </a:r>
            <a:endParaRPr lang="en-US" sz="4000" b="1">
              <a:sym typeface="+mn-ea"/>
            </a:endParaRPr>
          </a:p>
        </p:txBody>
      </p:sp>
      <p:sp>
        <p:nvSpPr>
          <p:cNvPr id="2" name="Text Box 1"/>
          <p:cNvSpPr txBox="1"/>
          <p:nvPr/>
        </p:nvSpPr>
        <p:spPr>
          <a:xfrm>
            <a:off x="3767455" y="1382395"/>
            <a:ext cx="7301865" cy="4092575"/>
          </a:xfrm>
          <a:prstGeom prst="rect">
            <a:avLst/>
          </a:prstGeom>
          <a:noFill/>
        </p:spPr>
        <p:txBody>
          <a:bodyPr wrap="square" rtlCol="0" anchor="t">
            <a:spAutoFit/>
          </a:bodyPr>
          <a:lstStyle/>
          <a:p>
            <a:r>
              <a:rPr lang="en-US" sz="2000" b="1">
                <a:latin typeface="Open Sans" panose="020B0606030504020204" charset="0"/>
                <a:cs typeface="Open Sans" panose="020B0606030504020204" charset="0"/>
              </a:rPr>
              <a:t>onCreate()</a:t>
            </a:r>
          </a:p>
          <a:p>
            <a:pPr marL="342900" indent="-342900">
              <a:buFont typeface="Arial" panose="020B0604020202020204" pitchFamily="34" charset="0"/>
              <a:buChar char="•"/>
            </a:pPr>
            <a:r>
              <a:rPr lang="en-US" sz="2000">
                <a:latin typeface="Open Sans" panose="020B0606030504020204" charset="0"/>
                <a:cs typeface="Open Sans" panose="020B0606030504020204" charset="0"/>
              </a:rPr>
              <a:t>Sistem akan memicu metode untuk melakukan prosedur penyiapan satu kali saat layanan ini awalnya dibuat (sebelum memanggil onStartCommand() atau onBind()). </a:t>
            </a:r>
          </a:p>
          <a:p>
            <a:pPr marL="342900" indent="-342900">
              <a:buFont typeface="Arial" panose="020B0604020202020204" pitchFamily="34" charset="0"/>
              <a:buChar char="•"/>
            </a:pPr>
            <a:r>
              <a:rPr lang="en-US" sz="2000">
                <a:latin typeface="Open Sans" panose="020B0606030504020204" charset="0"/>
                <a:cs typeface="Open Sans" panose="020B0606030504020204" charset="0"/>
              </a:rPr>
              <a:t>Bila layanan sudah berjalan, metode ini tidak dipanggil.</a:t>
            </a:r>
          </a:p>
          <a:p>
            <a:endParaRPr lang="en-US" sz="2000" b="1">
              <a:latin typeface="Open Sans" panose="020B0606030504020204" charset="0"/>
              <a:cs typeface="Open Sans" panose="020B0606030504020204" charset="0"/>
            </a:endParaRPr>
          </a:p>
          <a:p>
            <a:r>
              <a:rPr lang="en-US" sz="2000" b="1">
                <a:latin typeface="Open Sans" panose="020B0606030504020204" charset="0"/>
                <a:cs typeface="Open Sans" panose="020B0606030504020204" charset="0"/>
              </a:rPr>
              <a:t>onDestroy()</a:t>
            </a: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rPr>
              <a:t>Sistem akan memicu metode ini bila layanan tidak lagi digunakan dan sedang dihancurkan. </a:t>
            </a:r>
          </a:p>
          <a:p>
            <a:pPr marL="342900" indent="-342900">
              <a:buFont typeface="Arial" panose="020B0604020202020204" pitchFamily="34" charset="0"/>
              <a:buChar char="•"/>
            </a:pPr>
            <a:r>
              <a:rPr lang="en-US" sz="2000">
                <a:latin typeface="Open Sans" panose="020B0606030504020204" charset="0"/>
                <a:cs typeface="Open Sans" panose="020B0606030504020204" charset="0"/>
              </a:rPr>
              <a:t>Layanan Anda harus mengimplementasikan ini untuk membersihkan semua resource, seperti thread, listener terdaftar, atau penerima. </a:t>
            </a:r>
          </a:p>
          <a:p>
            <a:pPr marL="342900" indent="-342900">
              <a:buFont typeface="Arial" panose="020B0604020202020204" pitchFamily="34" charset="0"/>
              <a:buChar char="•"/>
            </a:pPr>
            <a:r>
              <a:rPr lang="en-US" sz="2000">
                <a:latin typeface="Open Sans" panose="020B0606030504020204" charset="0"/>
                <a:cs typeface="Open Sans" panose="020B0606030504020204" charset="0"/>
              </a:rPr>
              <a:t>Ini adalah panggilan terakhir yang diterima layanan.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Deklarasi Service pada Manifest</a:t>
            </a:r>
            <a:endParaRPr lang="en-US" sz="4000" b="1">
              <a:sym typeface="+mn-ea"/>
            </a:endParaRPr>
          </a:p>
        </p:txBody>
      </p:sp>
      <p:pic>
        <p:nvPicPr>
          <p:cNvPr id="3" name="Picture Placeholder 2"/>
          <p:cNvPicPr>
            <a:picLocks noGrp="1" noChangeAspect="1"/>
          </p:cNvPicPr>
          <p:nvPr>
            <p:ph type="pic" idx="10"/>
          </p:nvPr>
        </p:nvPicPr>
        <p:blipFill>
          <a:blip r:embed="rId2"/>
          <a:stretch>
            <a:fillRect/>
          </a:stretch>
        </p:blipFill>
        <p:spPr>
          <a:xfrm>
            <a:off x="3580765" y="2061210"/>
            <a:ext cx="8062595" cy="27355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Memulai Service</a:t>
            </a:r>
            <a:endParaRPr lang="en-US" sz="4000" b="1">
              <a:sym typeface="+mn-ea"/>
            </a:endParaRPr>
          </a:p>
        </p:txBody>
      </p:sp>
      <p:pic>
        <p:nvPicPr>
          <p:cNvPr id="5" name="Picture Placeholder 4"/>
          <p:cNvPicPr>
            <a:picLocks noGrp="1" noChangeAspect="1"/>
          </p:cNvPicPr>
          <p:nvPr>
            <p:ph type="pic" idx="10"/>
          </p:nvPr>
        </p:nvPicPr>
        <p:blipFill>
          <a:blip r:embed="rId2"/>
          <a:stretch>
            <a:fillRect/>
          </a:stretch>
        </p:blipFill>
        <p:spPr>
          <a:xfrm>
            <a:off x="3820160" y="2915920"/>
            <a:ext cx="8253730" cy="10261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DDC84"/>
        </a:solidFill>
        <a:effectLst/>
      </p:bgPr>
    </p:bg>
    <p:spTree>
      <p:nvGrpSpPr>
        <p:cNvPr id="1" name=""/>
        <p:cNvGrpSpPr/>
        <p:nvPr/>
      </p:nvGrpSpPr>
      <p:grpSpPr>
        <a:xfrm>
          <a:off x="0" y="0"/>
          <a:ext cx="0" cy="0"/>
          <a:chOff x="0" y="0"/>
          <a:chExt cx="0" cy="0"/>
        </a:xfrm>
      </p:grpSpPr>
      <p:sp>
        <p:nvSpPr>
          <p:cNvPr id="26" name="文本框 25"/>
          <p:cNvSpPr txBox="1"/>
          <p:nvPr/>
        </p:nvSpPr>
        <p:spPr>
          <a:xfrm>
            <a:off x="1366520" y="3013710"/>
            <a:ext cx="9458325" cy="829945"/>
          </a:xfrm>
          <a:prstGeom prst="rect">
            <a:avLst/>
          </a:prstGeom>
          <a:noFill/>
        </p:spPr>
        <p:txBody>
          <a:bodyPr wrap="square" rtlCol="0">
            <a:spAutoFit/>
          </a:bodyPr>
          <a:lstStyle/>
          <a:p>
            <a:pPr algn="ctr"/>
            <a:r>
              <a:rPr lang="en-US" altLang="zh-CN" sz="4800" dirty="0">
                <a:solidFill>
                  <a:schemeClr val="bg1"/>
                </a:solidFill>
                <a:latin typeface="Open Sans Semibold" panose="020B0706030804020204" charset="0"/>
                <a:cs typeface="Open Sans Semibold" panose="020B0706030804020204" charset="0"/>
              </a:rPr>
              <a:t>Foreground Service</a:t>
            </a:r>
            <a:endParaRPr lang="en-US" sz="2800">
              <a:solidFill>
                <a:schemeClr val="bg1"/>
              </a:solidFill>
              <a:latin typeface="Open Sans" panose="020B0606030504020204" charset="0"/>
              <a:cs typeface="Open Sans" panose="020B0606030504020204"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Foreground Service</a:t>
            </a:r>
            <a:endParaRPr lang="en-US" sz="4000" b="1">
              <a:sym typeface="+mn-ea"/>
            </a:endParaRPr>
          </a:p>
        </p:txBody>
      </p:sp>
      <p:pic>
        <p:nvPicPr>
          <p:cNvPr id="2" name="Picture Placeholder 1"/>
          <p:cNvPicPr>
            <a:picLocks noGrp="1" noChangeAspect="1"/>
          </p:cNvPicPr>
          <p:nvPr>
            <p:ph type="pic" idx="10"/>
          </p:nvPr>
        </p:nvPicPr>
        <p:blipFill>
          <a:blip r:embed="rId2"/>
          <a:stretch>
            <a:fillRect/>
          </a:stretch>
        </p:blipFill>
        <p:spPr>
          <a:xfrm>
            <a:off x="3884295" y="2453005"/>
            <a:ext cx="7598410" cy="1952625"/>
          </a:xfrm>
          <a:prstGeom prst="rect">
            <a:avLst/>
          </a:prstGeom>
        </p:spPr>
      </p:pic>
      <p:sp>
        <p:nvSpPr>
          <p:cNvPr id="3" name="Text Box 2"/>
          <p:cNvSpPr txBox="1"/>
          <p:nvPr/>
        </p:nvSpPr>
        <p:spPr>
          <a:xfrm>
            <a:off x="3884295" y="1919605"/>
            <a:ext cx="5931535" cy="398780"/>
          </a:xfrm>
          <a:prstGeom prst="rect">
            <a:avLst/>
          </a:prstGeom>
          <a:noFill/>
        </p:spPr>
        <p:txBody>
          <a:bodyPr wrap="square" rtlCol="0" anchor="t">
            <a:spAutoFit/>
          </a:bodyPr>
          <a:lstStyle/>
          <a:p>
            <a:r>
              <a:rPr lang="en-US" sz="2000" b="1">
                <a:latin typeface="Open Sans" panose="020B0606030504020204" charset="0"/>
                <a:cs typeface="Open Sans" panose="020B0606030504020204" charset="0"/>
              </a:rPr>
              <a:t>Request the foreground service permission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Foreground Service</a:t>
            </a:r>
            <a:endParaRPr lang="en-US" sz="4000" b="1">
              <a:sym typeface="+mn-ea"/>
            </a:endParaRPr>
          </a:p>
        </p:txBody>
      </p:sp>
      <p:pic>
        <p:nvPicPr>
          <p:cNvPr id="4" name="Picture Placeholder 3"/>
          <p:cNvPicPr>
            <a:picLocks noGrp="1" noChangeAspect="1"/>
          </p:cNvPicPr>
          <p:nvPr>
            <p:ph type="pic" idx="10"/>
          </p:nvPr>
        </p:nvPicPr>
        <p:blipFill>
          <a:blip r:embed="rId2"/>
          <a:stretch>
            <a:fillRect/>
          </a:stretch>
        </p:blipFill>
        <p:spPr>
          <a:xfrm>
            <a:off x="3715385" y="2896870"/>
            <a:ext cx="8074025" cy="1064260"/>
          </a:xfrm>
          <a:prstGeom prst="rect">
            <a:avLst/>
          </a:prstGeom>
        </p:spPr>
      </p:pic>
      <p:sp>
        <p:nvSpPr>
          <p:cNvPr id="5" name="Text Box 4"/>
          <p:cNvSpPr txBox="1"/>
          <p:nvPr/>
        </p:nvSpPr>
        <p:spPr>
          <a:xfrm>
            <a:off x="3715385" y="2254885"/>
            <a:ext cx="5931535" cy="398780"/>
          </a:xfrm>
          <a:prstGeom prst="rect">
            <a:avLst/>
          </a:prstGeom>
          <a:noFill/>
        </p:spPr>
        <p:txBody>
          <a:bodyPr wrap="square" rtlCol="0" anchor="t">
            <a:spAutoFit/>
          </a:bodyPr>
          <a:lstStyle/>
          <a:p>
            <a:r>
              <a:rPr lang="en-US" sz="2000" b="1">
                <a:latin typeface="Open Sans" panose="020B0606030504020204" charset="0"/>
                <a:cs typeface="Open Sans" panose="020B0606030504020204" charset="0"/>
              </a:rPr>
              <a:t>Menjalankan Foreground Service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Foreground Service</a:t>
            </a:r>
            <a:endParaRPr lang="en-US" sz="4000" b="1">
              <a:sym typeface="+mn-ea"/>
            </a:endParaRPr>
          </a:p>
        </p:txBody>
      </p:sp>
      <p:pic>
        <p:nvPicPr>
          <p:cNvPr id="3" name="Picture Placeholder 2"/>
          <p:cNvPicPr>
            <a:picLocks noGrp="1" noChangeAspect="1"/>
          </p:cNvPicPr>
          <p:nvPr>
            <p:ph type="pic" idx="10"/>
          </p:nvPr>
        </p:nvPicPr>
        <p:blipFill>
          <a:blip r:embed="rId2"/>
          <a:stretch>
            <a:fillRect/>
          </a:stretch>
        </p:blipFill>
        <p:spPr>
          <a:xfrm>
            <a:off x="3538220" y="931545"/>
            <a:ext cx="8279765" cy="4994910"/>
          </a:xfrm>
          <a:prstGeom prst="rect">
            <a:avLst/>
          </a:prstGeom>
        </p:spPr>
      </p:pic>
      <p:sp>
        <p:nvSpPr>
          <p:cNvPr id="5" name="Text Box 4"/>
          <p:cNvSpPr txBox="1"/>
          <p:nvPr/>
        </p:nvSpPr>
        <p:spPr>
          <a:xfrm>
            <a:off x="3538220" y="532765"/>
            <a:ext cx="5931535" cy="398780"/>
          </a:xfrm>
          <a:prstGeom prst="rect">
            <a:avLst/>
          </a:prstGeom>
          <a:noFill/>
        </p:spPr>
        <p:txBody>
          <a:bodyPr wrap="square" rtlCol="0" anchor="t">
            <a:spAutoFit/>
          </a:bodyPr>
          <a:lstStyle/>
          <a:p>
            <a:r>
              <a:rPr lang="en-US" sz="2000" b="1">
                <a:latin typeface="Open Sans" panose="020B0606030504020204" charset="0"/>
                <a:cs typeface="Open Sans" panose="020B0606030504020204" charset="0"/>
              </a:rPr>
              <a:t>Contoh:</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DDC84"/>
        </a:solidFill>
        <a:effectLst/>
      </p:bgPr>
    </p:bg>
    <p:spTree>
      <p:nvGrpSpPr>
        <p:cNvPr id="1" name=""/>
        <p:cNvGrpSpPr/>
        <p:nvPr/>
      </p:nvGrpSpPr>
      <p:grpSpPr>
        <a:xfrm>
          <a:off x="0" y="0"/>
          <a:ext cx="0" cy="0"/>
          <a:chOff x="0" y="0"/>
          <a:chExt cx="0" cy="0"/>
        </a:xfrm>
      </p:grpSpPr>
      <p:sp>
        <p:nvSpPr>
          <p:cNvPr id="26" name="文本框 25"/>
          <p:cNvSpPr txBox="1"/>
          <p:nvPr/>
        </p:nvSpPr>
        <p:spPr>
          <a:xfrm>
            <a:off x="1366520" y="3013710"/>
            <a:ext cx="9458325" cy="829945"/>
          </a:xfrm>
          <a:prstGeom prst="rect">
            <a:avLst/>
          </a:prstGeom>
          <a:noFill/>
        </p:spPr>
        <p:txBody>
          <a:bodyPr wrap="square" rtlCol="0">
            <a:spAutoFit/>
          </a:bodyPr>
          <a:lstStyle/>
          <a:p>
            <a:pPr algn="ctr"/>
            <a:r>
              <a:rPr lang="en-US" altLang="zh-CN" sz="4800" dirty="0">
                <a:solidFill>
                  <a:schemeClr val="bg1"/>
                </a:solidFill>
                <a:latin typeface="Open Sans Semibold" panose="020B0706030804020204" charset="0"/>
                <a:cs typeface="Open Sans Semibold" panose="020B0706030804020204" charset="0"/>
              </a:rPr>
              <a:t>Background Service</a:t>
            </a:r>
            <a:endParaRPr lang="en-US" sz="2800">
              <a:solidFill>
                <a:schemeClr val="bg1"/>
              </a:solidFill>
              <a:latin typeface="Open Sans" panose="020B0606030504020204" charset="0"/>
              <a:cs typeface="Open Sans" panose="020B0606030504020204"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DDC84"/>
        </a:solidFill>
        <a:effectLst/>
      </p:bgPr>
    </p:bg>
    <p:spTree>
      <p:nvGrpSpPr>
        <p:cNvPr id="1" name=""/>
        <p:cNvGrpSpPr/>
        <p:nvPr/>
      </p:nvGrpSpPr>
      <p:grpSpPr>
        <a:xfrm>
          <a:off x="0" y="0"/>
          <a:ext cx="0" cy="0"/>
          <a:chOff x="0" y="0"/>
          <a:chExt cx="0" cy="0"/>
        </a:xfrm>
      </p:grpSpPr>
      <p:sp>
        <p:nvSpPr>
          <p:cNvPr id="26" name="文本框 25"/>
          <p:cNvSpPr txBox="1"/>
          <p:nvPr/>
        </p:nvSpPr>
        <p:spPr>
          <a:xfrm>
            <a:off x="1366520" y="1721485"/>
            <a:ext cx="9458325" cy="3415030"/>
          </a:xfrm>
          <a:prstGeom prst="rect">
            <a:avLst/>
          </a:prstGeom>
          <a:noFill/>
        </p:spPr>
        <p:txBody>
          <a:bodyPr wrap="square" rtlCol="0">
            <a:spAutoFit/>
          </a:bodyPr>
          <a:lstStyle/>
          <a:p>
            <a:pPr algn="ctr"/>
            <a:r>
              <a:rPr lang="en-US" altLang="zh-CN" sz="4800" dirty="0">
                <a:solidFill>
                  <a:schemeClr val="bg1"/>
                </a:solidFill>
                <a:latin typeface="Open Sans Semibold" panose="020B0706030804020204" charset="0"/>
                <a:cs typeface="Open Sans Semibold" panose="020B0706030804020204" charset="0"/>
              </a:rPr>
              <a:t>Background Work</a:t>
            </a:r>
          </a:p>
          <a:p>
            <a:pPr algn="l"/>
            <a:r>
              <a:rPr lang="en-US" sz="2800">
                <a:solidFill>
                  <a:schemeClr val="bg1"/>
                </a:solidFill>
                <a:latin typeface="Open Sans" panose="020B0606030504020204" charset="0"/>
                <a:cs typeface="Open Sans" panose="020B0606030504020204" charset="0"/>
                <a:sym typeface="+mn-ea"/>
              </a:rPr>
              <a:t>Aplikasi dikatakan menjalankan </a:t>
            </a:r>
            <a:r>
              <a:rPr lang="en-US" sz="2800" i="1">
                <a:solidFill>
                  <a:schemeClr val="bg1"/>
                </a:solidFill>
                <a:latin typeface="Open Sans" panose="020B0606030504020204" charset="0"/>
                <a:cs typeface="Open Sans" panose="020B0606030504020204" charset="0"/>
                <a:sym typeface="+mn-ea"/>
              </a:rPr>
              <a:t>background work</a:t>
            </a:r>
            <a:r>
              <a:rPr lang="en-US" sz="2800">
                <a:solidFill>
                  <a:schemeClr val="bg1"/>
                </a:solidFill>
                <a:latin typeface="Open Sans" panose="020B0606030504020204" charset="0"/>
                <a:cs typeface="Open Sans" panose="020B0606030504020204" charset="0"/>
                <a:sym typeface="+mn-ea"/>
              </a:rPr>
              <a:t> jika:</a:t>
            </a:r>
          </a:p>
          <a:p>
            <a:pPr marL="514350" indent="-514350" algn="l">
              <a:buAutoNum type="arabicPeriod"/>
            </a:pPr>
            <a:r>
              <a:rPr lang="en-US" sz="2800">
                <a:solidFill>
                  <a:schemeClr val="bg1"/>
                </a:solidFill>
                <a:latin typeface="Open Sans" panose="020B0606030504020204" charset="0"/>
                <a:cs typeface="Open Sans" panose="020B0606030504020204" charset="0"/>
                <a:sym typeface="+mn-ea"/>
              </a:rPr>
              <a:t>Tidak ada aktivitas aplikasi yang terlihat oleh pengguna.</a:t>
            </a:r>
          </a:p>
          <a:p>
            <a:pPr marL="514350" indent="-514350" algn="l">
              <a:buAutoNum type="arabicPeriod"/>
            </a:pPr>
            <a:r>
              <a:rPr lang="en-US" sz="2800">
                <a:solidFill>
                  <a:schemeClr val="bg1"/>
                </a:solidFill>
                <a:latin typeface="Open Sans" panose="020B0606030504020204" charset="0"/>
                <a:cs typeface="Open Sans" panose="020B0606030504020204" charset="0"/>
                <a:sym typeface="+mn-ea"/>
              </a:rPr>
              <a:t>Aplikasi tidak menjalankan </a:t>
            </a:r>
            <a:r>
              <a:rPr lang="en-US" sz="2800" i="1">
                <a:solidFill>
                  <a:schemeClr val="bg1"/>
                </a:solidFill>
                <a:latin typeface="Open Sans" panose="020B0606030504020204" charset="0"/>
                <a:cs typeface="Open Sans" panose="020B0606030504020204" charset="0"/>
                <a:sym typeface="+mn-ea"/>
              </a:rPr>
              <a:t>foreground service</a:t>
            </a:r>
            <a:r>
              <a:rPr lang="en-US" sz="2800">
                <a:solidFill>
                  <a:schemeClr val="bg1"/>
                </a:solidFill>
                <a:latin typeface="Open Sans" panose="020B0606030504020204" charset="0"/>
                <a:cs typeface="Open Sans" panose="020B0606030504020204" charset="0"/>
                <a:sym typeface="+mn-ea"/>
              </a:rPr>
              <a:t> apa pun yang dimulai saat aktivitas dari aplikasi terlihat oleh pengguna.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Tipe Background Work</a:t>
            </a:r>
          </a:p>
        </p:txBody>
      </p:sp>
      <p:pic>
        <p:nvPicPr>
          <p:cNvPr id="100" name="Picture 99"/>
          <p:cNvPicPr/>
          <p:nvPr/>
        </p:nvPicPr>
        <p:blipFill>
          <a:blip r:embed="rId2">
            <a:extLst>
              <a:ext uri="{96DAC541-7B7A-43D3-8B79-37D633B846F1}">
                <asvg:svgBlip xmlns:asvg="http://schemas.microsoft.com/office/drawing/2016/SVG/main" r:embed="rId3"/>
              </a:ext>
            </a:extLst>
          </a:blip>
          <a:stretch>
            <a:fillRect/>
          </a:stretch>
        </p:blipFill>
        <p:spPr>
          <a:xfrm>
            <a:off x="6096000" y="3429000"/>
            <a:ext cx="0" cy="0"/>
          </a:xfrm>
          <a:prstGeom prst="rect">
            <a:avLst/>
          </a:prstGeom>
          <a:noFill/>
          <a:ln w="9525">
            <a:noFill/>
          </a:ln>
        </p:spPr>
      </p:pic>
      <p:pic>
        <p:nvPicPr>
          <p:cNvPr id="101" name="Picture Placeholder 100"/>
          <p:cNvPicPr>
            <a:picLocks noGrp="1" noChangeAspect="1"/>
          </p:cNvPicPr>
          <p:nvPr>
            <p:ph type="pic" idx="10"/>
          </p:nvPr>
        </p:nvPicPr>
        <p:blipFill>
          <a:blip r:embed="rId2">
            <a:extLst>
              <a:ext uri="{96DAC541-7B7A-43D3-8B79-37D633B846F1}">
                <asvg:svgBlip xmlns:asvg="http://schemas.microsoft.com/office/drawing/2016/SVG/main" r:embed="rId3"/>
              </a:ext>
            </a:extLst>
          </a:blip>
          <a:stretch>
            <a:fillRect/>
          </a:stretch>
        </p:blipFill>
        <p:spPr>
          <a:xfrm>
            <a:off x="3554730" y="1067435"/>
            <a:ext cx="8397875" cy="4723765"/>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Async Task</a:t>
            </a:r>
          </a:p>
        </p:txBody>
      </p:sp>
      <p:pic>
        <p:nvPicPr>
          <p:cNvPr id="100" name="Picture 99"/>
          <p:cNvPicPr/>
          <p:nvPr/>
        </p:nvPicPr>
        <p:blipFill>
          <a:blip r:embed="rId2">
            <a:extLst>
              <a:ext uri="{96DAC541-7B7A-43D3-8B79-37D633B846F1}">
                <asvg:svgBlip xmlns:asvg="http://schemas.microsoft.com/office/drawing/2016/SVG/main" r:embed="rId3"/>
              </a:ext>
            </a:extLst>
          </a:blip>
          <a:stretch>
            <a:fillRect/>
          </a:stretch>
        </p:blipFill>
        <p:spPr>
          <a:xfrm>
            <a:off x="6096000" y="3429000"/>
            <a:ext cx="0" cy="0"/>
          </a:xfrm>
          <a:prstGeom prst="rect">
            <a:avLst/>
          </a:prstGeom>
          <a:noFill/>
          <a:ln w="9525">
            <a:noFill/>
          </a:ln>
        </p:spPr>
      </p:pic>
      <p:sp>
        <p:nvSpPr>
          <p:cNvPr id="3" name="Text Box 2"/>
          <p:cNvSpPr txBox="1"/>
          <p:nvPr/>
        </p:nvSpPr>
        <p:spPr>
          <a:xfrm>
            <a:off x="3821430" y="1690370"/>
            <a:ext cx="7907655" cy="4092575"/>
          </a:xfrm>
          <a:prstGeom prst="rect">
            <a:avLst/>
          </a:prstGeom>
          <a:noFill/>
        </p:spPr>
        <p:txBody>
          <a:bodyPr wrap="square" rtlCol="0" anchor="t">
            <a:spAutoFit/>
          </a:bodyPr>
          <a:lstStyle/>
          <a:p>
            <a:pPr marL="342900" indent="-342900">
              <a:buFont typeface="Arial" panose="020B0604020202020204" pitchFamily="34" charset="0"/>
              <a:buChar char="•"/>
            </a:pPr>
            <a:r>
              <a:rPr lang="en-US" sz="2000">
                <a:latin typeface="Open Sans" panose="020B0606030504020204" charset="0"/>
                <a:cs typeface="Open Sans" panose="020B0606030504020204" charset="0"/>
              </a:rPr>
              <a:t>Asynctask ini digunakan untuk memanggil proses yang dijalankan secara background thread. Hasil dari proses ini akan mengupdate suatu nilai ada thread User Intreface (UI). </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rPr>
              <a:t>Jika ada proses yang memerlukan waktu lama, dan dijalankan dalam satu thread yang sama dengan user interface, maka dapat menyebabkan UI terblok (freeze).</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rPr>
              <a:t>Untuk itu proses yang memakan waktu lama tersebut perlu dijalankan dalam thread yang terpisah.</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rPr>
              <a:t>Dengan Asynchtask proses backgorund dikerjakan dengan thread yang terpisah.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Langkah Proses dalam</a:t>
            </a:r>
          </a:p>
          <a:p>
            <a:pPr algn="ctr"/>
            <a:r>
              <a:rPr lang="en-US" sz="4000">
                <a:sym typeface="+mn-ea"/>
              </a:rPr>
              <a:t>Async Task</a:t>
            </a:r>
          </a:p>
        </p:txBody>
      </p:sp>
      <p:pic>
        <p:nvPicPr>
          <p:cNvPr id="100" name="Picture 99"/>
          <p:cNvPicPr/>
          <p:nvPr/>
        </p:nvPicPr>
        <p:blipFill>
          <a:blip r:embed="rId2">
            <a:extLst>
              <a:ext uri="{96DAC541-7B7A-43D3-8B79-37D633B846F1}">
                <asvg:svgBlip xmlns:asvg="http://schemas.microsoft.com/office/drawing/2016/SVG/main" r:embed="rId3"/>
              </a:ext>
            </a:extLst>
          </a:blip>
          <a:stretch>
            <a:fillRect/>
          </a:stretch>
        </p:blipFill>
        <p:spPr>
          <a:xfrm>
            <a:off x="6096000" y="3429000"/>
            <a:ext cx="0" cy="0"/>
          </a:xfrm>
          <a:prstGeom prst="rect">
            <a:avLst/>
          </a:prstGeom>
          <a:noFill/>
          <a:ln w="9525">
            <a:noFill/>
          </a:ln>
        </p:spPr>
      </p:pic>
      <p:sp>
        <p:nvSpPr>
          <p:cNvPr id="3" name="Text Box 2"/>
          <p:cNvSpPr txBox="1"/>
          <p:nvPr/>
        </p:nvSpPr>
        <p:spPr>
          <a:xfrm>
            <a:off x="3584575" y="414020"/>
            <a:ext cx="8382000" cy="5939155"/>
          </a:xfrm>
          <a:prstGeom prst="rect">
            <a:avLst/>
          </a:prstGeom>
          <a:noFill/>
        </p:spPr>
        <p:txBody>
          <a:bodyPr wrap="square" rtlCol="0" anchor="t">
            <a:spAutoFit/>
          </a:bodyPr>
          <a:lstStyle/>
          <a:p>
            <a:r>
              <a:rPr lang="en-US" sz="2000" b="1">
                <a:latin typeface="Open Sans" panose="020B0606030504020204" charset="0"/>
                <a:cs typeface="Open Sans" panose="020B0606030504020204" charset="0"/>
              </a:rPr>
              <a:t>onPreExecute() </a:t>
            </a:r>
            <a:endParaRPr lang="en-US" sz="2000">
              <a:latin typeface="Open Sans" panose="020B0606030504020204" charset="0"/>
              <a:cs typeface="Open Sans" panose="020B0606030504020204" charset="0"/>
            </a:endParaRPr>
          </a:p>
          <a:p>
            <a:r>
              <a:rPr lang="en-US" sz="2000">
                <a:latin typeface="Open Sans" panose="020B0606030504020204" charset="0"/>
                <a:cs typeface="Open Sans" panose="020B0606030504020204" charset="0"/>
              </a:rPr>
              <a:t>Dipanggil sebelum proses doInbackground dijalankan. Biasanya disini kita bisa memunculkan progressbar.</a:t>
            </a:r>
          </a:p>
          <a:p>
            <a:endParaRPr lang="en-US" sz="2000">
              <a:latin typeface="Open Sans" panose="020B0606030504020204" charset="0"/>
              <a:cs typeface="Open Sans" panose="020B0606030504020204" charset="0"/>
            </a:endParaRPr>
          </a:p>
          <a:p>
            <a:r>
              <a:rPr lang="en-US" sz="2000" b="1">
                <a:latin typeface="Open Sans" panose="020B0606030504020204" charset="0"/>
                <a:cs typeface="Open Sans" panose="020B0606030504020204" charset="0"/>
              </a:rPr>
              <a:t>doInbackground(Params… ) </a:t>
            </a:r>
            <a:endParaRPr lang="en-US" sz="2000">
              <a:latin typeface="Open Sans" panose="020B0606030504020204" charset="0"/>
              <a:cs typeface="Open Sans" panose="020B0606030504020204" charset="0"/>
            </a:endParaRPr>
          </a:p>
          <a:p>
            <a:r>
              <a:rPr lang="en-US" sz="2000">
                <a:latin typeface="Open Sans" panose="020B0606030504020204" charset="0"/>
                <a:cs typeface="Open Sans" panose="020B0606030504020204" charset="0"/>
              </a:rPr>
              <a:t>Dipanggil setelah code yang ada pada method onPreExecutte dijalankan. Disinilah biasanya proses yang memakan waktu lama dijalankan seperti permintaan data ke server, komputasi yang membutuhkan waktu lama.</a:t>
            </a:r>
          </a:p>
          <a:p>
            <a:endParaRPr lang="en-US" sz="2000">
              <a:latin typeface="Open Sans" panose="020B0606030504020204" charset="0"/>
              <a:cs typeface="Open Sans" panose="020B0606030504020204" charset="0"/>
            </a:endParaRPr>
          </a:p>
          <a:p>
            <a:r>
              <a:rPr lang="en-US" sz="2000" b="1">
                <a:latin typeface="Open Sans" panose="020B0606030504020204" charset="0"/>
                <a:cs typeface="Open Sans" panose="020B0606030504020204" charset="0"/>
              </a:rPr>
              <a:t>onProgressUpdate(Progress…)</a:t>
            </a:r>
            <a:r>
              <a:rPr lang="en-US" sz="2000">
                <a:latin typeface="Open Sans" panose="020B0606030504020204" charset="0"/>
                <a:cs typeface="Open Sans" panose="020B0606030504020204" charset="0"/>
              </a:rPr>
              <a:t> </a:t>
            </a:r>
          </a:p>
          <a:p>
            <a:r>
              <a:rPr lang="en-US" sz="2000">
                <a:latin typeface="Open Sans" panose="020B0606030504020204" charset="0"/>
                <a:cs typeface="Open Sans" panose="020B0606030504020204" charset="0"/>
              </a:rPr>
              <a:t>dipanggil jika pada doInBackground ada yang memanggil method publishProgress. Biasanya bisa kita gunakan untuk mengetahui progress download dari sebuah file.</a:t>
            </a:r>
          </a:p>
          <a:p>
            <a:endParaRPr lang="en-US" sz="2000">
              <a:latin typeface="Open Sans" panose="020B0606030504020204" charset="0"/>
              <a:cs typeface="Open Sans" panose="020B0606030504020204" charset="0"/>
            </a:endParaRPr>
          </a:p>
          <a:p>
            <a:r>
              <a:rPr lang="en-US" sz="2000" b="1">
                <a:latin typeface="Open Sans" panose="020B0606030504020204" charset="0"/>
                <a:cs typeface="Open Sans" panose="020B0606030504020204" charset="0"/>
              </a:rPr>
              <a:t>onPostExecute(Result…) </a:t>
            </a:r>
            <a:endParaRPr lang="en-US" sz="2000">
              <a:latin typeface="Open Sans" panose="020B0606030504020204" charset="0"/>
              <a:cs typeface="Open Sans" panose="020B0606030504020204" charset="0"/>
            </a:endParaRPr>
          </a:p>
          <a:p>
            <a:r>
              <a:rPr lang="en-US" sz="2000">
                <a:latin typeface="Open Sans" panose="020B0606030504020204" charset="0"/>
                <a:cs typeface="Open Sans" panose="020B0606030504020204" charset="0"/>
              </a:rPr>
              <a:t>Dipanggil setelah proses doinBackground selesai, method ini akan membaca hasil proses dari doInBackground yang digunakan untuk mengupdate nilai pada user interface.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Contoh</a:t>
            </a:r>
          </a:p>
        </p:txBody>
      </p:sp>
      <p:pic>
        <p:nvPicPr>
          <p:cNvPr id="100" name="Picture 99"/>
          <p:cNvPicPr/>
          <p:nvPr/>
        </p:nvPicPr>
        <p:blipFill>
          <a:blip r:embed="rId2">
            <a:extLst>
              <a:ext uri="{96DAC541-7B7A-43D3-8B79-37D633B846F1}">
                <asvg:svgBlip xmlns:asvg="http://schemas.microsoft.com/office/drawing/2016/SVG/main" r:embed="rId3"/>
              </a:ext>
            </a:extLst>
          </a:blip>
          <a:stretch>
            <a:fillRect/>
          </a:stretch>
        </p:blipFill>
        <p:spPr>
          <a:xfrm>
            <a:off x="6096000" y="3429000"/>
            <a:ext cx="0" cy="0"/>
          </a:xfrm>
          <a:prstGeom prst="rect">
            <a:avLst/>
          </a:prstGeom>
          <a:noFill/>
          <a:ln w="9525">
            <a:noFill/>
          </a:ln>
        </p:spPr>
      </p:pic>
      <p:pic>
        <p:nvPicPr>
          <p:cNvPr id="2" name="Picture Placeholder 1"/>
          <p:cNvPicPr>
            <a:picLocks noGrp="1" noChangeAspect="1"/>
          </p:cNvPicPr>
          <p:nvPr>
            <p:ph type="pic" idx="10"/>
          </p:nvPr>
        </p:nvPicPr>
        <p:blipFill>
          <a:blip r:embed="rId4"/>
          <a:stretch>
            <a:fillRect/>
          </a:stretch>
        </p:blipFill>
        <p:spPr>
          <a:xfrm>
            <a:off x="3616325" y="250190"/>
            <a:ext cx="7926705" cy="5321300"/>
          </a:xfrm>
          <a:prstGeom prst="rect">
            <a:avLst/>
          </a:prstGeom>
          <a:ln>
            <a:solidFill>
              <a:schemeClr val="accent1"/>
            </a:solidFill>
          </a:ln>
        </p:spPr>
      </p:pic>
      <p:pic>
        <p:nvPicPr>
          <p:cNvPr id="5" name="Picture 4"/>
          <p:cNvPicPr>
            <a:picLocks noChangeAspect="1"/>
          </p:cNvPicPr>
          <p:nvPr/>
        </p:nvPicPr>
        <p:blipFill>
          <a:blip r:embed="rId5"/>
          <a:stretch>
            <a:fillRect/>
          </a:stretch>
        </p:blipFill>
        <p:spPr>
          <a:xfrm>
            <a:off x="3616325" y="6034405"/>
            <a:ext cx="6710680" cy="641985"/>
          </a:xfrm>
          <a:prstGeom prst="rect">
            <a:avLst/>
          </a:prstGeom>
          <a:ln>
            <a:solidFill>
              <a:schemeClr val="accent1"/>
            </a:solidFill>
          </a:ln>
        </p:spPr>
      </p:pic>
      <p:sp>
        <p:nvSpPr>
          <p:cNvPr id="6" name="Text Box 5"/>
          <p:cNvSpPr txBox="1"/>
          <p:nvPr/>
        </p:nvSpPr>
        <p:spPr>
          <a:xfrm>
            <a:off x="3616325" y="5666105"/>
            <a:ext cx="2446020" cy="368300"/>
          </a:xfrm>
          <a:prstGeom prst="rect">
            <a:avLst/>
          </a:prstGeom>
          <a:noFill/>
        </p:spPr>
        <p:txBody>
          <a:bodyPr wrap="none" rtlCol="0" anchor="t">
            <a:spAutoFit/>
          </a:bodyPr>
          <a:lstStyle/>
          <a:p>
            <a:r>
              <a:rPr lang="en-US" b="1">
                <a:latin typeface="Open Sans" panose="020B0606030504020204" charset="0"/>
                <a:cs typeface="Open Sans" panose="020B0606030504020204" charset="0"/>
                <a:sym typeface="+mn-ea"/>
              </a:rPr>
              <a:t>Mengeksekusi Task:</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DDC84"/>
        </a:solidFill>
        <a:effectLst/>
      </p:bgPr>
    </p:bg>
    <p:spTree>
      <p:nvGrpSpPr>
        <p:cNvPr id="1" name=""/>
        <p:cNvGrpSpPr/>
        <p:nvPr/>
      </p:nvGrpSpPr>
      <p:grpSpPr>
        <a:xfrm>
          <a:off x="0" y="0"/>
          <a:ext cx="0" cy="0"/>
          <a:chOff x="0" y="0"/>
          <a:chExt cx="0" cy="0"/>
        </a:xfrm>
      </p:grpSpPr>
      <p:sp>
        <p:nvSpPr>
          <p:cNvPr id="26" name="文本框 25"/>
          <p:cNvSpPr txBox="1"/>
          <p:nvPr/>
        </p:nvSpPr>
        <p:spPr>
          <a:xfrm>
            <a:off x="1366520" y="3013710"/>
            <a:ext cx="9458325" cy="829945"/>
          </a:xfrm>
          <a:prstGeom prst="rect">
            <a:avLst/>
          </a:prstGeom>
          <a:noFill/>
        </p:spPr>
        <p:txBody>
          <a:bodyPr wrap="square" rtlCol="0">
            <a:spAutoFit/>
          </a:bodyPr>
          <a:lstStyle/>
          <a:p>
            <a:pPr algn="ctr"/>
            <a:r>
              <a:rPr lang="en-US" altLang="zh-CN" sz="4800" dirty="0">
                <a:solidFill>
                  <a:schemeClr val="bg1"/>
                </a:solidFill>
                <a:latin typeface="Open Sans Semibold" panose="020B0706030804020204" charset="0"/>
                <a:cs typeface="Open Sans Semibold" panose="020B0706030804020204" charset="0"/>
              </a:rPr>
              <a:t>Bound Service</a:t>
            </a:r>
            <a:endParaRPr lang="en-US" sz="2800">
              <a:solidFill>
                <a:schemeClr val="bg1"/>
              </a:solidFill>
              <a:latin typeface="Open Sans" panose="020B0606030504020204" charset="0"/>
              <a:cs typeface="Open Sans" panose="020B0606030504020204" charset="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Membuat Bound Service</a:t>
            </a:r>
            <a:endParaRPr lang="en-US" sz="4000" b="1">
              <a:sym typeface="+mn-ea"/>
            </a:endParaRPr>
          </a:p>
        </p:txBody>
      </p:sp>
      <p:sp>
        <p:nvSpPr>
          <p:cNvPr id="4" name="Text Box 3"/>
          <p:cNvSpPr txBox="1"/>
          <p:nvPr/>
        </p:nvSpPr>
        <p:spPr>
          <a:xfrm>
            <a:off x="3908425" y="2016125"/>
            <a:ext cx="7366000" cy="3169285"/>
          </a:xfrm>
          <a:prstGeom prst="rect">
            <a:avLst/>
          </a:prstGeom>
          <a:noFill/>
        </p:spPr>
        <p:txBody>
          <a:bodyPr wrap="square" rtlCol="0" anchor="t">
            <a:spAutoFit/>
          </a:bodyPr>
          <a:lstStyle/>
          <a:p>
            <a:pPr indent="0">
              <a:buNone/>
            </a:pPr>
            <a:r>
              <a:rPr lang="en-US" sz="2000" b="1">
                <a:latin typeface="Open Sans" panose="020B0606030504020204" charset="0"/>
                <a:cs typeface="Open Sans" panose="020B0606030504020204" charset="0"/>
              </a:rPr>
              <a:t>Memperluas class Binder</a:t>
            </a:r>
          </a:p>
          <a:p>
            <a:pPr marL="342900" indent="-342900">
              <a:buFont typeface="Arial" panose="020B0604020202020204" pitchFamily="34" charset="0"/>
              <a:buChar char="•"/>
            </a:pPr>
            <a:r>
              <a:rPr lang="en-US" sz="2000">
                <a:latin typeface="Open Sans" panose="020B0606030504020204" charset="0"/>
                <a:cs typeface="Open Sans" panose="020B0606030504020204" charset="0"/>
              </a:rPr>
              <a:t>Jika layanan Anda bersifat privat untuk aplikasi Anda sendiri dan berjalan dalam proses yang sama dengan klien (biasanya), Anda harus membuat antarmuka dengan memperluas class Binder dan mengembalikan instance dari onBind(). </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rPr>
              <a:t>Klien akan menerima Binder dan dapat menggunakannya untuk mengakses langsung metode publik yang tersedia dalam implementasi Binder atau Service.</a:t>
            </a:r>
            <a:endParaRPr lang="en-US" sz="2000" b="1">
              <a:latin typeface="Open Sans" panose="020B0606030504020204" charset="0"/>
              <a:cs typeface="Open Sans" panose="020B06060305040202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Membuat Bound Service</a:t>
            </a:r>
            <a:endParaRPr lang="en-US" sz="4000" b="1">
              <a:sym typeface="+mn-ea"/>
            </a:endParaRPr>
          </a:p>
        </p:txBody>
      </p:sp>
      <p:pic>
        <p:nvPicPr>
          <p:cNvPr id="2" name="Picture Placeholder 1"/>
          <p:cNvPicPr>
            <a:picLocks noGrp="1" noChangeAspect="1"/>
          </p:cNvPicPr>
          <p:nvPr>
            <p:ph type="pic" idx="10"/>
          </p:nvPr>
        </p:nvPicPr>
        <p:blipFill>
          <a:blip r:embed="rId2"/>
          <a:stretch>
            <a:fillRect/>
          </a:stretch>
        </p:blipFill>
        <p:spPr>
          <a:xfrm>
            <a:off x="3732530" y="381000"/>
            <a:ext cx="7727315" cy="56419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Membuat Bound Service</a:t>
            </a:r>
            <a:endParaRPr lang="en-US" sz="4000" b="1">
              <a:sym typeface="+mn-ea"/>
            </a:endParaRPr>
          </a:p>
        </p:txBody>
      </p:sp>
      <p:pic>
        <p:nvPicPr>
          <p:cNvPr id="5" name="Picture Placeholder 4"/>
          <p:cNvPicPr>
            <a:picLocks noGrp="1" noChangeAspect="1"/>
          </p:cNvPicPr>
          <p:nvPr>
            <p:ph type="pic" idx="10"/>
          </p:nvPr>
        </p:nvPicPr>
        <p:blipFill>
          <a:blip r:embed="rId2"/>
          <a:stretch>
            <a:fillRect/>
          </a:stretch>
        </p:blipFill>
        <p:spPr>
          <a:xfrm>
            <a:off x="3818890" y="532130"/>
            <a:ext cx="6713855" cy="57175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Membuat Bound Service</a:t>
            </a:r>
            <a:endParaRPr lang="en-US" sz="4000" b="1">
              <a:sym typeface="+mn-ea"/>
            </a:endParaRPr>
          </a:p>
        </p:txBody>
      </p:sp>
      <p:pic>
        <p:nvPicPr>
          <p:cNvPr id="3" name="Picture Placeholder 2"/>
          <p:cNvPicPr>
            <a:picLocks noGrp="1" noChangeAspect="1"/>
          </p:cNvPicPr>
          <p:nvPr>
            <p:ph type="pic" idx="10"/>
          </p:nvPr>
        </p:nvPicPr>
        <p:blipFill>
          <a:blip r:embed="rId2"/>
          <a:stretch>
            <a:fillRect/>
          </a:stretch>
        </p:blipFill>
        <p:spPr>
          <a:xfrm>
            <a:off x="3624580" y="524510"/>
            <a:ext cx="7726680" cy="580961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3DDC84"/>
        </a:solidFill>
        <a:effectLst/>
      </p:bgPr>
    </p:bg>
    <p:spTree>
      <p:nvGrpSpPr>
        <p:cNvPr id="1" name=""/>
        <p:cNvGrpSpPr/>
        <p:nvPr/>
      </p:nvGrpSpPr>
      <p:grpSpPr>
        <a:xfrm>
          <a:off x="0" y="0"/>
          <a:ext cx="0" cy="0"/>
          <a:chOff x="0" y="0"/>
          <a:chExt cx="0" cy="0"/>
        </a:xfrm>
      </p:grpSpPr>
      <p:sp>
        <p:nvSpPr>
          <p:cNvPr id="3" name="Text Box 2"/>
          <p:cNvSpPr txBox="1"/>
          <p:nvPr/>
        </p:nvSpPr>
        <p:spPr>
          <a:xfrm>
            <a:off x="0" y="2275840"/>
            <a:ext cx="12191365" cy="1938020"/>
          </a:xfrm>
          <a:prstGeom prst="rect">
            <a:avLst/>
          </a:prstGeom>
          <a:solidFill>
            <a:schemeClr val="bg1"/>
          </a:solidFill>
        </p:spPr>
        <p:txBody>
          <a:bodyPr wrap="square" rtlCol="0" anchor="t">
            <a:spAutoFit/>
          </a:bodyPr>
          <a:lstStyle/>
          <a:p>
            <a:pPr algn="ctr"/>
            <a:r>
              <a:rPr lang="en-US" sz="2400">
                <a:solidFill>
                  <a:srgbClr val="3DDC84"/>
                </a:solidFill>
                <a:latin typeface="Open Sans" panose="020B0606030504020204" charset="0"/>
                <a:cs typeface="Open Sans" panose="020B0606030504020204" charset="0"/>
              </a:rPr>
              <a:t>Pelajari lebih lanjut...</a:t>
            </a:r>
          </a:p>
          <a:p>
            <a:pPr algn="ctr"/>
            <a:endParaRPr lang="en-US" sz="2400">
              <a:solidFill>
                <a:srgbClr val="3DDC84"/>
              </a:solidFill>
              <a:latin typeface="Open Sans Semibold" panose="020B0706030804020204" charset="0"/>
              <a:cs typeface="Open Sans Semibold" panose="020B0706030804020204" charset="0"/>
            </a:endParaRPr>
          </a:p>
          <a:p>
            <a:pPr algn="ctr"/>
            <a:endParaRPr lang="en-US" sz="2400">
              <a:solidFill>
                <a:srgbClr val="3DDC84"/>
              </a:solidFill>
              <a:latin typeface="Open Sans Semibold" panose="020B0706030804020204" charset="0"/>
              <a:cs typeface="Open Sans Semibold" panose="020B0706030804020204" charset="0"/>
            </a:endParaRPr>
          </a:p>
          <a:p>
            <a:pPr algn="ctr"/>
            <a:endParaRPr lang="en-US" sz="2400">
              <a:solidFill>
                <a:srgbClr val="3DDC84"/>
              </a:solidFill>
              <a:latin typeface="Open Sans Semibold" panose="020B0706030804020204" charset="0"/>
              <a:cs typeface="Open Sans Semibold" panose="020B0706030804020204" charset="0"/>
            </a:endParaRPr>
          </a:p>
          <a:p>
            <a:pPr algn="ctr"/>
            <a:r>
              <a:rPr lang="en-US" sz="2400">
                <a:solidFill>
                  <a:srgbClr val="3DDC84"/>
                </a:solidFill>
                <a:latin typeface="Open Sans Semibold" panose="020B0706030804020204" charset="0"/>
                <a:cs typeface="Open Sans Semibold" panose="020B0706030804020204" charset="0"/>
              </a:rPr>
              <a:t>https://developer.android.com/guide</a:t>
            </a:r>
          </a:p>
        </p:txBody>
      </p:sp>
      <p:pic>
        <p:nvPicPr>
          <p:cNvPr id="5" name="Picture Placeholder 4" descr="chevron-down"/>
          <p:cNvPicPr>
            <a:picLocks noGrp="1" noChangeAspect="1"/>
          </p:cNvPicPr>
          <p:nvPr>
            <p:ph type="pic" idx="10"/>
          </p:nvPr>
        </p:nvPicPr>
        <p:blipFill>
          <a:blip r:embed="rId2">
            <a:extLst>
              <a:ext uri="{96DAC541-7B7A-43D3-8B79-37D633B846F1}">
                <asvg:svgBlip xmlns:asvg="http://schemas.microsoft.com/office/drawing/2016/SVG/main" r:embed="rId3"/>
              </a:ext>
            </a:extLst>
          </a:blip>
          <a:stretch>
            <a:fillRect/>
          </a:stretch>
        </p:blipFill>
        <p:spPr>
          <a:xfrm>
            <a:off x="5406390" y="2739390"/>
            <a:ext cx="1010920" cy="1010920"/>
          </a:xfrm>
          <a:prstGeom prst="rect">
            <a:avLst/>
          </a:prstGeom>
        </p:spPr>
      </p:pic>
      <p:pic>
        <p:nvPicPr>
          <p:cNvPr id="6" name="Picture Placeholder 4" descr="chevron-dow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06390" y="2923540"/>
            <a:ext cx="1010920" cy="10109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3DDC84"/>
        </a:solidFill>
        <a:effectLst/>
      </p:bgPr>
    </p:bg>
    <p:spTree>
      <p:nvGrpSpPr>
        <p:cNvPr id="1" name=""/>
        <p:cNvGrpSpPr/>
        <p:nvPr/>
      </p:nvGrpSpPr>
      <p:grpSpPr>
        <a:xfrm>
          <a:off x="0" y="0"/>
          <a:ext cx="0" cy="0"/>
          <a:chOff x="0" y="0"/>
          <a:chExt cx="0" cy="0"/>
        </a:xfrm>
      </p:grpSpPr>
      <p:sp>
        <p:nvSpPr>
          <p:cNvPr id="26" name="文本框 25"/>
          <p:cNvSpPr txBox="1"/>
          <p:nvPr/>
        </p:nvSpPr>
        <p:spPr>
          <a:xfrm>
            <a:off x="2351881" y="3013650"/>
            <a:ext cx="7310438" cy="829945"/>
          </a:xfrm>
          <a:prstGeom prst="rect">
            <a:avLst/>
          </a:prstGeom>
          <a:noFill/>
        </p:spPr>
        <p:txBody>
          <a:bodyPr wrap="square" rtlCol="0">
            <a:spAutoFit/>
          </a:bodyPr>
          <a:lstStyle/>
          <a:p>
            <a:pPr algn="ctr"/>
            <a:r>
              <a:rPr lang="en-US" altLang="zh-CN" sz="4800" dirty="0">
                <a:solidFill>
                  <a:schemeClr val="bg1"/>
                </a:solidFill>
                <a:latin typeface="Segoe UI" panose="020B0502040204020203" charset="0"/>
                <a:cs typeface="Segoe UI" panose="020B0502040204020203" charset="0"/>
              </a:rPr>
              <a:t>Ada pertanyaan?</a:t>
            </a:r>
            <a:endParaRPr lang="en-US" altLang="zh-CN" sz="4800" b="1" dirty="0">
              <a:solidFill>
                <a:schemeClr val="bg1"/>
              </a:solidFill>
              <a:latin typeface="Segoe UI" panose="020B0502040204020203" charset="0"/>
              <a:cs typeface="Segoe UI" panose="020B0502040204020203" charset="0"/>
            </a:endParaRPr>
          </a:p>
        </p:txBody>
      </p:sp>
      <p:sp>
        <p:nvSpPr>
          <p:cNvPr id="27" name="矩形 26"/>
          <p:cNvSpPr/>
          <p:nvPr/>
        </p:nvSpPr>
        <p:spPr>
          <a:xfrm>
            <a:off x="3048000" y="5901129"/>
            <a:ext cx="6096000" cy="614045"/>
          </a:xfrm>
          <a:prstGeom prst="rect">
            <a:avLst/>
          </a:prstGeom>
        </p:spPr>
        <p:txBody>
          <a:bodyPr>
            <a:spAutoFit/>
          </a:bodyPr>
          <a:lstStyle/>
          <a:p>
            <a:pPr algn="ctr">
              <a:lnSpc>
                <a:spcPct val="100000"/>
              </a:lnSpc>
            </a:pPr>
            <a:r>
              <a:rPr lang="en-US" altLang="zh-CN" b="1" dirty="0">
                <a:solidFill>
                  <a:schemeClr val="bg1"/>
                </a:solidFill>
              </a:rPr>
              <a:t>Pemrograman Platform Khusus</a:t>
            </a:r>
            <a:endParaRPr lang="en-US" altLang="zh-CN" sz="1600" dirty="0">
              <a:solidFill>
                <a:schemeClr val="bg1"/>
              </a:solidFill>
            </a:endParaRPr>
          </a:p>
          <a:p>
            <a:pPr algn="ctr">
              <a:lnSpc>
                <a:spcPct val="100000"/>
              </a:lnSpc>
            </a:pPr>
            <a:r>
              <a:rPr lang="en-US" altLang="zh-CN" sz="1600" dirty="0">
                <a:solidFill>
                  <a:schemeClr val="bg1"/>
                </a:solidFill>
              </a:rPr>
              <a:t>Politeknik Statistika STIS</a:t>
            </a:r>
            <a:r>
              <a:rPr lang="en-US" altLang="zh-CN" sz="1600">
                <a:solidFill>
                  <a:schemeClr val="bg1"/>
                </a:solidFill>
              </a:rPr>
              <a:t>, 2023</a:t>
            </a:r>
            <a:endParaRPr lang="en-US" altLang="zh-CN" sz="16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4ot2hzvm">
      <a:dk1>
        <a:srgbClr val="000000"/>
      </a:dk1>
      <a:lt1>
        <a:srgbClr val="FFFFFF"/>
      </a:lt1>
      <a:dk2>
        <a:srgbClr val="778495"/>
      </a:dk2>
      <a:lt2>
        <a:srgbClr val="F0F0F0"/>
      </a:lt2>
      <a:accent1>
        <a:srgbClr val="3FAD86"/>
      </a:accent1>
      <a:accent2>
        <a:srgbClr val="90D8C0"/>
      </a:accent2>
      <a:accent3>
        <a:srgbClr val="646464"/>
      </a:accent3>
      <a:accent4>
        <a:srgbClr val="828282"/>
      </a:accent4>
      <a:accent5>
        <a:srgbClr val="A5A5A5"/>
      </a:accent5>
      <a:accent6>
        <a:srgbClr val="C9C9C9"/>
      </a:accent6>
      <a:hlink>
        <a:srgbClr val="3FAD86"/>
      </a:hlink>
      <a:folHlink>
        <a:srgbClr val="BFBFBF"/>
      </a:folHlink>
    </a:clrScheme>
    <a:fontScheme name="国外模板制作字体">
      <a:majorFont>
        <a:latin typeface="Century Gothic"/>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4ot2hzvm">
    <a:dk1>
      <a:srgbClr val="000000"/>
    </a:dk1>
    <a:lt1>
      <a:srgbClr val="FFFFFF"/>
    </a:lt1>
    <a:dk2>
      <a:srgbClr val="778495"/>
    </a:dk2>
    <a:lt2>
      <a:srgbClr val="F0F0F0"/>
    </a:lt2>
    <a:accent1>
      <a:srgbClr val="3FAD86"/>
    </a:accent1>
    <a:accent2>
      <a:srgbClr val="90D8C0"/>
    </a:accent2>
    <a:accent3>
      <a:srgbClr val="646464"/>
    </a:accent3>
    <a:accent4>
      <a:srgbClr val="828282"/>
    </a:accent4>
    <a:accent5>
      <a:srgbClr val="A5A5A5"/>
    </a:accent5>
    <a:accent6>
      <a:srgbClr val="C9C9C9"/>
    </a:accent6>
    <a:hlink>
      <a:srgbClr val="3FAD86"/>
    </a:hlink>
    <a:folHlink>
      <a:srgbClr val="BFBFBF"/>
    </a:folHlink>
  </a:clrScheme>
</a:themeOverride>
</file>

<file path=ppt/theme/themeOverride2.xml><?xml version="1.0" encoding="utf-8"?>
<a:themeOverride xmlns:a="http://schemas.openxmlformats.org/drawingml/2006/main">
  <a:clrScheme name="4ot2hzvm">
    <a:dk1>
      <a:srgbClr val="000000"/>
    </a:dk1>
    <a:lt1>
      <a:srgbClr val="FFFFFF"/>
    </a:lt1>
    <a:dk2>
      <a:srgbClr val="778495"/>
    </a:dk2>
    <a:lt2>
      <a:srgbClr val="F0F0F0"/>
    </a:lt2>
    <a:accent1>
      <a:srgbClr val="3FAD86"/>
    </a:accent1>
    <a:accent2>
      <a:srgbClr val="90D8C0"/>
    </a:accent2>
    <a:accent3>
      <a:srgbClr val="646464"/>
    </a:accent3>
    <a:accent4>
      <a:srgbClr val="828282"/>
    </a:accent4>
    <a:accent5>
      <a:srgbClr val="A5A5A5"/>
    </a:accent5>
    <a:accent6>
      <a:srgbClr val="C9C9C9"/>
    </a:accent6>
    <a:hlink>
      <a:srgbClr val="3FAD86"/>
    </a:hlink>
    <a:folHlink>
      <a:srgbClr val="BFBFBF"/>
    </a:folHlink>
  </a:clrScheme>
</a:themeOverride>
</file>

<file path=ppt/theme/themeOverride3.xml><?xml version="1.0" encoding="utf-8"?>
<a:themeOverride xmlns:a="http://schemas.openxmlformats.org/drawingml/2006/main">
  <a:clrScheme name="4ot2hzvm">
    <a:dk1>
      <a:srgbClr val="000000"/>
    </a:dk1>
    <a:lt1>
      <a:srgbClr val="FFFFFF"/>
    </a:lt1>
    <a:dk2>
      <a:srgbClr val="778495"/>
    </a:dk2>
    <a:lt2>
      <a:srgbClr val="F0F0F0"/>
    </a:lt2>
    <a:accent1>
      <a:srgbClr val="3FAD86"/>
    </a:accent1>
    <a:accent2>
      <a:srgbClr val="90D8C0"/>
    </a:accent2>
    <a:accent3>
      <a:srgbClr val="646464"/>
    </a:accent3>
    <a:accent4>
      <a:srgbClr val="828282"/>
    </a:accent4>
    <a:accent5>
      <a:srgbClr val="A5A5A5"/>
    </a:accent5>
    <a:accent6>
      <a:srgbClr val="C9C9C9"/>
    </a:accent6>
    <a:hlink>
      <a:srgbClr val="3FAD86"/>
    </a:hlink>
    <a:folHlink>
      <a:srgbClr val="BFBFBF"/>
    </a:folHlink>
  </a:clrScheme>
</a:themeOverride>
</file>

<file path=ppt/theme/themeOverride4.xml><?xml version="1.0" encoding="utf-8"?>
<a:themeOverride xmlns:a="http://schemas.openxmlformats.org/drawingml/2006/main">
  <a:clrScheme name="4ot2hzvm">
    <a:dk1>
      <a:srgbClr val="000000"/>
    </a:dk1>
    <a:lt1>
      <a:srgbClr val="FFFFFF"/>
    </a:lt1>
    <a:dk2>
      <a:srgbClr val="778495"/>
    </a:dk2>
    <a:lt2>
      <a:srgbClr val="F0F0F0"/>
    </a:lt2>
    <a:accent1>
      <a:srgbClr val="3FAD86"/>
    </a:accent1>
    <a:accent2>
      <a:srgbClr val="90D8C0"/>
    </a:accent2>
    <a:accent3>
      <a:srgbClr val="646464"/>
    </a:accent3>
    <a:accent4>
      <a:srgbClr val="828282"/>
    </a:accent4>
    <a:accent5>
      <a:srgbClr val="A5A5A5"/>
    </a:accent5>
    <a:accent6>
      <a:srgbClr val="C9C9C9"/>
    </a:accent6>
    <a:hlink>
      <a:srgbClr val="3FAD86"/>
    </a:hlink>
    <a:folHlink>
      <a:srgbClr val="BFBFBF"/>
    </a:folHlink>
  </a:clrScheme>
</a:themeOverride>
</file>

<file path=ppt/theme/themeOverride5.xml><?xml version="1.0" encoding="utf-8"?>
<a:themeOverride xmlns:a="http://schemas.openxmlformats.org/drawingml/2006/main">
  <a:clrScheme name="4ot2hzvm">
    <a:dk1>
      <a:srgbClr val="000000"/>
    </a:dk1>
    <a:lt1>
      <a:srgbClr val="FFFFFF"/>
    </a:lt1>
    <a:dk2>
      <a:srgbClr val="778495"/>
    </a:dk2>
    <a:lt2>
      <a:srgbClr val="F0F0F0"/>
    </a:lt2>
    <a:accent1>
      <a:srgbClr val="3FAD86"/>
    </a:accent1>
    <a:accent2>
      <a:srgbClr val="90D8C0"/>
    </a:accent2>
    <a:accent3>
      <a:srgbClr val="646464"/>
    </a:accent3>
    <a:accent4>
      <a:srgbClr val="828282"/>
    </a:accent4>
    <a:accent5>
      <a:srgbClr val="A5A5A5"/>
    </a:accent5>
    <a:accent6>
      <a:srgbClr val="C9C9C9"/>
    </a:accent6>
    <a:hlink>
      <a:srgbClr val="3FAD86"/>
    </a:hlink>
    <a:folHlink>
      <a:srgbClr val="BFBFBF"/>
    </a:folHlink>
  </a:clrScheme>
</a:themeOverride>
</file>

<file path=ppt/theme/themeOverride6.xml><?xml version="1.0" encoding="utf-8"?>
<a:themeOverride xmlns:a="http://schemas.openxmlformats.org/drawingml/2006/main">
  <a:clrScheme name="4ot2hzvm">
    <a:dk1>
      <a:srgbClr val="000000"/>
    </a:dk1>
    <a:lt1>
      <a:srgbClr val="FFFFFF"/>
    </a:lt1>
    <a:dk2>
      <a:srgbClr val="778495"/>
    </a:dk2>
    <a:lt2>
      <a:srgbClr val="F0F0F0"/>
    </a:lt2>
    <a:accent1>
      <a:srgbClr val="3FAD86"/>
    </a:accent1>
    <a:accent2>
      <a:srgbClr val="90D8C0"/>
    </a:accent2>
    <a:accent3>
      <a:srgbClr val="646464"/>
    </a:accent3>
    <a:accent4>
      <a:srgbClr val="828282"/>
    </a:accent4>
    <a:accent5>
      <a:srgbClr val="A5A5A5"/>
    </a:accent5>
    <a:accent6>
      <a:srgbClr val="C9C9C9"/>
    </a:accent6>
    <a:hlink>
      <a:srgbClr val="3FAD86"/>
    </a:hlink>
    <a:folHlink>
      <a:srgbClr val="BFBFBF"/>
    </a:folHlink>
  </a:clrScheme>
</a:themeOverride>
</file>

<file path=ppt/theme/themeOverride7.xml><?xml version="1.0" encoding="utf-8"?>
<a:themeOverride xmlns:a="http://schemas.openxmlformats.org/drawingml/2006/main">
  <a:clrScheme name="4ot2hzvm">
    <a:dk1>
      <a:srgbClr val="000000"/>
    </a:dk1>
    <a:lt1>
      <a:srgbClr val="FFFFFF"/>
    </a:lt1>
    <a:dk2>
      <a:srgbClr val="778495"/>
    </a:dk2>
    <a:lt2>
      <a:srgbClr val="F0F0F0"/>
    </a:lt2>
    <a:accent1>
      <a:srgbClr val="3FAD86"/>
    </a:accent1>
    <a:accent2>
      <a:srgbClr val="90D8C0"/>
    </a:accent2>
    <a:accent3>
      <a:srgbClr val="646464"/>
    </a:accent3>
    <a:accent4>
      <a:srgbClr val="828282"/>
    </a:accent4>
    <a:accent5>
      <a:srgbClr val="A5A5A5"/>
    </a:accent5>
    <a:accent6>
      <a:srgbClr val="C9C9C9"/>
    </a:accent6>
    <a:hlink>
      <a:srgbClr val="3FAD86"/>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844</Words>
  <Application>Microsoft Office PowerPoint</Application>
  <PresentationFormat>Widescreen</PresentationFormat>
  <Paragraphs>130</Paragraphs>
  <Slides>30</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等线</vt:lpstr>
      <vt:lpstr>Arial</vt:lpstr>
      <vt:lpstr>Century Gothic</vt:lpstr>
      <vt:lpstr>Consolas</vt:lpstr>
      <vt:lpstr>Open Sans</vt:lpstr>
      <vt:lpstr>Open Sans Semibold</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Ibnu Santoso</cp:lastModifiedBy>
  <cp:revision>554</cp:revision>
  <dcterms:created xsi:type="dcterms:W3CDTF">2022-08-19T06:51:00Z</dcterms:created>
  <dcterms:modified xsi:type="dcterms:W3CDTF">2023-11-28T04:23:22Z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2C77CF9D6C91433DB5B962A0CF5D0876</vt:lpwstr>
  </property>
  <property fmtid="{D5CDD505-2E9C-101B-9397-08002B2CF9AE}" pid="3" name="KSOProductBuildVer">
    <vt:lpwstr>1033-11.2.0.11417</vt:lpwstr>
  </property>
</Properties>
</file>