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sldIdLst>
    <p:sldId id="256" r:id="rId2"/>
    <p:sldId id="337" r:id="rId3"/>
    <p:sldId id="609" r:id="rId4"/>
    <p:sldId id="572" r:id="rId5"/>
    <p:sldId id="621" r:id="rId6"/>
    <p:sldId id="631" r:id="rId7"/>
    <p:sldId id="632" r:id="rId8"/>
    <p:sldId id="566" r:id="rId9"/>
    <p:sldId id="626" r:id="rId10"/>
    <p:sldId id="633" r:id="rId11"/>
    <p:sldId id="628" r:id="rId12"/>
    <p:sldId id="629" r:id="rId13"/>
    <p:sldId id="630" r:id="rId14"/>
    <p:sldId id="358" r:id="rId15"/>
    <p:sldId id="5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6A86614B-2600-429A-AA34-18849E7BEDC2}">
          <p14:sldIdLst>
            <p14:sldId id="256"/>
            <p14:sldId id="337"/>
            <p14:sldId id="609"/>
            <p14:sldId id="572"/>
            <p14:sldId id="621"/>
            <p14:sldId id="631"/>
            <p14:sldId id="632"/>
            <p14:sldId id="566"/>
            <p14:sldId id="626"/>
            <p14:sldId id="633"/>
            <p14:sldId id="628"/>
            <p14:sldId id="629"/>
            <p14:sldId id="630"/>
            <p14:sldId id="358"/>
            <p14:sldId id="571"/>
          </p14:sldIdLst>
        </p14:section>
        <p14:section name="Template" id="{BF6A4F90-709A-41D3-A26F-E1FD9E5EE13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DC84"/>
    <a:srgbClr val="3FAD86"/>
    <a:srgbClr val="F04E37"/>
    <a:srgbClr val="A2A2A2"/>
    <a:srgbClr val="99D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93" autoAdjust="0"/>
    <p:restoredTop sz="94660"/>
  </p:normalViewPr>
  <p:slideViewPr>
    <p:cSldViewPr snapToGrid="0">
      <p:cViewPr varScale="1">
        <p:scale>
          <a:sx n="90" d="100"/>
          <a:sy n="90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359E4-CC7C-4E34-9F0B-04017D3A60D8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7AE9A-01D7-45F1-A266-4CF0781F88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1" y="0"/>
            <a:ext cx="4950731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162839" y="1583676"/>
            <a:ext cx="2851698" cy="2759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177463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192087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>
          <a:xfrm>
            <a:off x="9148215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096000" y="1268413"/>
            <a:ext cx="2232752" cy="236715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6096000" y="3820245"/>
            <a:ext cx="2232752" cy="236715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911225" y="635000"/>
            <a:ext cx="10369550" cy="34988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57951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325235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0201084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>
            <a:spLocks noGrp="1"/>
          </p:cNvSpPr>
          <p:nvPr>
            <p:ph type="pic" sz="quarter" idx="10"/>
          </p:nvPr>
        </p:nvSpPr>
        <p:spPr>
          <a:xfrm>
            <a:off x="11049000" y="1"/>
            <a:ext cx="1143000" cy="5210175"/>
          </a:xfrm>
          <a:custGeom>
            <a:avLst/>
            <a:gdLst>
              <a:gd name="connsiteX0" fmla="*/ 0 w 1143000"/>
              <a:gd name="connsiteY0" fmla="*/ 0 h 5210175"/>
              <a:gd name="connsiteX1" fmla="*/ 1143000 w 1143000"/>
              <a:gd name="connsiteY1" fmla="*/ 0 h 5210175"/>
              <a:gd name="connsiteX2" fmla="*/ 1143000 w 1143000"/>
              <a:gd name="connsiteY2" fmla="*/ 5210175 h 5210175"/>
              <a:gd name="connsiteX3" fmla="*/ 206382 w 1143000"/>
              <a:gd name="connsiteY3" fmla="*/ 5210175 h 5210175"/>
              <a:gd name="connsiteX4" fmla="*/ 0 w 1143000"/>
              <a:gd name="connsiteY4" fmla="*/ 5003793 h 521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000" h="5210175">
                <a:moveTo>
                  <a:pt x="0" y="0"/>
                </a:moveTo>
                <a:lnTo>
                  <a:pt x="1143000" y="0"/>
                </a:lnTo>
                <a:lnTo>
                  <a:pt x="1143000" y="5210175"/>
                </a:lnTo>
                <a:lnTo>
                  <a:pt x="206382" y="5210175"/>
                </a:lnTo>
                <a:cubicBezTo>
                  <a:pt x="92400" y="5210175"/>
                  <a:pt x="0" y="5117775"/>
                  <a:pt x="0" y="500379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任意多边形: 形状 6"/>
          <p:cNvSpPr>
            <a:spLocks noGrp="1"/>
          </p:cNvSpPr>
          <p:nvPr>
            <p:ph type="pic" sz="quarter" idx="11"/>
          </p:nvPr>
        </p:nvSpPr>
        <p:spPr>
          <a:xfrm>
            <a:off x="7849772" y="2278966"/>
            <a:ext cx="2757268" cy="4579034"/>
          </a:xfrm>
          <a:custGeom>
            <a:avLst/>
            <a:gdLst>
              <a:gd name="connsiteX0" fmla="*/ 206326 w 2757268"/>
              <a:gd name="connsiteY0" fmla="*/ 0 h 4579034"/>
              <a:gd name="connsiteX1" fmla="*/ 2550942 w 2757268"/>
              <a:gd name="connsiteY1" fmla="*/ 0 h 4579034"/>
              <a:gd name="connsiteX2" fmla="*/ 2757268 w 2757268"/>
              <a:gd name="connsiteY2" fmla="*/ 206326 h 4579034"/>
              <a:gd name="connsiteX3" fmla="*/ 2757268 w 2757268"/>
              <a:gd name="connsiteY3" fmla="*/ 4579034 h 4579034"/>
              <a:gd name="connsiteX4" fmla="*/ 0 w 2757268"/>
              <a:gd name="connsiteY4" fmla="*/ 4579034 h 4579034"/>
              <a:gd name="connsiteX5" fmla="*/ 0 w 2757268"/>
              <a:gd name="connsiteY5" fmla="*/ 206326 h 4579034"/>
              <a:gd name="connsiteX6" fmla="*/ 206326 w 2757268"/>
              <a:gd name="connsiteY6" fmla="*/ 0 h 45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57268" h="4579034">
                <a:moveTo>
                  <a:pt x="206326" y="0"/>
                </a:moveTo>
                <a:lnTo>
                  <a:pt x="2550942" y="0"/>
                </a:lnTo>
                <a:cubicBezTo>
                  <a:pt x="2664893" y="0"/>
                  <a:pt x="2757268" y="92375"/>
                  <a:pt x="2757268" y="206326"/>
                </a:cubicBezTo>
                <a:lnTo>
                  <a:pt x="2757268" y="4579034"/>
                </a:lnTo>
                <a:lnTo>
                  <a:pt x="0" y="4579034"/>
                </a:lnTo>
                <a:lnTo>
                  <a:pt x="0" y="206326"/>
                </a:lnTo>
                <a:cubicBezTo>
                  <a:pt x="0" y="92375"/>
                  <a:pt x="92375" y="0"/>
                  <a:pt x="2063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3744686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229100" y="0"/>
            <a:ext cx="37338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7730133" y="1450053"/>
            <a:ext cx="2849950" cy="31509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4694192" y="1450053"/>
            <a:ext cx="2849950" cy="31509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1658250" y="1450053"/>
            <a:ext cx="2849950" cy="31509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idx="10"/>
          </p:nvPr>
        </p:nvSpPr>
        <p:spPr>
          <a:xfrm>
            <a:off x="6096000" y="0"/>
            <a:ext cx="2598057" cy="34290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694058" y="-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096000" y="342900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8694058" y="342900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idx="10"/>
          </p:nvPr>
        </p:nvSpPr>
        <p:spPr>
          <a:xfrm>
            <a:off x="911226" y="635001"/>
            <a:ext cx="5184775" cy="2794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096000" y="3442580"/>
            <a:ext cx="5184775" cy="2794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>
            <a:spLocks noGrp="1"/>
          </p:cNvSpPr>
          <p:nvPr>
            <p:ph type="pic" sz="quarter" idx="10"/>
          </p:nvPr>
        </p:nvSpPr>
        <p:spPr>
          <a:xfrm>
            <a:off x="911226" y="0"/>
            <a:ext cx="4046365" cy="5067759"/>
          </a:xfrm>
          <a:custGeom>
            <a:avLst/>
            <a:gdLst>
              <a:gd name="connsiteX0" fmla="*/ 0 w 4046365"/>
              <a:gd name="connsiteY0" fmla="*/ 0 h 5067759"/>
              <a:gd name="connsiteX1" fmla="*/ 4046365 w 4046365"/>
              <a:gd name="connsiteY1" fmla="*/ 0 h 5067759"/>
              <a:gd name="connsiteX2" fmla="*/ 4046365 w 4046365"/>
              <a:gd name="connsiteY2" fmla="*/ 5067759 h 5067759"/>
              <a:gd name="connsiteX3" fmla="*/ 0 w 4046365"/>
              <a:gd name="connsiteY3" fmla="*/ 5067759 h 5067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365" h="5067759">
                <a:moveTo>
                  <a:pt x="0" y="0"/>
                </a:moveTo>
                <a:lnTo>
                  <a:pt x="4046365" y="0"/>
                </a:lnTo>
                <a:lnTo>
                  <a:pt x="4046365" y="5067759"/>
                </a:lnTo>
                <a:lnTo>
                  <a:pt x="0" y="506775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>
            <a:spLocks noGrp="1"/>
          </p:cNvSpPr>
          <p:nvPr>
            <p:ph type="pic" sz="quarter" idx="10"/>
          </p:nvPr>
        </p:nvSpPr>
        <p:spPr>
          <a:xfrm>
            <a:off x="3949560" y="635001"/>
            <a:ext cx="4292880" cy="4181475"/>
          </a:xfrm>
          <a:custGeom>
            <a:avLst/>
            <a:gdLst>
              <a:gd name="connsiteX0" fmla="*/ 0 w 4292880"/>
              <a:gd name="connsiteY0" fmla="*/ 0 h 4181475"/>
              <a:gd name="connsiteX1" fmla="*/ 4292880 w 4292880"/>
              <a:gd name="connsiteY1" fmla="*/ 0 h 4181475"/>
              <a:gd name="connsiteX2" fmla="*/ 4292880 w 4292880"/>
              <a:gd name="connsiteY2" fmla="*/ 4181475 h 4181475"/>
              <a:gd name="connsiteX3" fmla="*/ 0 w 4292880"/>
              <a:gd name="connsiteY3" fmla="*/ 4181475 h 418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2880" h="4181475">
                <a:moveTo>
                  <a:pt x="0" y="0"/>
                </a:moveTo>
                <a:lnTo>
                  <a:pt x="4292880" y="0"/>
                </a:lnTo>
                <a:lnTo>
                  <a:pt x="4292880" y="4181475"/>
                </a:lnTo>
                <a:lnTo>
                  <a:pt x="0" y="4181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>
            <a:spLocks noGrp="1"/>
          </p:cNvSpPr>
          <p:nvPr>
            <p:ph type="pic" sz="quarter" idx="10"/>
          </p:nvPr>
        </p:nvSpPr>
        <p:spPr>
          <a:xfrm>
            <a:off x="911225" y="3073706"/>
            <a:ext cx="5184775" cy="3127069"/>
          </a:xfrm>
          <a:custGeom>
            <a:avLst/>
            <a:gdLst>
              <a:gd name="connsiteX0" fmla="*/ 0 w 5184775"/>
              <a:gd name="connsiteY0" fmla="*/ 0 h 3127069"/>
              <a:gd name="connsiteX1" fmla="*/ 5184775 w 5184775"/>
              <a:gd name="connsiteY1" fmla="*/ 0 h 3127069"/>
              <a:gd name="connsiteX2" fmla="*/ 5184775 w 5184775"/>
              <a:gd name="connsiteY2" fmla="*/ 3127069 h 3127069"/>
              <a:gd name="connsiteX3" fmla="*/ 0 w 5184775"/>
              <a:gd name="connsiteY3" fmla="*/ 3127069 h 3127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4775" h="3127069">
                <a:moveTo>
                  <a:pt x="0" y="0"/>
                </a:moveTo>
                <a:lnTo>
                  <a:pt x="5184775" y="0"/>
                </a:lnTo>
                <a:lnTo>
                  <a:pt x="5184775" y="3127069"/>
                </a:lnTo>
                <a:lnTo>
                  <a:pt x="0" y="312706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07276" y="680545"/>
            <a:ext cx="3174124" cy="37048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794235" y="2685611"/>
            <a:ext cx="3174124" cy="370489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153679" y="2924081"/>
            <a:ext cx="1849696" cy="136434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1"/>
          </p:nvPr>
        </p:nvSpPr>
        <p:spPr>
          <a:xfrm>
            <a:off x="2227035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6188625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8115270" y="2924081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4"/>
          </p:nvPr>
        </p:nvSpPr>
        <p:spPr>
          <a:xfrm>
            <a:off x="10150216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5"/>
          </p:nvPr>
        </p:nvSpPr>
        <p:spPr>
          <a:xfrm>
            <a:off x="192088" y="2924081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>
            <a:spLocks noGrp="1"/>
          </p:cNvSpPr>
          <p:nvPr>
            <p:ph type="pic" idx="10"/>
          </p:nvPr>
        </p:nvSpPr>
        <p:spPr>
          <a:xfrm>
            <a:off x="6096000" y="1268414"/>
            <a:ext cx="5459730" cy="1874838"/>
          </a:xfrm>
          <a:custGeom>
            <a:avLst/>
            <a:gdLst>
              <a:gd name="connsiteX0" fmla="*/ 0 w 5459730"/>
              <a:gd name="connsiteY0" fmla="*/ 0 h 1874837"/>
              <a:gd name="connsiteX1" fmla="*/ 5459730 w 5459730"/>
              <a:gd name="connsiteY1" fmla="*/ 0 h 1874837"/>
              <a:gd name="connsiteX2" fmla="*/ 5459730 w 5459730"/>
              <a:gd name="connsiteY2" fmla="*/ 1874837 h 1874837"/>
              <a:gd name="connsiteX3" fmla="*/ 0 w 5459730"/>
              <a:gd name="connsiteY3" fmla="*/ 1874837 h 1874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9730" h="1874837">
                <a:moveTo>
                  <a:pt x="0" y="0"/>
                </a:moveTo>
                <a:lnTo>
                  <a:pt x="5459730" y="0"/>
                </a:lnTo>
                <a:lnTo>
                  <a:pt x="5459730" y="1874837"/>
                </a:lnTo>
                <a:lnTo>
                  <a:pt x="0" y="18748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>
            <a:spLocks noGrp="1"/>
          </p:cNvSpPr>
          <p:nvPr>
            <p:ph type="pic" sz="quarter" idx="10"/>
          </p:nvPr>
        </p:nvSpPr>
        <p:spPr>
          <a:xfrm>
            <a:off x="7258050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/>
          <p:cNvSpPr>
            <a:spLocks noGrp="1"/>
          </p:cNvSpPr>
          <p:nvPr>
            <p:ph type="pic" sz="quarter" idx="11"/>
          </p:nvPr>
        </p:nvSpPr>
        <p:spPr>
          <a:xfrm>
            <a:off x="8664082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/>
          <p:cNvSpPr>
            <a:spLocks noGrp="1"/>
          </p:cNvSpPr>
          <p:nvPr>
            <p:ph type="pic" sz="quarter" idx="12"/>
          </p:nvPr>
        </p:nvSpPr>
        <p:spPr>
          <a:xfrm>
            <a:off x="10070114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112316" y="0"/>
            <a:ext cx="6079684" cy="60511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911227" y="4095751"/>
            <a:ext cx="3603625" cy="21050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35" y="3803015"/>
            <a:ext cx="121907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3DDC84"/>
                </a:solidFill>
                <a:latin typeface="Open Sans Semibold" panose="020B0706030804020204" charset="0"/>
                <a:cs typeface="Open Sans Semibold" panose="020B0706030804020204" charset="0"/>
              </a:rPr>
              <a:t>Android Intent</a:t>
            </a:r>
            <a:endParaRPr lang="en-US" altLang="zh-CN" sz="4800" b="1" dirty="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48635" y="5723329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 err="1">
                <a:solidFill>
                  <a:schemeClr val="bg1">
                    <a:lumMod val="65000"/>
                  </a:schemeClr>
                </a:solidFill>
              </a:rPr>
              <a:t>Pemrograman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 Platform Khusus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Politeknik Statistika STIS, 2023</a:t>
            </a:r>
          </a:p>
        </p:txBody>
      </p:sp>
      <p:pic>
        <p:nvPicPr>
          <p:cNvPr id="2" name="Pict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4205605" y="1621155"/>
            <a:ext cx="3780790" cy="2181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1366520" y="1721485"/>
            <a:ext cx="94583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Open Sans Semibold" panose="020B0706030804020204" charset="0"/>
                <a:cs typeface="Open Sans Semibold" panose="020B0706030804020204" charset="0"/>
              </a:rPr>
              <a:t>Android Intent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“Objek perpesanan yang digunakan untuk meminta tindakan dari komponen aplikasi.”</a:t>
            </a:r>
          </a:p>
          <a:p>
            <a:pPr algn="ctr"/>
            <a:endParaRPr lang="en-US" altLang="zh-CN" sz="2800" dirty="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algn="ctr"/>
            <a:endParaRPr lang="en-US" altLang="zh-CN" sz="2800" dirty="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algn="ctr"/>
            <a:r>
              <a:rPr lang="en-US" altLang="zh-CN" sz="2800" dirty="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Yang dimaksud </a:t>
            </a:r>
            <a:r>
              <a:rPr lang="en-US" altLang="zh-CN" sz="2800" b="1" dirty="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komponen aplikasi</a:t>
            </a:r>
            <a:r>
              <a:rPr lang="en-US" altLang="zh-CN" sz="2800" dirty="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 ini yaitu: </a:t>
            </a:r>
          </a:p>
          <a:p>
            <a:pPr algn="ctr"/>
            <a:r>
              <a:rPr lang="en-US" altLang="zh-CN" sz="2800" b="1" i="1" dirty="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Activity, Service, atau Broadcast.</a:t>
            </a:r>
            <a:endParaRPr lang="en-US" sz="280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Penggunaan Intent</a:t>
            </a:r>
            <a:endParaRPr lang="en-US" sz="4000" b="1">
              <a:sym typeface="+mn-ea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5912485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5439410" y="316230"/>
            <a:ext cx="638873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Memulai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Intent digunakan untuk memulai Activity aplikasi lain.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Method untuk memulai Activity: </a:t>
            </a:r>
            <a:r>
              <a:rPr lang="en-US" sz="2000" b="1">
                <a:latin typeface="Consolas" panose="020B0609020204030204" charset="0"/>
                <a:cs typeface="Consolas" panose="020B0609020204030204" charset="0"/>
              </a:rPr>
              <a:t>startActivity()/startActivityForResult()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439410" y="2614295"/>
            <a:ext cx="638683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Memulai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Intent digunakan untuk memulai suatu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Service adalah proses yang berjalan di belakang tanpa UI.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Method untuk memulai service: </a:t>
            </a:r>
            <a:r>
              <a:rPr lang="en-US" sz="2000" b="1">
                <a:latin typeface="Consolas" panose="020B0609020204030204" charset="0"/>
                <a:cs typeface="Consolas" panose="020B0609020204030204" charset="0"/>
                <a:sym typeface="+mn-ea"/>
              </a:rPr>
              <a:t>startService()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49345" y="3199130"/>
            <a:ext cx="10826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Open Sans Semibold" panose="020B0706030804020204" charset="0"/>
                <a:cs typeface="Open Sans Semibold" panose="020B0706030804020204" charset="0"/>
              </a:rPr>
              <a:t>Intent</a:t>
            </a:r>
          </a:p>
        </p:txBody>
      </p:sp>
      <p:cxnSp>
        <p:nvCxnSpPr>
          <p:cNvPr id="6" name="Straight Arrow Connector 5"/>
          <p:cNvCxnSpPr>
            <a:stCxn id="5" idx="3"/>
            <a:endCxn id="2" idx="1"/>
          </p:cNvCxnSpPr>
          <p:nvPr/>
        </p:nvCxnSpPr>
        <p:spPr>
          <a:xfrm flipV="1">
            <a:off x="4732020" y="1131570"/>
            <a:ext cx="707390" cy="22980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3"/>
            <a:endCxn id="4" idx="1"/>
          </p:cNvCxnSpPr>
          <p:nvPr/>
        </p:nvCxnSpPr>
        <p:spPr>
          <a:xfrm>
            <a:off x="4732020" y="3429635"/>
            <a:ext cx="70739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5487035" y="4539615"/>
            <a:ext cx="636460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Mengirimkan Broadcast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Intent digunakan untuk mengirimkan broadcast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Broadcast adalah pesan yang dapat diterima aplikasi apa saja.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method untuk mengirim Broadcast: </a:t>
            </a:r>
            <a:r>
              <a:rPr lang="en-US" sz="2000" b="1">
                <a:latin typeface="Consolas" panose="020B0609020204030204" charset="0"/>
                <a:cs typeface="Consolas" panose="020B0609020204030204" charset="0"/>
              </a:rPr>
              <a:t>sendBroadcast() atau sendOrderedBroadcast()</a:t>
            </a:r>
          </a:p>
        </p:txBody>
      </p:sp>
      <p:cxnSp>
        <p:nvCxnSpPr>
          <p:cNvPr id="13" name="Straight Arrow Connector 12"/>
          <p:cNvCxnSpPr>
            <a:stCxn id="5" idx="3"/>
            <a:endCxn id="3" idx="1"/>
          </p:cNvCxnSpPr>
          <p:nvPr/>
        </p:nvCxnSpPr>
        <p:spPr>
          <a:xfrm>
            <a:off x="4732020" y="3429635"/>
            <a:ext cx="755015" cy="22326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hatsApp Image 2022-11-09 at 14.06.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40" y="294640"/>
            <a:ext cx="2266830" cy="504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 descr="WhatsApp Image 2022-11-09 at 14.06.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725" y="294640"/>
            <a:ext cx="2267122" cy="504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 descr="WhatsApp Image 2022-11-09 at 14.06.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340995"/>
            <a:ext cx="2267122" cy="504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6" name="Straight Arrow Connector 15"/>
          <p:cNvCxnSpPr/>
          <p:nvPr/>
        </p:nvCxnSpPr>
        <p:spPr>
          <a:xfrm>
            <a:off x="2212340" y="722630"/>
            <a:ext cx="2764790" cy="36937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938520" y="1414145"/>
            <a:ext cx="1209675" cy="30238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347345" y="5453380"/>
            <a:ext cx="24923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Open Sans" panose="020B0606030504020204" charset="0"/>
                <a:cs typeface="Open Sans" panose="020B0606030504020204" charset="0"/>
              </a:rPr>
              <a:t>Aplikasi Play Store menyediakan fitur berbagi.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3528695" y="5453380"/>
            <a:ext cx="24923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Open Sans" panose="020B0606030504020204" charset="0"/>
                <a:cs typeface="Open Sans" panose="020B0606030504020204" charset="0"/>
              </a:rPr>
              <a:t>Aplikasi Play Store menampilkan pilihan berbagi konten yaitu berupa link.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6710045" y="5453380"/>
            <a:ext cx="24923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Open Sans" panose="020B0606030504020204" charset="0"/>
                <a:cs typeface="Open Sans" panose="020B0606030504020204" charset="0"/>
              </a:rPr>
              <a:t>Sebuah link dikirim ke aplikasi Twitter untuk dibagikan melalui Tweet.</a:t>
            </a:r>
          </a:p>
        </p:txBody>
      </p:sp>
      <p:sp>
        <p:nvSpPr>
          <p:cNvPr id="23" name="Rectangles 22"/>
          <p:cNvSpPr/>
          <p:nvPr/>
        </p:nvSpPr>
        <p:spPr>
          <a:xfrm>
            <a:off x="258445" y="78105"/>
            <a:ext cx="9114155" cy="6701790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9620885" y="1908175"/>
            <a:ext cx="236664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>
                <a:latin typeface="Open Sans" panose="020B0606030504020204" charset="0"/>
                <a:cs typeface="Open Sans" panose="020B0606030504020204" charset="0"/>
                <a:sym typeface="+mn-ea"/>
              </a:rPr>
              <a:t>Contoh intent yang digunakan untuk memulai Activity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620885" y="3423285"/>
            <a:ext cx="236664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>
                <a:latin typeface="Open Sans" panose="020B0606030504020204" charset="0"/>
                <a:cs typeface="Open Sans" panose="020B0606030504020204" charset="0"/>
                <a:sym typeface="+mn-ea"/>
              </a:rPr>
              <a:t>Objek intent didefinsikan dalam aplikasi PlayStore yang memuat informasi untuk memulai activity pada aplikasi Twitter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Tipe Intent</a:t>
            </a:r>
            <a:endParaRPr lang="en-US" sz="4000" b="1">
              <a:sym typeface="+mn-ea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5912485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5439410" y="374650"/>
            <a:ext cx="607504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Intent Eksplisit</a:t>
            </a:r>
          </a:p>
          <a:p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Menentukan aplikasi mana yang akan memenuhi persyaratan intent dengan menyediakan nama paket aplikasi target maupun nama class komponen yang sepenuhnya memenuhi syarat.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439410" y="4362450"/>
            <a:ext cx="607377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Intent Implisit</a:t>
            </a:r>
          </a:p>
          <a:p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Tidak menetapkan komponen tertentu, melainkan mendeklarasikan tindakan umum yang akan dilakukan, yang memungkinkan komponen aplikasi lain untuk menanganinya.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649345" y="3199130"/>
            <a:ext cx="10826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Open Sans Semibold" panose="020B0706030804020204" charset="0"/>
                <a:cs typeface="Open Sans Semibold" panose="020B0706030804020204" charset="0"/>
              </a:rPr>
              <a:t>Intent</a:t>
            </a:r>
          </a:p>
        </p:txBody>
      </p:sp>
      <p:cxnSp>
        <p:nvCxnSpPr>
          <p:cNvPr id="6" name="Straight Arrow Connector 5"/>
          <p:cNvCxnSpPr>
            <a:stCxn id="5" idx="3"/>
            <a:endCxn id="2" idx="1"/>
          </p:cNvCxnSpPr>
          <p:nvPr/>
        </p:nvCxnSpPr>
        <p:spPr>
          <a:xfrm flipV="1">
            <a:off x="4732020" y="1189990"/>
            <a:ext cx="707390" cy="22396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3"/>
            <a:endCxn id="4" idx="1"/>
          </p:cNvCxnSpPr>
          <p:nvPr/>
        </p:nvCxnSpPr>
        <p:spPr>
          <a:xfrm>
            <a:off x="4732020" y="3429635"/>
            <a:ext cx="707390" cy="174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Contoh</a:t>
            </a:r>
          </a:p>
          <a:p>
            <a:pPr algn="ctr"/>
            <a:r>
              <a:rPr lang="en-US" sz="4000">
                <a:sym typeface="+mn-ea"/>
              </a:rPr>
              <a:t>Intent Eksplisit</a:t>
            </a:r>
            <a:endParaRPr lang="en-US" sz="4000" b="1">
              <a:sym typeface="+mn-ea"/>
            </a:endParaRPr>
          </a:p>
        </p:txBody>
      </p:sp>
      <p:pic>
        <p:nvPicPr>
          <p:cNvPr id="15" name="Picture Placeholder 14"/>
          <p:cNvPicPr>
            <a:picLocks noGrp="1" noChangeAspect="1"/>
          </p:cNvPicPr>
          <p:nvPr>
            <p:ph type="pic" idx="10"/>
          </p:nvPr>
        </p:nvPicPr>
        <p:blipFill>
          <a:blip r:embed="rId2"/>
          <a:stretch>
            <a:fillRect/>
          </a:stretch>
        </p:blipFill>
        <p:spPr>
          <a:xfrm>
            <a:off x="3843655" y="2005965"/>
            <a:ext cx="7990840" cy="1478280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3843655" y="3630295"/>
            <a:ext cx="6919595" cy="163004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Nama kelas dari komponen target ditentukan secara eksplisit.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Biasanya digunakan untuk memulai komponen pada aplikasi internal.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Contoh</a:t>
            </a:r>
          </a:p>
          <a:p>
            <a:pPr algn="ctr"/>
            <a:r>
              <a:rPr lang="en-US" sz="4000">
                <a:sym typeface="+mn-ea"/>
              </a:rPr>
              <a:t>Intent Implisit</a:t>
            </a:r>
            <a:endParaRPr lang="en-US" sz="4000" b="1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910" y="1238250"/>
            <a:ext cx="7430135" cy="2934970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3725545" y="4294505"/>
            <a:ext cx="7429500" cy="193802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Nama komponen target tidak ditentukan secara eksplisit.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Yang ditentukan hanya action umum yaitu: ACTION_SEND.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Artinya: komponen yang dapat menangani 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ACTION_SEND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yang akan menjadi target komponen yang dimulai.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Intent Implisit</a:t>
            </a:r>
            <a:endParaRPr lang="en-US" sz="4000" b="1">
              <a:sym typeface="+mn-ea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6430645" y="392557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Picture Placeholder 100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4241165" y="756920"/>
            <a:ext cx="6864985" cy="3168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734435" y="3925570"/>
            <a:ext cx="210375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>
                <a:latin typeface="Open Sans" panose="020B0606030504020204" charset="0"/>
                <a:cs typeface="Open Sans" panose="020B0606030504020204" charset="0"/>
                <a:sym typeface="+mn-ea"/>
              </a:rPr>
              <a:t>Aktivitas A membuat sebuah Intent dengan keterangan tindakan dan meneruskannya ke </a:t>
            </a:r>
            <a:r>
              <a:rPr lang="en-US" b="1">
                <a:latin typeface="Open Sans" panose="020B0606030504020204" charset="0"/>
                <a:cs typeface="Open Sans" panose="020B0606030504020204" charset="0"/>
                <a:sym typeface="+mn-ea"/>
              </a:rPr>
              <a:t>startActivity()</a:t>
            </a:r>
            <a:r>
              <a:rPr lang="en-US">
                <a:latin typeface="Open Sans" panose="020B0606030504020204" charset="0"/>
                <a:cs typeface="Open Sans" panose="020B0606030504020204" charset="0"/>
                <a:sym typeface="+mn-ea"/>
              </a:rPr>
              <a:t>.</a:t>
            </a:r>
            <a:endParaRPr lang="en-US">
              <a:latin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345555" y="3925570"/>
            <a:ext cx="210375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>
                <a:latin typeface="Open Sans" panose="020B0606030504020204" charset="0"/>
                <a:cs typeface="Open Sans" panose="020B0606030504020204" charset="0"/>
                <a:sym typeface="+mn-ea"/>
              </a:rPr>
              <a:t>Sistem Android akan menelusuri semua aplikasi untuk filter intent yang cocok dengan intent tersebut. Jika ada yang cocok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956675" y="3925570"/>
            <a:ext cx="263271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>
                <a:latin typeface="Open Sans" panose="020B0606030504020204" charset="0"/>
                <a:cs typeface="Open Sans" panose="020B0606030504020204" charset="0"/>
                <a:sym typeface="+mn-ea"/>
              </a:rPr>
              <a:t>sistem akan memulai aktivitas mencocokkan (Aktivitas B) dengan memanggil metode onCreate() dan meneruskannya ke Intent.</a:t>
            </a:r>
          </a:p>
          <a:p>
            <a:pPr algn="ctr"/>
            <a:endParaRPr lang="en-US">
              <a:latin typeface="Open Sans" panose="020B0606030504020204" charset="0"/>
              <a:cs typeface="Open Sans" panose="020B06060305040202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Informasi dalam Intent</a:t>
            </a:r>
            <a:endParaRPr lang="en-US" sz="4000" b="1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02685" y="198120"/>
            <a:ext cx="7981315" cy="6462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Component Name</a:t>
            </a: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Nama komponen yang akan dimulai. Diset untuk intent eksplisit. Jika tidak diset akan menjadi intent implisit.</a:t>
            </a:r>
          </a:p>
          <a:p>
            <a:endParaRPr lang="en-US" b="1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Action</a:t>
            </a: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String yang menetapkan tindakan generik untuk dilakukan (misalnya lihat atau pilih).</a:t>
            </a:r>
          </a:p>
          <a:p>
            <a:endParaRPr lang="en-US" b="1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Data</a:t>
            </a:r>
            <a:endParaRPr lang="en-US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URI (objek Uri) yang merujuk data untuk diolah dan/atau tipe MIME dari data tersebut. </a:t>
            </a:r>
          </a:p>
          <a:p>
            <a:endParaRPr lang="en-US" b="1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Category</a:t>
            </a:r>
            <a:endParaRPr lang="en-US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String yang berisi informasi tambahan tentang jenis komponen yang harus menangani intent.</a:t>
            </a:r>
          </a:p>
          <a:p>
            <a:endParaRPr lang="en-US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Extra</a:t>
            </a:r>
            <a:endParaRPr lang="en-US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Key-value pair yang membawa informasi tambahan yang diperlukan untuk menyelesaikan tindakan yang diminta</a:t>
            </a:r>
          </a:p>
          <a:p>
            <a:endParaRPr lang="en-US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Flag</a:t>
            </a:r>
            <a:endParaRPr lang="en-US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Flag didefinisikan dalam class Intent yang berfungsi sebagai metadata untuk intent.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Contoh</a:t>
            </a:r>
          </a:p>
          <a:p>
            <a:pPr algn="ctr"/>
            <a:r>
              <a:rPr lang="en-US" sz="4000">
                <a:sym typeface="+mn-ea"/>
              </a:rPr>
              <a:t>Intent Implisit</a:t>
            </a:r>
            <a:endParaRPr lang="en-US" sz="4000" b="1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755" y="3419475"/>
            <a:ext cx="7430135" cy="2934970"/>
          </a:xfrm>
          <a:prstGeom prst="rect">
            <a:avLst/>
          </a:prstGeom>
        </p:spPr>
      </p:pic>
      <p:pic>
        <p:nvPicPr>
          <p:cNvPr id="15" name="Picture Placeholder 14"/>
          <p:cNvPicPr>
            <a:picLocks noGrp="1" noChangeAspect="1"/>
          </p:cNvPicPr>
          <p:nvPr>
            <p:ph type="pic" idx="10"/>
          </p:nvPr>
        </p:nvPicPr>
        <p:blipFill>
          <a:blip r:embed="rId3"/>
          <a:stretch>
            <a:fillRect/>
          </a:stretch>
        </p:blipFill>
        <p:spPr>
          <a:xfrm>
            <a:off x="3627755" y="979805"/>
            <a:ext cx="7990840" cy="147828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9297035" y="1845945"/>
            <a:ext cx="213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Component Name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944485" y="2089785"/>
            <a:ext cx="678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Data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482330" y="3711575"/>
            <a:ext cx="894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Action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0229850" y="3895725"/>
            <a:ext cx="754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Extra</a:t>
            </a:r>
          </a:p>
        </p:txBody>
      </p:sp>
      <p:cxnSp>
        <p:nvCxnSpPr>
          <p:cNvPr id="7" name="Straight Arrow Connector 6"/>
          <p:cNvCxnSpPr>
            <a:stCxn id="2" idx="1"/>
          </p:cNvCxnSpPr>
          <p:nvPr/>
        </p:nvCxnSpPr>
        <p:spPr>
          <a:xfrm flipH="1" flipV="1">
            <a:off x="9254490" y="1781175"/>
            <a:ext cx="42545" cy="248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7115810" y="2115820"/>
            <a:ext cx="913130" cy="2019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1"/>
          </p:cNvCxnSpPr>
          <p:nvPr/>
        </p:nvCxnSpPr>
        <p:spPr>
          <a:xfrm flipH="1">
            <a:off x="6899910" y="3895725"/>
            <a:ext cx="1582420" cy="164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7288530" y="4121150"/>
            <a:ext cx="2941320" cy="176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Menerima Intent Implisit</a:t>
            </a:r>
            <a:endParaRPr lang="en-US" sz="4000" b="1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961765" y="1691005"/>
            <a:ext cx="775462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Untuk menginformasikan intent implisit yang bisa diterima aplikasi Anda, deklarasikan satu atau beberapa </a:t>
            </a:r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filter intent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untuk setiap komponen aplikasi dengan elemen </a:t>
            </a:r>
            <a:r>
              <a:rPr lang="en-US" sz="2000" b="1">
                <a:latin typeface="Consolas" panose="020B0609020204030204" charset="0"/>
                <a:cs typeface="Consolas" panose="020B0609020204030204" charset="0"/>
              </a:rPr>
              <a:t>&lt;intent-filter&gt;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dalam file manifest.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Setiap </a:t>
            </a:r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filter intent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menetapkan tipe intent yang diterimanya berdasarkan aksi, data, dan kategori intent.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Sistem akan mengirim intent implisit ke komponen aplikasi Anda hanya jika intent tersebut bisa diteruskan melalui salah satu filter intent.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Intent Filter</a:t>
            </a:r>
            <a:endParaRPr lang="en-US" sz="4000" b="1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65880" y="1725930"/>
            <a:ext cx="7717790" cy="4061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Elemen Intent Filter </a:t>
            </a:r>
            <a:r>
              <a:rPr lang="en-US" b="1">
                <a:latin typeface="Consolas" panose="020B0609020204030204" charset="0"/>
                <a:cs typeface="Consolas" panose="020B0609020204030204" charset="0"/>
              </a:rPr>
              <a:t>&lt;intent-filter&gt;</a:t>
            </a:r>
            <a:endParaRPr lang="en-US" b="1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sz="2000" b="1">
                <a:latin typeface="Consolas" panose="020B0609020204030204" charset="0"/>
                <a:cs typeface="Consolas" panose="020B0609020204030204" charset="0"/>
              </a:rPr>
              <a:t>&lt;action&gt;</a:t>
            </a:r>
            <a:endParaRPr lang="en-US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Mendeklarasikan aksi intent yang diterima, dalam atribut name. Nilai harus berupa nilai string literal dari tindakan, bukan konstanta class.</a:t>
            </a:r>
          </a:p>
          <a:p>
            <a:endParaRPr lang="en-US" b="1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sz="2000" b="1">
                <a:latin typeface="Consolas" panose="020B0609020204030204" charset="0"/>
                <a:cs typeface="Consolas" panose="020B0609020204030204" charset="0"/>
              </a:rPr>
              <a:t>&lt;data&gt;</a:t>
            </a:r>
            <a:endParaRPr lang="en-US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Mendeklarasikan tipe data yang diterima, menggunakan salah satu atau beberapa atribut yang menetapkan beragam aspek URI data (scheme, host, port, path) dan tipe MIME.</a:t>
            </a:r>
          </a:p>
          <a:p>
            <a:endParaRPr lang="en-US" b="1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sz="2000" b="1">
                <a:latin typeface="Consolas" panose="020B0609020204030204" charset="0"/>
                <a:cs typeface="Consolas" panose="020B0609020204030204" charset="0"/>
              </a:rPr>
              <a:t>&lt;category&gt;</a:t>
            </a:r>
            <a:endParaRPr lang="en-US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Mendeklarasikan kategori intent yang diterima, dalam atribut name. Nilai harus berupa nilai string literal dari tindakan, bukan konstanta class.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ym typeface="+mn-ea"/>
              </a:rPr>
              <a:t>Contoh</a:t>
            </a:r>
          </a:p>
          <a:p>
            <a:pPr algn="ctr"/>
            <a:r>
              <a:rPr lang="en-US" sz="4000">
                <a:sym typeface="+mn-ea"/>
              </a:rPr>
              <a:t>Intent Filter</a:t>
            </a:r>
            <a:endParaRPr lang="en-US" sz="4000" b="1">
              <a:sym typeface="+mn-ea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0"/>
          </p:nvPr>
        </p:nvPicPr>
        <p:blipFill>
          <a:blip r:embed="rId2"/>
          <a:stretch>
            <a:fillRect/>
          </a:stretch>
        </p:blipFill>
        <p:spPr>
          <a:xfrm>
            <a:off x="3833495" y="2408555"/>
            <a:ext cx="7717790" cy="204152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833495" y="1395095"/>
            <a:ext cx="79444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Contoh:</a:t>
            </a:r>
            <a:endParaRPr lang="en-US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Deklarasi Activity dengan filter intent yang diterima intent ACTION_SEND jika tipe data berupa teks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2275840"/>
            <a:ext cx="12191365" cy="1938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en-US" sz="2400">
                <a:solidFill>
                  <a:srgbClr val="3DDC84"/>
                </a:solidFill>
                <a:latin typeface="Open Sans" panose="020B0606030504020204" charset="0"/>
                <a:cs typeface="Open Sans" panose="020B0606030504020204" charset="0"/>
              </a:rPr>
              <a:t>Pelajari lebih lanjut...</a:t>
            </a: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r>
              <a:rPr lang="en-US" sz="2400">
                <a:solidFill>
                  <a:srgbClr val="3DDC84"/>
                </a:solidFill>
                <a:latin typeface="Open Sans Semibold" panose="020B0706030804020204" charset="0"/>
                <a:cs typeface="Open Sans Semibold" panose="020B0706030804020204" charset="0"/>
              </a:rPr>
              <a:t>https://developer.android.com/guide</a:t>
            </a:r>
          </a:p>
        </p:txBody>
      </p:sp>
      <p:pic>
        <p:nvPicPr>
          <p:cNvPr id="5" name="Picture Placeholder 4" descr="chevron-down"/>
          <p:cNvPicPr>
            <a:picLocks noGrp="1" noChangeAspect="1"/>
          </p:cNvPicPr>
          <p:nvPr>
            <p:ph type="pic" idx="1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6390" y="2739390"/>
            <a:ext cx="1010920" cy="1010920"/>
          </a:xfrm>
          <a:prstGeom prst="rect">
            <a:avLst/>
          </a:prstGeom>
        </p:spPr>
      </p:pic>
      <p:pic>
        <p:nvPicPr>
          <p:cNvPr id="6" name="Picture Placeholder 4" descr="chevron-dow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6390" y="2923540"/>
            <a:ext cx="1010920" cy="1010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2351881" y="3013650"/>
            <a:ext cx="731043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Ada pertanyaan?</a:t>
            </a:r>
            <a:endParaRPr lang="en-US" altLang="zh-CN" sz="4800" b="1" dirty="0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48000" y="5901129"/>
            <a:ext cx="6096000" cy="6140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Pemrograman Platform Khusus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Politeknik Statistika STIS</a:t>
            </a:r>
            <a:r>
              <a:rPr lang="en-US" altLang="zh-CN" sz="1600">
                <a:solidFill>
                  <a:schemeClr val="bg1"/>
                </a:solidFill>
              </a:rPr>
              <a:t>, 2023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4ot2hzvm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FAD86"/>
      </a:accent1>
      <a:accent2>
        <a:srgbClr val="90D8C0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3FAD86"/>
      </a:hlink>
      <a:folHlink>
        <a:srgbClr val="BFBFBF"/>
      </a:folHlink>
    </a:clrScheme>
    <a:fontScheme name="国外模板制作字体">
      <a:majorFont>
        <a:latin typeface="Century Gothic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Widescreen</PresentationFormat>
  <Paragraphs>104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等线</vt:lpstr>
      <vt:lpstr>微软雅黑</vt:lpstr>
      <vt:lpstr>Arial</vt:lpstr>
      <vt:lpstr>Century Gothic</vt:lpstr>
      <vt:lpstr>Consolas</vt:lpstr>
      <vt:lpstr>Open Sans</vt:lpstr>
      <vt:lpstr>Open Sans Semibold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Ibnusan</cp:lastModifiedBy>
  <cp:revision>518</cp:revision>
  <dcterms:created xsi:type="dcterms:W3CDTF">2022-08-19T06:51:00Z</dcterms:created>
  <dcterms:modified xsi:type="dcterms:W3CDTF">2023-11-10T08:14:34Z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5164913DB18E43CFB4E68051D5931464</vt:lpwstr>
  </property>
  <property fmtid="{D5CDD505-2E9C-101B-9397-08002B2CF9AE}" pid="3" name="KSOProductBuildVer">
    <vt:lpwstr>1033-11.2.0.11380</vt:lpwstr>
  </property>
</Properties>
</file>