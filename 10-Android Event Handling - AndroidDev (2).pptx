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sldIdLst>
    <p:sldId id="256" r:id="rId2"/>
    <p:sldId id="337" r:id="rId3"/>
    <p:sldId id="572" r:id="rId4"/>
    <p:sldId id="574" r:id="rId5"/>
    <p:sldId id="566" r:id="rId6"/>
    <p:sldId id="595" r:id="rId7"/>
    <p:sldId id="596" r:id="rId8"/>
    <p:sldId id="597" r:id="rId9"/>
    <p:sldId id="598" r:id="rId10"/>
    <p:sldId id="358" r:id="rId11"/>
    <p:sldId id="57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6A86614B-2600-429A-AA34-18849E7BEDC2}">
          <p14:sldIdLst>
            <p14:sldId id="256"/>
            <p14:sldId id="337"/>
            <p14:sldId id="572"/>
            <p14:sldId id="574"/>
            <p14:sldId id="566"/>
            <p14:sldId id="595"/>
            <p14:sldId id="596"/>
            <p14:sldId id="597"/>
            <p14:sldId id="598"/>
            <p14:sldId id="358"/>
            <p14:sldId id="571"/>
          </p14:sldIdLst>
        </p14:section>
        <p14:section name="Template" id="{BF6A4F90-709A-41D3-A26F-E1FD9E5EE13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DC84"/>
    <a:srgbClr val="3FAD86"/>
    <a:srgbClr val="F04E37"/>
    <a:srgbClr val="A2A2A2"/>
    <a:srgbClr val="99D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93" autoAdjust="0"/>
    <p:restoredTop sz="94660"/>
  </p:normalViewPr>
  <p:slideViewPr>
    <p:cSldViewPr snapToGrid="0">
      <p:cViewPr varScale="1">
        <p:scale>
          <a:sx n="90" d="100"/>
          <a:sy n="90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359E4-CC7C-4E34-9F0B-04017D3A60D8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7AE9A-01D7-45F1-A266-4CF0781F88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1" y="0"/>
            <a:ext cx="4950731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162839" y="1583676"/>
            <a:ext cx="2851698" cy="2759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177463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192087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3"/>
          </p:nvPr>
        </p:nvSpPr>
        <p:spPr>
          <a:xfrm>
            <a:off x="9148215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096000" y="1268413"/>
            <a:ext cx="2232752" cy="236715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6096000" y="3820245"/>
            <a:ext cx="2232752" cy="236715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911225" y="635000"/>
            <a:ext cx="10369550" cy="34988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57951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325235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10201084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>
            <a:spLocks noGrp="1"/>
          </p:cNvSpPr>
          <p:nvPr>
            <p:ph type="pic" sz="quarter" idx="10"/>
          </p:nvPr>
        </p:nvSpPr>
        <p:spPr>
          <a:xfrm>
            <a:off x="11049000" y="1"/>
            <a:ext cx="1143000" cy="5210175"/>
          </a:xfrm>
          <a:custGeom>
            <a:avLst/>
            <a:gdLst>
              <a:gd name="connsiteX0" fmla="*/ 0 w 1143000"/>
              <a:gd name="connsiteY0" fmla="*/ 0 h 5210175"/>
              <a:gd name="connsiteX1" fmla="*/ 1143000 w 1143000"/>
              <a:gd name="connsiteY1" fmla="*/ 0 h 5210175"/>
              <a:gd name="connsiteX2" fmla="*/ 1143000 w 1143000"/>
              <a:gd name="connsiteY2" fmla="*/ 5210175 h 5210175"/>
              <a:gd name="connsiteX3" fmla="*/ 206382 w 1143000"/>
              <a:gd name="connsiteY3" fmla="*/ 5210175 h 5210175"/>
              <a:gd name="connsiteX4" fmla="*/ 0 w 1143000"/>
              <a:gd name="connsiteY4" fmla="*/ 5003793 h 521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000" h="5210175">
                <a:moveTo>
                  <a:pt x="0" y="0"/>
                </a:moveTo>
                <a:lnTo>
                  <a:pt x="1143000" y="0"/>
                </a:lnTo>
                <a:lnTo>
                  <a:pt x="1143000" y="5210175"/>
                </a:lnTo>
                <a:lnTo>
                  <a:pt x="206382" y="5210175"/>
                </a:lnTo>
                <a:cubicBezTo>
                  <a:pt x="92400" y="5210175"/>
                  <a:pt x="0" y="5117775"/>
                  <a:pt x="0" y="500379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任意多边形: 形状 6"/>
          <p:cNvSpPr>
            <a:spLocks noGrp="1"/>
          </p:cNvSpPr>
          <p:nvPr>
            <p:ph type="pic" sz="quarter" idx="11"/>
          </p:nvPr>
        </p:nvSpPr>
        <p:spPr>
          <a:xfrm>
            <a:off x="7849772" y="2278966"/>
            <a:ext cx="2757268" cy="4579034"/>
          </a:xfrm>
          <a:custGeom>
            <a:avLst/>
            <a:gdLst>
              <a:gd name="connsiteX0" fmla="*/ 206326 w 2757268"/>
              <a:gd name="connsiteY0" fmla="*/ 0 h 4579034"/>
              <a:gd name="connsiteX1" fmla="*/ 2550942 w 2757268"/>
              <a:gd name="connsiteY1" fmla="*/ 0 h 4579034"/>
              <a:gd name="connsiteX2" fmla="*/ 2757268 w 2757268"/>
              <a:gd name="connsiteY2" fmla="*/ 206326 h 4579034"/>
              <a:gd name="connsiteX3" fmla="*/ 2757268 w 2757268"/>
              <a:gd name="connsiteY3" fmla="*/ 4579034 h 4579034"/>
              <a:gd name="connsiteX4" fmla="*/ 0 w 2757268"/>
              <a:gd name="connsiteY4" fmla="*/ 4579034 h 4579034"/>
              <a:gd name="connsiteX5" fmla="*/ 0 w 2757268"/>
              <a:gd name="connsiteY5" fmla="*/ 206326 h 4579034"/>
              <a:gd name="connsiteX6" fmla="*/ 206326 w 2757268"/>
              <a:gd name="connsiteY6" fmla="*/ 0 h 45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57268" h="4579034">
                <a:moveTo>
                  <a:pt x="206326" y="0"/>
                </a:moveTo>
                <a:lnTo>
                  <a:pt x="2550942" y="0"/>
                </a:lnTo>
                <a:cubicBezTo>
                  <a:pt x="2664893" y="0"/>
                  <a:pt x="2757268" y="92375"/>
                  <a:pt x="2757268" y="206326"/>
                </a:cubicBezTo>
                <a:lnTo>
                  <a:pt x="2757268" y="4579034"/>
                </a:lnTo>
                <a:lnTo>
                  <a:pt x="0" y="4579034"/>
                </a:lnTo>
                <a:lnTo>
                  <a:pt x="0" y="206326"/>
                </a:lnTo>
                <a:cubicBezTo>
                  <a:pt x="0" y="92375"/>
                  <a:pt x="92375" y="0"/>
                  <a:pt x="2063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3744686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229100" y="0"/>
            <a:ext cx="37338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7730133" y="1450053"/>
            <a:ext cx="2849950" cy="31509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4694192" y="1450053"/>
            <a:ext cx="2849950" cy="31509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1658250" y="1450053"/>
            <a:ext cx="2849950" cy="31509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idx="10"/>
          </p:nvPr>
        </p:nvSpPr>
        <p:spPr>
          <a:xfrm>
            <a:off x="6096000" y="0"/>
            <a:ext cx="2598057" cy="34290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694058" y="-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096000" y="342900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8694058" y="342900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idx="10"/>
          </p:nvPr>
        </p:nvSpPr>
        <p:spPr>
          <a:xfrm>
            <a:off x="911226" y="635001"/>
            <a:ext cx="5184775" cy="2794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096000" y="3442580"/>
            <a:ext cx="5184775" cy="2794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>
            <a:spLocks noGrp="1"/>
          </p:cNvSpPr>
          <p:nvPr>
            <p:ph type="pic" sz="quarter" idx="10"/>
          </p:nvPr>
        </p:nvSpPr>
        <p:spPr>
          <a:xfrm>
            <a:off x="911226" y="0"/>
            <a:ext cx="4046365" cy="5067759"/>
          </a:xfrm>
          <a:custGeom>
            <a:avLst/>
            <a:gdLst>
              <a:gd name="connsiteX0" fmla="*/ 0 w 4046365"/>
              <a:gd name="connsiteY0" fmla="*/ 0 h 5067759"/>
              <a:gd name="connsiteX1" fmla="*/ 4046365 w 4046365"/>
              <a:gd name="connsiteY1" fmla="*/ 0 h 5067759"/>
              <a:gd name="connsiteX2" fmla="*/ 4046365 w 4046365"/>
              <a:gd name="connsiteY2" fmla="*/ 5067759 h 5067759"/>
              <a:gd name="connsiteX3" fmla="*/ 0 w 4046365"/>
              <a:gd name="connsiteY3" fmla="*/ 5067759 h 5067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365" h="5067759">
                <a:moveTo>
                  <a:pt x="0" y="0"/>
                </a:moveTo>
                <a:lnTo>
                  <a:pt x="4046365" y="0"/>
                </a:lnTo>
                <a:lnTo>
                  <a:pt x="4046365" y="5067759"/>
                </a:lnTo>
                <a:lnTo>
                  <a:pt x="0" y="506775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>
            <a:spLocks noGrp="1"/>
          </p:cNvSpPr>
          <p:nvPr>
            <p:ph type="pic" sz="quarter" idx="10"/>
          </p:nvPr>
        </p:nvSpPr>
        <p:spPr>
          <a:xfrm>
            <a:off x="3949560" y="635001"/>
            <a:ext cx="4292880" cy="4181475"/>
          </a:xfrm>
          <a:custGeom>
            <a:avLst/>
            <a:gdLst>
              <a:gd name="connsiteX0" fmla="*/ 0 w 4292880"/>
              <a:gd name="connsiteY0" fmla="*/ 0 h 4181475"/>
              <a:gd name="connsiteX1" fmla="*/ 4292880 w 4292880"/>
              <a:gd name="connsiteY1" fmla="*/ 0 h 4181475"/>
              <a:gd name="connsiteX2" fmla="*/ 4292880 w 4292880"/>
              <a:gd name="connsiteY2" fmla="*/ 4181475 h 4181475"/>
              <a:gd name="connsiteX3" fmla="*/ 0 w 4292880"/>
              <a:gd name="connsiteY3" fmla="*/ 4181475 h 418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2880" h="4181475">
                <a:moveTo>
                  <a:pt x="0" y="0"/>
                </a:moveTo>
                <a:lnTo>
                  <a:pt x="4292880" y="0"/>
                </a:lnTo>
                <a:lnTo>
                  <a:pt x="4292880" y="4181475"/>
                </a:lnTo>
                <a:lnTo>
                  <a:pt x="0" y="4181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>
            <a:spLocks noGrp="1"/>
          </p:cNvSpPr>
          <p:nvPr>
            <p:ph type="pic" sz="quarter" idx="10"/>
          </p:nvPr>
        </p:nvSpPr>
        <p:spPr>
          <a:xfrm>
            <a:off x="911225" y="3073706"/>
            <a:ext cx="5184775" cy="3127069"/>
          </a:xfrm>
          <a:custGeom>
            <a:avLst/>
            <a:gdLst>
              <a:gd name="connsiteX0" fmla="*/ 0 w 5184775"/>
              <a:gd name="connsiteY0" fmla="*/ 0 h 3127069"/>
              <a:gd name="connsiteX1" fmla="*/ 5184775 w 5184775"/>
              <a:gd name="connsiteY1" fmla="*/ 0 h 3127069"/>
              <a:gd name="connsiteX2" fmla="*/ 5184775 w 5184775"/>
              <a:gd name="connsiteY2" fmla="*/ 3127069 h 3127069"/>
              <a:gd name="connsiteX3" fmla="*/ 0 w 5184775"/>
              <a:gd name="connsiteY3" fmla="*/ 3127069 h 3127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4775" h="3127069">
                <a:moveTo>
                  <a:pt x="0" y="0"/>
                </a:moveTo>
                <a:lnTo>
                  <a:pt x="5184775" y="0"/>
                </a:lnTo>
                <a:lnTo>
                  <a:pt x="5184775" y="3127069"/>
                </a:lnTo>
                <a:lnTo>
                  <a:pt x="0" y="312706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07276" y="680545"/>
            <a:ext cx="3174124" cy="37048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794235" y="2685611"/>
            <a:ext cx="3174124" cy="370489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153679" y="2924081"/>
            <a:ext cx="1849696" cy="136434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1"/>
          </p:nvPr>
        </p:nvSpPr>
        <p:spPr>
          <a:xfrm>
            <a:off x="2227035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6188625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8115270" y="2924081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4"/>
          </p:nvPr>
        </p:nvSpPr>
        <p:spPr>
          <a:xfrm>
            <a:off x="10150216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5"/>
          </p:nvPr>
        </p:nvSpPr>
        <p:spPr>
          <a:xfrm>
            <a:off x="192088" y="2924081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>
            <a:spLocks noGrp="1"/>
          </p:cNvSpPr>
          <p:nvPr>
            <p:ph type="pic" idx="10"/>
          </p:nvPr>
        </p:nvSpPr>
        <p:spPr>
          <a:xfrm>
            <a:off x="6096000" y="1268414"/>
            <a:ext cx="5459730" cy="1874838"/>
          </a:xfrm>
          <a:custGeom>
            <a:avLst/>
            <a:gdLst>
              <a:gd name="connsiteX0" fmla="*/ 0 w 5459730"/>
              <a:gd name="connsiteY0" fmla="*/ 0 h 1874837"/>
              <a:gd name="connsiteX1" fmla="*/ 5459730 w 5459730"/>
              <a:gd name="connsiteY1" fmla="*/ 0 h 1874837"/>
              <a:gd name="connsiteX2" fmla="*/ 5459730 w 5459730"/>
              <a:gd name="connsiteY2" fmla="*/ 1874837 h 1874837"/>
              <a:gd name="connsiteX3" fmla="*/ 0 w 5459730"/>
              <a:gd name="connsiteY3" fmla="*/ 1874837 h 1874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9730" h="1874837">
                <a:moveTo>
                  <a:pt x="0" y="0"/>
                </a:moveTo>
                <a:lnTo>
                  <a:pt x="5459730" y="0"/>
                </a:lnTo>
                <a:lnTo>
                  <a:pt x="5459730" y="1874837"/>
                </a:lnTo>
                <a:lnTo>
                  <a:pt x="0" y="18748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>
            <a:spLocks noGrp="1"/>
          </p:cNvSpPr>
          <p:nvPr>
            <p:ph type="pic" sz="quarter" idx="10"/>
          </p:nvPr>
        </p:nvSpPr>
        <p:spPr>
          <a:xfrm>
            <a:off x="7258050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任意多边形: 形状 10"/>
          <p:cNvSpPr>
            <a:spLocks noGrp="1"/>
          </p:cNvSpPr>
          <p:nvPr>
            <p:ph type="pic" sz="quarter" idx="11"/>
          </p:nvPr>
        </p:nvSpPr>
        <p:spPr>
          <a:xfrm>
            <a:off x="8664082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11"/>
          <p:cNvSpPr>
            <a:spLocks noGrp="1"/>
          </p:cNvSpPr>
          <p:nvPr>
            <p:ph type="pic" sz="quarter" idx="12"/>
          </p:nvPr>
        </p:nvSpPr>
        <p:spPr>
          <a:xfrm>
            <a:off x="10070114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112316" y="0"/>
            <a:ext cx="6079684" cy="605111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911227" y="4095751"/>
            <a:ext cx="3603625" cy="21050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635" y="3803015"/>
            <a:ext cx="121907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3DDC84"/>
                </a:solidFill>
                <a:latin typeface="Open Sans Semibold" panose="020B0706030804020204" charset="0"/>
                <a:cs typeface="Open Sans Semibold" panose="020B0706030804020204" charset="0"/>
              </a:rPr>
              <a:t>Android Event Handling</a:t>
            </a:r>
            <a:endParaRPr lang="en-US" altLang="zh-CN" sz="4800" b="1" dirty="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48635" y="5723329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 err="1">
                <a:solidFill>
                  <a:schemeClr val="bg1">
                    <a:lumMod val="65000"/>
                  </a:schemeClr>
                </a:solidFill>
              </a:rPr>
              <a:t>Pemrograman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 Platform Khusus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Politeknik Statistika STIS, 2023</a:t>
            </a:r>
          </a:p>
        </p:txBody>
      </p:sp>
      <p:pic>
        <p:nvPicPr>
          <p:cNvPr id="2" name="Picture 1"/>
          <p:cNvPicPr/>
          <p:nvPr/>
        </p:nvPicPr>
        <p:blipFill>
          <a:blip r:embed="rId4"/>
          <a:stretch>
            <a:fillRect/>
          </a:stretch>
        </p:blipFill>
        <p:spPr>
          <a:xfrm>
            <a:off x="4205605" y="1621155"/>
            <a:ext cx="3780790" cy="2181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1366520" y="1721485"/>
            <a:ext cx="94583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i="1" dirty="0">
                <a:solidFill>
                  <a:schemeClr val="bg1"/>
                </a:solidFill>
                <a:latin typeface="Open Sans Semibold" panose="020B0706030804020204" charset="0"/>
                <a:cs typeface="Open Sans Semibold" panose="020B0706030804020204" charset="0"/>
              </a:rPr>
              <a:t>Event Handling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“penanganan suatu kejadian </a:t>
            </a:r>
            <a:r>
              <a:rPr lang="en-US" sz="2800" i="1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(event)</a:t>
            </a:r>
            <a:r>
              <a:rPr lang="en-US" sz="280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 yang muncul karena interaksi pengguna dengan komponen interaktif aplikasi.”</a:t>
            </a:r>
          </a:p>
          <a:p>
            <a:pPr algn="ctr"/>
            <a:endParaRPr lang="en-US" altLang="zh-CN" sz="2800" dirty="0">
              <a:solidFill>
                <a:schemeClr val="bg1"/>
              </a:solidFill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algn="ctr"/>
            <a:r>
              <a:rPr lang="en-US" altLang="zh-CN" sz="2800" dirty="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Contoh </a:t>
            </a:r>
            <a:r>
              <a:rPr lang="en-US" sz="280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kejadian </a:t>
            </a:r>
            <a:r>
              <a:rPr lang="en-US" sz="2800" i="1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(event)</a:t>
            </a:r>
            <a:r>
              <a:rPr lang="en-US" sz="280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: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pengguna menekan tombol, menyentuh layar, dll.</a:t>
            </a:r>
            <a:r>
              <a:rPr lang="en-US" altLang="zh-CN" sz="2800" b="1" dirty="0">
                <a:solidFill>
                  <a:schemeClr val="bg1"/>
                </a:solidFill>
                <a:latin typeface="Open Sans" panose="020B0606030504020204" charset="0"/>
                <a:cs typeface="Open Sans" panose="020B0606030504020204" charset="0"/>
                <a:sym typeface="+mn-ea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login"/>
          <p:cNvPicPr>
            <a:picLocks noGrp="1" noChangeAspect="1"/>
          </p:cNvPicPr>
          <p:nvPr>
            <p:ph type="pic" idx="10"/>
          </p:nvPr>
        </p:nvPicPr>
        <p:blipFill>
          <a:blip r:embed="rId2"/>
          <a:stretch>
            <a:fillRect/>
          </a:stretch>
        </p:blipFill>
        <p:spPr>
          <a:xfrm>
            <a:off x="715010" y="272415"/>
            <a:ext cx="2918460" cy="631317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977640" y="272415"/>
            <a:ext cx="7879715" cy="2030095"/>
          </a:xfrm>
          <a:prstGeom prst="rect">
            <a:avLst/>
          </a:prstGeom>
          <a:noFill/>
          <a:ln>
            <a:solidFill>
              <a:srgbClr val="3DDC84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Button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signInButton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=(Button)</a:t>
            </a:r>
            <a:r>
              <a:rPr lang="en-US" b="1">
                <a:latin typeface="Consolas" panose="020B0609020204030204" charset="0"/>
                <a:cs typeface="Consolas" panose="020B0609020204030204" charset="0"/>
              </a:rPr>
              <a:t>findViewById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(R.id.button);</a:t>
            </a:r>
          </a:p>
          <a:p>
            <a:r>
              <a:rPr lang="en-US">
                <a:solidFill>
                  <a:schemeClr val="accent1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signInButton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b="1">
                <a:latin typeface="Consolas" panose="020B0609020204030204" charset="0"/>
                <a:cs typeface="Consolas" panose="020B0609020204030204" charset="0"/>
              </a:rPr>
              <a:t>setOnClickListener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(new View.OnClickListener(){ </a:t>
            </a: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	@Override</a:t>
            </a: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	public void </a:t>
            </a:r>
            <a:r>
              <a:rPr lang="en-US" b="1">
                <a:latin typeface="Consolas" panose="020B0609020204030204" charset="0"/>
                <a:cs typeface="Consolas" panose="020B0609020204030204" charset="0"/>
              </a:rPr>
              <a:t>onClick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(View v) {</a:t>
            </a: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		</a:t>
            </a:r>
            <a:r>
              <a:rPr lang="en-US" i="1">
                <a:latin typeface="Consolas" panose="020B0609020204030204" charset="0"/>
                <a:cs typeface="Consolas" panose="020B0609020204030204" charset="0"/>
              </a:rPr>
              <a:t>//sign in logic here</a:t>
            </a:r>
            <a:endParaRPr lang="en-US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	}</a:t>
            </a: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});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253865" y="4429760"/>
            <a:ext cx="39509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Pengguna menekan tombol </a:t>
            </a:r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Sign In</a:t>
            </a:r>
          </a:p>
        </p:txBody>
      </p:sp>
      <p:cxnSp>
        <p:nvCxnSpPr>
          <p:cNvPr id="9" name="Straight Arrow Connector 8"/>
          <p:cNvCxnSpPr>
            <a:endCxn id="7" idx="1"/>
          </p:cNvCxnSpPr>
          <p:nvPr/>
        </p:nvCxnSpPr>
        <p:spPr>
          <a:xfrm>
            <a:off x="3420110" y="4608830"/>
            <a:ext cx="833755" cy="508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4089400" y="3275330"/>
            <a:ext cx="427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Kode </a:t>
            </a:r>
            <a:r>
              <a:rPr lang="en-US" i="1">
                <a:latin typeface="Open Sans" panose="020B0606030504020204" charset="0"/>
                <a:cs typeface="Open Sans" panose="020B0606030504020204" charset="0"/>
              </a:rPr>
              <a:t>Event Handling</a:t>
            </a:r>
            <a:r>
              <a:rPr lang="en-US">
                <a:latin typeface="Open Sans" panose="020B0606030504020204" charset="0"/>
                <a:cs typeface="Open Sans" panose="020B0606030504020204" charset="0"/>
              </a:rPr>
              <a:t> akan dieksekusi</a:t>
            </a:r>
          </a:p>
        </p:txBody>
      </p:sp>
      <p:cxnSp>
        <p:nvCxnSpPr>
          <p:cNvPr id="11" name="Straight Arrow Connector 10"/>
          <p:cNvCxnSpPr>
            <a:stCxn id="7" idx="0"/>
            <a:endCxn id="10" idx="2"/>
          </p:cNvCxnSpPr>
          <p:nvPr/>
        </p:nvCxnSpPr>
        <p:spPr>
          <a:xfrm flipV="1">
            <a:off x="6229350" y="3643630"/>
            <a:ext cx="0" cy="7861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0"/>
          </p:cNvCxnSpPr>
          <p:nvPr/>
        </p:nvCxnSpPr>
        <p:spPr>
          <a:xfrm flipV="1">
            <a:off x="6229350" y="2363470"/>
            <a:ext cx="0" cy="91186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/>
      <p:bldP spid="7" grpId="1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156460" y="2275840"/>
            <a:ext cx="7879715" cy="2306955"/>
          </a:xfrm>
          <a:prstGeom prst="rect">
            <a:avLst/>
          </a:prstGeom>
          <a:noFill/>
          <a:ln>
            <a:solidFill>
              <a:srgbClr val="3DDC84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Button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signInButton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=(Button)</a:t>
            </a:r>
            <a:r>
              <a:rPr lang="en-US" b="1">
                <a:latin typeface="Consolas" panose="020B0609020204030204" charset="0"/>
                <a:cs typeface="Consolas" panose="020B0609020204030204" charset="0"/>
              </a:rPr>
              <a:t>findViewById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(R.id.button);</a:t>
            </a:r>
          </a:p>
          <a:p>
            <a:endParaRPr lang="en-US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>
                <a:solidFill>
                  <a:schemeClr val="accent1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signInButton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b="1">
                <a:latin typeface="Consolas" panose="020B0609020204030204" charset="0"/>
                <a:cs typeface="Consolas" panose="020B0609020204030204" charset="0"/>
              </a:rPr>
              <a:t>setOnClickListener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(new View.OnClickListener(){ </a:t>
            </a: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	@Override</a:t>
            </a: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	public void </a:t>
            </a:r>
            <a:r>
              <a:rPr lang="en-US" b="1">
                <a:latin typeface="Consolas" panose="020B0609020204030204" charset="0"/>
                <a:cs typeface="Consolas" panose="020B0609020204030204" charset="0"/>
              </a:rPr>
              <a:t>onClick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(View v) {</a:t>
            </a: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		</a:t>
            </a:r>
            <a:r>
              <a:rPr lang="en-US" i="1">
                <a:latin typeface="Consolas" panose="020B0609020204030204" charset="0"/>
                <a:cs typeface="Consolas" panose="020B0609020204030204" charset="0"/>
              </a:rPr>
              <a:t>//sign in logic here</a:t>
            </a:r>
            <a:endParaRPr lang="en-US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	}</a:t>
            </a: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});</a:t>
            </a:r>
          </a:p>
        </p:txBody>
      </p:sp>
      <p:sp>
        <p:nvSpPr>
          <p:cNvPr id="2" name="Rectangles 1"/>
          <p:cNvSpPr/>
          <p:nvPr/>
        </p:nvSpPr>
        <p:spPr>
          <a:xfrm>
            <a:off x="2155825" y="2752725"/>
            <a:ext cx="3988435" cy="45402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s 2"/>
          <p:cNvSpPr/>
          <p:nvPr/>
        </p:nvSpPr>
        <p:spPr>
          <a:xfrm>
            <a:off x="3114675" y="3408680"/>
            <a:ext cx="3988435" cy="8750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6708775" y="2753360"/>
            <a:ext cx="2573020" cy="4533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155825" y="901700"/>
            <a:ext cx="34467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Event Listeners Registration</a:t>
            </a:r>
          </a:p>
          <a:p>
            <a:pPr algn="l"/>
            <a:r>
              <a:rPr lang="en-US">
                <a:latin typeface="Open Sans" panose="020B0606030504020204" charset="0"/>
                <a:cs typeface="Open Sans" panose="020B0606030504020204" charset="0"/>
              </a:rPr>
              <a:t>Event handler didaftarkan agar dapat menangani ketika terjadi event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708775" y="901700"/>
            <a:ext cx="25730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Event Listeners</a:t>
            </a:r>
          </a:p>
          <a:p>
            <a:r>
              <a:rPr lang="en-US" i="1">
                <a:latin typeface="Open Sans" panose="020B0606030504020204" charset="0"/>
                <a:cs typeface="Open Sans" panose="020B0606030504020204" charset="0"/>
              </a:rPr>
              <a:t> Interface</a:t>
            </a:r>
            <a:r>
              <a:rPr lang="en-US">
                <a:latin typeface="Open Sans" panose="020B0606030504020204" charset="0"/>
                <a:cs typeface="Open Sans" panose="020B0606030504020204" charset="0"/>
              </a:rPr>
              <a:t> pada kelas </a:t>
            </a:r>
            <a:r>
              <a:rPr lang="en-US" i="1">
                <a:latin typeface="Open Sans" panose="020B0606030504020204" charset="0"/>
                <a:cs typeface="Open Sans" panose="020B0606030504020204" charset="0"/>
              </a:rPr>
              <a:t>View </a:t>
            </a:r>
            <a:r>
              <a:rPr lang="en-US">
                <a:latin typeface="Open Sans" panose="020B0606030504020204" charset="0"/>
                <a:cs typeface="Open Sans" panose="020B0606030504020204" charset="0"/>
              </a:rPr>
              <a:t>yang memiliki satu </a:t>
            </a:r>
            <a:r>
              <a:rPr lang="en-US" i="1">
                <a:latin typeface="Open Sans" panose="020B0606030504020204" charset="0"/>
                <a:cs typeface="Open Sans" panose="020B0606030504020204" charset="0"/>
              </a:rPr>
              <a:t>method callback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114675" y="5173345"/>
            <a:ext cx="39890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Event Handlers</a:t>
            </a:r>
          </a:p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method callback yang akan dieksekusi ketika terjadi suatu </a:t>
            </a:r>
            <a:r>
              <a:rPr lang="en-US" i="1">
                <a:latin typeface="Open Sans" panose="020B0606030504020204" charset="0"/>
                <a:cs typeface="Open Sans" panose="020B0606030504020204" charset="0"/>
              </a:rPr>
              <a:t>event</a:t>
            </a:r>
          </a:p>
        </p:txBody>
      </p:sp>
      <p:cxnSp>
        <p:nvCxnSpPr>
          <p:cNvPr id="10" name="Elbow Connector 9"/>
          <p:cNvCxnSpPr>
            <a:stCxn id="2" idx="1"/>
            <a:endCxn id="6" idx="1"/>
          </p:cNvCxnSpPr>
          <p:nvPr/>
        </p:nvCxnSpPr>
        <p:spPr>
          <a:xfrm rot="10800000">
            <a:off x="2155825" y="1500505"/>
            <a:ext cx="3175" cy="1478915"/>
          </a:xfrm>
          <a:prstGeom prst="bentConnector3">
            <a:avLst>
              <a:gd name="adj1" fmla="val 76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stCxn id="4" idx="3"/>
            <a:endCxn id="7" idx="3"/>
          </p:cNvCxnSpPr>
          <p:nvPr/>
        </p:nvCxnSpPr>
        <p:spPr>
          <a:xfrm flipV="1">
            <a:off x="9281795" y="1501140"/>
            <a:ext cx="3175" cy="1478915"/>
          </a:xfrm>
          <a:prstGeom prst="bentConnector3">
            <a:avLst>
              <a:gd name="adj1" fmla="val 33680000"/>
            </a:avLst>
          </a:prstGeom>
          <a:ln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3" idx="1"/>
            <a:endCxn id="8" idx="1"/>
          </p:cNvCxnSpPr>
          <p:nvPr/>
        </p:nvCxnSpPr>
        <p:spPr>
          <a:xfrm rot="10800000" flipV="1">
            <a:off x="3114675" y="3846195"/>
            <a:ext cx="3175" cy="1788160"/>
          </a:xfrm>
          <a:prstGeom prst="bentConnector3">
            <a:avLst>
              <a:gd name="adj1" fmla="val 76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>
              <a:sym typeface="+mn-ea"/>
            </a:endParaRPr>
          </a:p>
          <a:p>
            <a:pPr algn="ctr"/>
            <a:r>
              <a:rPr lang="en-US" sz="3600">
                <a:sym typeface="+mn-ea"/>
              </a:rPr>
              <a:t>Event Handler:</a:t>
            </a:r>
          </a:p>
          <a:p>
            <a:pPr algn="ctr"/>
            <a:r>
              <a:rPr lang="en-US" sz="4000" b="1">
                <a:sym typeface="+mn-ea"/>
              </a:rPr>
              <a:t>onClick()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idx="10"/>
          </p:nvPr>
        </p:nvPicPr>
        <p:blipFill>
          <a:blip r:embed="rId2"/>
          <a:stretch>
            <a:fillRect/>
          </a:stretch>
        </p:blipFill>
        <p:spPr>
          <a:xfrm>
            <a:off x="4053840" y="515620"/>
            <a:ext cx="6960870" cy="206629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284980" y="2907030"/>
            <a:ext cx="7021830" cy="2922905"/>
          </a:xfrm>
          <a:prstGeom prst="rect">
            <a:avLst/>
          </a:prstGeom>
          <a:noFill/>
          <a:ln>
            <a:solidFill>
              <a:srgbClr val="3DDC84"/>
            </a:solidFill>
            <a:prstDash val="sysDot"/>
          </a:ln>
        </p:spPr>
        <p:txBody>
          <a:bodyPr wrap="square" rtlCol="0" anchor="t">
            <a:spAutoFit/>
          </a:bodyPr>
          <a:lstStyle/>
          <a:p>
            <a:r>
              <a:rPr lang="en-US" sz="2400" b="1">
                <a:latin typeface="Open Sans" panose="020B0606030504020204" charset="0"/>
                <a:cs typeface="Open Sans" panose="020B0606030504020204" charset="0"/>
              </a:rPr>
              <a:t>onClick()</a:t>
            </a:r>
          </a:p>
          <a:p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Method callback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dari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event listerner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View.OnCLickListener()</a:t>
            </a:r>
          </a:p>
          <a:p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Menangani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  <a:sym typeface="+mn-ea"/>
              </a:rPr>
              <a:t>event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 ketika pengguna mengklik atau menyentuh atau memfokuskan pada komponen view  seperti tombol, teks, gambar, dll.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Event handler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ini akan dieksekusi jika sudah didaftarkan pada suatu komponen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view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.</a:t>
            </a:r>
            <a:endParaRPr lang="en-US" sz="2000" i="1">
              <a:latin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053840" y="1010920"/>
            <a:ext cx="5073650" cy="15709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Elbow Connector 13"/>
          <p:cNvCxnSpPr>
            <a:stCxn id="5" idx="1"/>
            <a:endCxn id="4" idx="1"/>
          </p:cNvCxnSpPr>
          <p:nvPr/>
        </p:nvCxnSpPr>
        <p:spPr>
          <a:xfrm rot="10800000" flipH="1" flipV="1">
            <a:off x="4053840" y="1796415"/>
            <a:ext cx="231140" cy="2572385"/>
          </a:xfrm>
          <a:prstGeom prst="bentConnector3">
            <a:avLst>
              <a:gd name="adj1" fmla="val -10302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/>
          <p:cNvPicPr>
            <a:picLocks noGrp="1" noChangeAspect="1"/>
          </p:cNvPicPr>
          <p:nvPr>
            <p:ph type="pic" idx="10"/>
          </p:nvPr>
        </p:nvPicPr>
        <p:blipFill>
          <a:blip r:embed="rId2"/>
          <a:stretch>
            <a:fillRect/>
          </a:stretch>
        </p:blipFill>
        <p:spPr>
          <a:xfrm>
            <a:off x="4288155" y="933450"/>
            <a:ext cx="5829300" cy="185420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>
              <a:sym typeface="+mn-ea"/>
            </a:endParaRPr>
          </a:p>
          <a:p>
            <a:pPr algn="ctr"/>
            <a:r>
              <a:rPr lang="en-US" sz="3600">
                <a:sym typeface="+mn-ea"/>
              </a:rPr>
              <a:t>Event Handler:</a:t>
            </a:r>
          </a:p>
          <a:p>
            <a:pPr algn="ctr"/>
            <a:r>
              <a:rPr lang="en-US" sz="3600" b="1">
                <a:sym typeface="+mn-ea"/>
              </a:rPr>
              <a:t>onLongClick()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284980" y="2907030"/>
            <a:ext cx="7021830" cy="3476625"/>
          </a:xfrm>
          <a:prstGeom prst="rect">
            <a:avLst/>
          </a:prstGeom>
          <a:noFill/>
          <a:ln>
            <a:solidFill>
              <a:srgbClr val="3DDC84"/>
            </a:solidFill>
            <a:prstDash val="sysDot"/>
          </a:ln>
        </p:spPr>
        <p:txBody>
          <a:bodyPr wrap="square" rtlCol="0" anchor="t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onLongClick()</a:t>
            </a:r>
          </a:p>
          <a:p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Method callback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dari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event listerner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View.OnLongCLickListener()</a:t>
            </a:r>
          </a:p>
          <a:p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Menangani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  <a:sym typeface="+mn-ea"/>
              </a:rPr>
              <a:t>event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 ketika pengguna mengklik atau menyentuh atau memfokuskan pada komponen view  seperti tombol, teks, gambar, dll selama satu datu dua detik.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Event handler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ini akan dieksekusi jika sudah didaftarkan pada suatu komponen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view.</a:t>
            </a:r>
          </a:p>
        </p:txBody>
      </p:sp>
      <p:sp>
        <p:nvSpPr>
          <p:cNvPr id="5" name="Rectangles 4"/>
          <p:cNvSpPr/>
          <p:nvPr/>
        </p:nvSpPr>
        <p:spPr>
          <a:xfrm>
            <a:off x="4288155" y="1313815"/>
            <a:ext cx="4766945" cy="14744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Elbow Connector 13"/>
          <p:cNvCxnSpPr>
            <a:stCxn id="5" idx="1"/>
            <a:endCxn id="4" idx="1"/>
          </p:cNvCxnSpPr>
          <p:nvPr/>
        </p:nvCxnSpPr>
        <p:spPr>
          <a:xfrm rot="10800000" flipV="1">
            <a:off x="4284980" y="2051050"/>
            <a:ext cx="3175" cy="2594610"/>
          </a:xfrm>
          <a:prstGeom prst="bentConnector3">
            <a:avLst>
              <a:gd name="adj1" fmla="val 76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idx="10"/>
          </p:nvPr>
        </p:nvPicPr>
        <p:blipFill>
          <a:blip r:embed="rId2"/>
          <a:stretch>
            <a:fillRect/>
          </a:stretch>
        </p:blipFill>
        <p:spPr>
          <a:xfrm>
            <a:off x="4284980" y="1096010"/>
            <a:ext cx="6148070" cy="1692275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>
              <a:sym typeface="+mn-ea"/>
            </a:endParaRPr>
          </a:p>
          <a:p>
            <a:pPr algn="ctr"/>
            <a:r>
              <a:rPr lang="en-US" sz="3600">
                <a:sym typeface="+mn-ea"/>
              </a:rPr>
              <a:t>Event Handler:</a:t>
            </a:r>
          </a:p>
          <a:p>
            <a:pPr algn="ctr"/>
            <a:r>
              <a:rPr lang="en-US" sz="2800" b="1">
                <a:sym typeface="+mn-ea"/>
              </a:rPr>
              <a:t>onFocusChange()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284980" y="2907030"/>
            <a:ext cx="7021830" cy="3169285"/>
          </a:xfrm>
          <a:prstGeom prst="rect">
            <a:avLst/>
          </a:prstGeom>
          <a:noFill/>
          <a:ln>
            <a:solidFill>
              <a:srgbClr val="3DDC84"/>
            </a:solidFill>
            <a:prstDash val="sysDot"/>
          </a:ln>
        </p:spPr>
        <p:txBody>
          <a:bodyPr wrap="square" rtlCol="0" anchor="t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onFocusChange()</a:t>
            </a:r>
          </a:p>
          <a:p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Method callback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dari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event listerner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View.OnFocusChangeListener</a:t>
            </a:r>
            <a:endParaRPr lang="en-US" sz="2000" b="1">
              <a:latin typeface="Open Sans" panose="020B0606030504020204" charset="0"/>
              <a:cs typeface="Open Sans" panose="020B0606030504020204" charset="0"/>
            </a:endParaRPr>
          </a:p>
          <a:p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Dipanggil ketika suatu komponen view kehilangan fokus seperti ketika pengguna berinteraksi ke komponen view lainnya.</a:t>
            </a:r>
          </a:p>
          <a:p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Event handler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ini akan dieksekusi jika sudah didaftarkan pada suatu komponen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view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.</a:t>
            </a:r>
            <a:endParaRPr lang="en-US" sz="2000" i="1">
              <a:latin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288155" y="1313815"/>
            <a:ext cx="6144895" cy="14744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Elbow Connector 13"/>
          <p:cNvCxnSpPr>
            <a:stCxn id="5" idx="1"/>
            <a:endCxn id="4" idx="1"/>
          </p:cNvCxnSpPr>
          <p:nvPr/>
        </p:nvCxnSpPr>
        <p:spPr>
          <a:xfrm rot="10800000" flipV="1">
            <a:off x="4284980" y="2051050"/>
            <a:ext cx="3175" cy="2440940"/>
          </a:xfrm>
          <a:prstGeom prst="bentConnector3">
            <a:avLst>
              <a:gd name="adj1" fmla="val 76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idx="10"/>
          </p:nvPr>
        </p:nvPicPr>
        <p:blipFill>
          <a:blip r:embed="rId2"/>
          <a:stretch>
            <a:fillRect/>
          </a:stretch>
        </p:blipFill>
        <p:spPr>
          <a:xfrm>
            <a:off x="4288155" y="1129030"/>
            <a:ext cx="4978400" cy="188595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>
              <a:sym typeface="+mn-ea"/>
            </a:endParaRPr>
          </a:p>
          <a:p>
            <a:pPr algn="ctr"/>
            <a:r>
              <a:rPr lang="en-US" sz="3600">
                <a:sym typeface="+mn-ea"/>
              </a:rPr>
              <a:t>Event Handler:</a:t>
            </a:r>
          </a:p>
          <a:p>
            <a:pPr algn="ctr"/>
            <a:r>
              <a:rPr lang="en-US" sz="2800" b="1">
                <a:sym typeface="+mn-ea"/>
              </a:rPr>
              <a:t>onKey()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284980" y="2907030"/>
            <a:ext cx="7021830" cy="2553335"/>
          </a:xfrm>
          <a:prstGeom prst="rect">
            <a:avLst/>
          </a:prstGeom>
          <a:noFill/>
          <a:ln>
            <a:solidFill>
              <a:srgbClr val="3DDC84"/>
            </a:solidFill>
            <a:prstDash val="sysDot"/>
          </a:ln>
        </p:spPr>
        <p:txBody>
          <a:bodyPr wrap="square" rtlCol="0" anchor="t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onKey()</a:t>
            </a:r>
          </a:p>
          <a:p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Method callback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dari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event listerner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View.OnKeyListener</a:t>
            </a:r>
          </a:p>
          <a:p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Dipanggil ketika pengguna fokus pada suatu komponen view dan sedang menggunakan keyboard</a:t>
            </a:r>
          </a:p>
          <a:p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Event handler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ini akan dieksekusi jika sudah didaftarkan pada suatu komponen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view.</a:t>
            </a:r>
          </a:p>
        </p:txBody>
      </p:sp>
      <p:sp>
        <p:nvSpPr>
          <p:cNvPr id="5" name="Rectangles 4"/>
          <p:cNvSpPr/>
          <p:nvPr/>
        </p:nvSpPr>
        <p:spPr>
          <a:xfrm>
            <a:off x="4288155" y="1389380"/>
            <a:ext cx="5057775" cy="144081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Elbow Connector 13"/>
          <p:cNvCxnSpPr>
            <a:stCxn id="5" idx="1"/>
            <a:endCxn id="4" idx="1"/>
          </p:cNvCxnSpPr>
          <p:nvPr/>
        </p:nvCxnSpPr>
        <p:spPr>
          <a:xfrm rot="10800000" flipV="1">
            <a:off x="4284980" y="2110105"/>
            <a:ext cx="3175" cy="2073910"/>
          </a:xfrm>
          <a:prstGeom prst="bentConnector3">
            <a:avLst>
              <a:gd name="adj1" fmla="val 76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idx="10"/>
          </p:nvPr>
        </p:nvPicPr>
        <p:blipFill>
          <a:blip r:embed="rId2"/>
          <a:stretch>
            <a:fillRect/>
          </a:stretch>
        </p:blipFill>
        <p:spPr>
          <a:xfrm>
            <a:off x="4284980" y="919480"/>
            <a:ext cx="5238750" cy="177165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>
              <a:sym typeface="+mn-ea"/>
            </a:endParaRPr>
          </a:p>
          <a:p>
            <a:pPr algn="ctr"/>
            <a:r>
              <a:rPr lang="en-US" sz="3600">
                <a:sym typeface="+mn-ea"/>
              </a:rPr>
              <a:t>Event Handler:</a:t>
            </a:r>
          </a:p>
          <a:p>
            <a:pPr algn="ctr"/>
            <a:r>
              <a:rPr lang="en-US" sz="2800" b="1">
                <a:sym typeface="+mn-ea"/>
              </a:rPr>
              <a:t>onTouch()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284980" y="2907030"/>
            <a:ext cx="7021830" cy="3169285"/>
          </a:xfrm>
          <a:prstGeom prst="rect">
            <a:avLst/>
          </a:prstGeom>
          <a:noFill/>
          <a:ln>
            <a:solidFill>
              <a:srgbClr val="3DDC84"/>
            </a:solidFill>
            <a:prstDash val="sysDot"/>
          </a:ln>
        </p:spPr>
        <p:txBody>
          <a:bodyPr wrap="square" rtlCol="0" anchor="t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onTouch()</a:t>
            </a:r>
          </a:p>
          <a:p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Method callback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dari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event listerner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View.OnTouchListener</a:t>
            </a:r>
          </a:p>
          <a:p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Dipanggil ketika pengguna melakukan aksi yang memenuhi syarat sebagai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  <a:sym typeface="+mn-ea"/>
              </a:rPr>
              <a:t>event touch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, termasuk menyentuh, melepaskan, menggerakkan apapun di layar (dalam batas komponen view)</a:t>
            </a:r>
          </a:p>
          <a:p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Event handler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ini akan dieksekusi jika sudah didaftarkan pada suatu komponen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</a:rPr>
              <a:t>view.</a:t>
            </a:r>
          </a:p>
        </p:txBody>
      </p:sp>
      <p:sp>
        <p:nvSpPr>
          <p:cNvPr id="5" name="Rectangles 4"/>
          <p:cNvSpPr/>
          <p:nvPr/>
        </p:nvSpPr>
        <p:spPr>
          <a:xfrm>
            <a:off x="4288155" y="1162685"/>
            <a:ext cx="5057775" cy="14363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Elbow Connector 13"/>
          <p:cNvCxnSpPr>
            <a:stCxn id="5" idx="1"/>
            <a:endCxn id="4" idx="1"/>
          </p:cNvCxnSpPr>
          <p:nvPr/>
        </p:nvCxnSpPr>
        <p:spPr>
          <a:xfrm rot="10800000" flipV="1">
            <a:off x="4284980" y="1880870"/>
            <a:ext cx="3175" cy="2611120"/>
          </a:xfrm>
          <a:prstGeom prst="bentConnector3">
            <a:avLst>
              <a:gd name="adj1" fmla="val 76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2275840"/>
            <a:ext cx="12191365" cy="1938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en-US" sz="2400">
                <a:solidFill>
                  <a:srgbClr val="3DDC84"/>
                </a:solidFill>
                <a:latin typeface="Open Sans" panose="020B0606030504020204" charset="0"/>
                <a:cs typeface="Open Sans" panose="020B0606030504020204" charset="0"/>
              </a:rPr>
              <a:t>Pelajari lebih lanjut...</a:t>
            </a: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r>
              <a:rPr lang="en-US" sz="2400">
                <a:solidFill>
                  <a:srgbClr val="3DDC84"/>
                </a:solidFill>
                <a:latin typeface="Open Sans Semibold" panose="020B0706030804020204" charset="0"/>
                <a:cs typeface="Open Sans Semibold" panose="020B0706030804020204" charset="0"/>
              </a:rPr>
              <a:t>https://developer.android.com/guide</a:t>
            </a:r>
          </a:p>
        </p:txBody>
      </p:sp>
      <p:pic>
        <p:nvPicPr>
          <p:cNvPr id="5" name="Picture Placeholder 4" descr="chevron-down"/>
          <p:cNvPicPr>
            <a:picLocks noGrp="1" noChangeAspect="1"/>
          </p:cNvPicPr>
          <p:nvPr>
            <p:ph type="pic" idx="1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6390" y="2739390"/>
            <a:ext cx="1010920" cy="1010920"/>
          </a:xfrm>
          <a:prstGeom prst="rect">
            <a:avLst/>
          </a:prstGeom>
        </p:spPr>
      </p:pic>
      <p:pic>
        <p:nvPicPr>
          <p:cNvPr id="6" name="Picture Placeholder 4" descr="chevron-dow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6390" y="2923540"/>
            <a:ext cx="1010920" cy="1010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2351881" y="3013650"/>
            <a:ext cx="731043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Segoe UI" panose="020B0502040204020203" charset="0"/>
                <a:cs typeface="Segoe UI" panose="020B0502040204020203" charset="0"/>
              </a:rPr>
              <a:t>Ada pertanyaan?</a:t>
            </a:r>
            <a:endParaRPr lang="en-US" altLang="zh-CN" sz="4800" b="1" dirty="0">
              <a:solidFill>
                <a:schemeClr val="bg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48000" y="5901129"/>
            <a:ext cx="6096000" cy="6140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Pemrograman Platform Khusus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Politeknik Statistika STIS,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4ot2hzvm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FAD86"/>
      </a:accent1>
      <a:accent2>
        <a:srgbClr val="90D8C0"/>
      </a:accent2>
      <a:accent3>
        <a:srgbClr val="646464"/>
      </a:accent3>
      <a:accent4>
        <a:srgbClr val="828282"/>
      </a:accent4>
      <a:accent5>
        <a:srgbClr val="A5A5A5"/>
      </a:accent5>
      <a:accent6>
        <a:srgbClr val="C9C9C9"/>
      </a:accent6>
      <a:hlink>
        <a:srgbClr val="3FAD86"/>
      </a:hlink>
      <a:folHlink>
        <a:srgbClr val="BFBFBF"/>
      </a:folHlink>
    </a:clrScheme>
    <a:fontScheme name="国外模板制作字体">
      <a:majorFont>
        <a:latin typeface="Century Gothic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448</Words>
  <Application>Microsoft Office PowerPoint</Application>
  <PresentationFormat>Widescreen</PresentationFormat>
  <Paragraphs>87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等线</vt:lpstr>
      <vt:lpstr>微软雅黑</vt:lpstr>
      <vt:lpstr>Arial</vt:lpstr>
      <vt:lpstr>Century Gothic</vt:lpstr>
      <vt:lpstr>Consolas</vt:lpstr>
      <vt:lpstr>Open Sans</vt:lpstr>
      <vt:lpstr>Open Sans Semibold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Ibnusan</cp:lastModifiedBy>
  <cp:revision>482</cp:revision>
  <dcterms:created xsi:type="dcterms:W3CDTF">2022-08-19T06:51:00Z</dcterms:created>
  <dcterms:modified xsi:type="dcterms:W3CDTF">2023-11-06T01:33:50Z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5164913DB18E43CFB4E68051D5931464</vt:lpwstr>
  </property>
  <property fmtid="{D5CDD505-2E9C-101B-9397-08002B2CF9AE}" pid="3" name="KSOProductBuildVer">
    <vt:lpwstr>1033-11.2.0.11380</vt:lpwstr>
  </property>
</Properties>
</file>